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đến với phần trình bày HERA – Hanoi Heart Engagement &amp; Response Assistant, trợ lý AI chăm sóc khách hàng dành riêng cho Bệnh viện Tim Hà Nội. Đây là bệnh viện chuyên khoa tim mạch tuyến cuối của cả nước, với hệ sinh thái thông tin rất rộng (giới thiệu, dịch vụ, bảng giá, lịch bác sĩ, đặt lịch, BHYT...). HERA được xây dựng để giải quyết đúng bài toán trong PROJECT_CHECK.md: một AI Customer Care Assistant grounded, đáng tin, xử lý đúng tình huống cấp cứu và sẵn sàng cho lộ trình triển khai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nhà bệnh nhân thường bắt đầu bằng câu hỏi rất nhỏ, rồi chuyển dần sang giá cả, BHYT, kênh đặt lịch, và cả câu hỏi mang tính an toàn như có nên chờ lịch hẹn khi đau ngực không. Đây không đơn thuần là FAQ mà là một chuỗi quyết định trong hành trình đi khám. Đề bài PROJECT_CHECK.md đặt đúng vấn đề này: cần một AI Customer Care Assistant tích hợp website, hỏi đáp dựa trên knowledge base chính thức, không hallucinate, xử lý emergency đúng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tầng giá trị này là kim chỉ nam thiết kế: giảm tải vận hành, chuẩn hóa thông tin và quan trọng nhất là an toàn y tế. HERA chọn vai trò thực tế: trợ lý thông tin chính thức, cầu nối giữa người bệnh và hệ thống bệnh viện, đồng thời là hàng rào nhắc người bệnh tìm chăm sóc khẩn cấp khi có tín hiệu nguy hiểm.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thông tin hành chính chung, HERA dùng RAG trên knowledge base chính thức — câu trả lời chỉ được sinh sau khi retrieval tìm được evidence phù hợp. Nếu thiếu evidence hoặc output không vượt qua kiểm tra nguồn, hệ thống từ chối trả lời và hướng người dùng tới kênh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câu hỏi thuộc nhóm giá dịch vụ, HERA trả kết quả tra trực tiếp có tên dịch vụ, cơ sở, mức giá, ghi chú, nguồn. Nếu thuộc nhóm BHYT, chỉ trả lời phạm vi dữ liệu hiện có (mức đóng hộ gia đình) và cảnh báo đây không phải quyền lợi cá nhân. Booking chỉ là giữ chỗ tạm, tự hết hạn, khớp với quy trình thật của bệnh viện: đặt hẹn chỉ có giá trị sau khi bệnh viện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không phải landing page quảng cáo mà là công cụ hỗ trợ thông tin dùng ngay. Với bệnh viện tim, AI-native không có nghĩa nhiều hiệu ứng — mà là câu hỏi tự nhiên, dữ liệu có nguồn, trạng thái an toàn rõ, hành động tiếp theo cụ thể, luôn có đường quay về kênh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archive được commit kèm checksum SHA-256, manifest, validation report. Seeder dùng transaction, advisory lock, upsert idempotent và row-count verification để dựng lại môi trường demo ổn định. Nếu sau này bệnh viện muốn tự động cập nhật lịch từ ảnh/PDF, đó sẽ là một module DataOps/OCR riêng có kiểm duyệt — không phải chức năng đã hoàn thiện trong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một fact chính xác duy nhất vượt ngưỡng exact match, hệ thống ưu tiên deterministic exact answer để an toàn hơn. Prompt hệ thống yêu cầu LLM chỉ dùng fact liên quan trực tiếp trong context — không thêm giá, lịch, bác sĩ, URL, chẩn đoán hay lời khuyên điều trị ngoài evidence. Đây là cấu trúc RAG có trách nhiệm: model giúp diễn đạt, nhưng nguồn dữ liệu và validator quyết định câu trả lời được phép hiển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 không phải tính năng phụ mà là điều kiện để AI có thể được tin. HERA không trả lời quyền lợi BHYT cá nhân khi dữ liệu chỉ có mức đóng hộ gia đình, không ghép bảng giá với BHYT để tính hoá đơn thực trả, không xác nhận lịch hẹn chính thức, và không diễn giải xét nghiệm hay chẩn đoán qua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quản lý booking session theo bác sĩ/ngày/ca. Người dùng chỉ tạo hold sau khi chọn ca và nhập thông tin tối thiểu. Khi hold hết hạn, capacity được làm mới. Thiết kế này chứng minh năng lực workflow mà không tạo overclaim — MVP chưa tích hợp HIS và chưa xác nhận cuộc hẹn thay bệnh viện.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truy vấn phổ biến và dữ liệu chuẩn được phục vụ bằng structured lookup/cache; RAG chỉ dùng khi cần truy xuất knowledge base; model generation có concurrency limit, timeout và fallback. Đây là cách scale thực tế hơn cho bệnh viện: giảm số lần gọi model đắt, giữ các câu trả lời cần độ chính xác cao trong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với yêu cầu trong PROJECT_CHECK.md, HERA đã bao phủ các nhóm chính: knowledge QA, conversational experience, trustworthy AI, emergency handling và deployment readiness. Hospital system integration có kiến trúc tách provider (local_prototype, redirect_only, hospital) sẵn sàng nối HIS thật sau này. ASR/TTS chưa có và nên trình bày là hướng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 luồng giữ chỗ prototype đã khá chặt chẽ với transaction, HMAC hash, TTL, idempotency và quota, để vận hành chính thức vẫn cần bổ sung nghiệp vụ quan trọng: HIS integration, xử lý ngoại lệ giao dịch, chính sách đổi/hủy do bệnh viện quyết định, audit trail, effective date, DataOps cho RAG, OCR có kiểm duyệt, và phân quyền vận hành rõ ràng theo vai trò.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ra mắt mềm nên giới hạn phạm vi, đào tạo nhân viên, gắn thông điệp rõ HERA là trợ lý thông tin hành chính, và đo các chỉ số như tỷ lệ câu hỏi tự xử lý được, tỷ lệ handoff đúng, tỷ lệ người dùng cần gọi lại hotline, lỗi citation và phản hồi không hữu 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HERA không chỉ trình diễn một chatbot, mà trình diễn một kiến trúc trợ lý y tế có trách nhiệm: dữ liệu cấu trúc trong PostgreSQL, RAG nhiều lớp, evidence validation, citation, guardrail, privacy redaction, booking hold prototype, monitoring và khả năng deploy. Điểm cần nhấn mạnh nhất: một trợ lý AI cho bệnh viện không cần cố tỏ ra biết mọi thứ — nó cần biết câu nào được trả lời, câu nào phải có nguồn, câu nào phải chuyển người thật và câu nào phải ưu tiên cấp cứu. Cảm ơn hội đồng đã lắng nghe, rất mong nhận được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image" Target="../media/image-15-5.png"/><Relationship Id="rId6" Type="http://schemas.openxmlformats.org/officeDocument/2006/relationships/image" Target="../media/image-15-5.png"/><Relationship Id="rId7" Type="http://schemas.openxmlformats.org/officeDocument/2006/relationships/image" Target="../media/image-15-5.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F49"/>
        </a:solidFill>
      </p:bgPr>
    </p:bg>
    <p:spTree>
      <p:nvGrpSpPr>
        <p:cNvPr id="1" name=""/>
        <p:cNvGrpSpPr/>
        <p:nvPr/>
      </p:nvGrpSpPr>
      <p:grpSpPr>
        <a:xfrm>
          <a:off x="0" y="0"/>
          <a:ext cx="0" cy="0"/>
          <a:chOff x="0" y="0"/>
          <a:chExt cx="0" cy="0"/>
        </a:xfrm>
      </p:grpSpPr>
      <p:sp>
        <p:nvSpPr>
          <p:cNvPr id="2" name="Shape 0"/>
          <p:cNvSpPr/>
          <p:nvPr/>
        </p:nvSpPr>
        <p:spPr>
          <a:xfrm>
            <a:off x="8778240" y="-2103120"/>
            <a:ext cx="6400800" cy="6400800"/>
          </a:xfrm>
          <a:prstGeom prst="ellipse">
            <a:avLst/>
          </a:prstGeom>
          <a:solidFill>
            <a:srgbClr val="0B7285">
              <a:alpha val="65000"/>
            </a:srgbClr>
          </a:solidFill>
          <a:ln/>
        </p:spPr>
      </p:sp>
      <p:sp>
        <p:nvSpPr>
          <p:cNvPr id="3" name="Shape 1"/>
          <p:cNvSpPr/>
          <p:nvPr/>
        </p:nvSpPr>
        <p:spPr>
          <a:xfrm>
            <a:off x="9692640" y="-1005840"/>
            <a:ext cx="4206240" cy="4206240"/>
          </a:xfrm>
          <a:prstGeom prst="ellipse">
            <a:avLst/>
          </a:prstGeom>
          <a:solidFill>
            <a:srgbClr val="4CB5AE">
              <a:alpha val="45000"/>
            </a:srgbClr>
          </a:solidFill>
          <a:ln/>
        </p:spPr>
      </p:sp>
      <p:sp>
        <p:nvSpPr>
          <p:cNvPr id="4" name="Shape 2"/>
          <p:cNvSpPr/>
          <p:nvPr/>
        </p:nvSpPr>
        <p:spPr>
          <a:xfrm>
            <a:off x="-2011680" y="4206240"/>
            <a:ext cx="5486400" cy="5486400"/>
          </a:xfrm>
          <a:prstGeom prst="ellipse">
            <a:avLst/>
          </a:prstGeom>
          <a:solidFill>
            <a:srgbClr val="E8544E">
              <a:alpha val="22000"/>
            </a:srgbClr>
          </a:solidFill>
          <a:ln/>
        </p:spPr>
      </p:sp>
      <p:sp>
        <p:nvSpPr>
          <p:cNvPr id="5" name="Shape 3"/>
          <p:cNvSpPr/>
          <p:nvPr/>
        </p:nvSpPr>
        <p:spPr>
          <a:xfrm>
            <a:off x="640080" y="685800"/>
            <a:ext cx="868680" cy="868680"/>
          </a:xfrm>
          <a:prstGeom prst="ellipse">
            <a:avLst/>
          </a:prstGeom>
          <a:solidFill>
            <a:srgbClr val="E8544E"/>
          </a:solidFill>
          <a:ln/>
        </p:spPr>
      </p:sp>
      <p:pic>
        <p:nvPicPr>
          <p:cNvPr id="6" name="Image 0" descr="/home/claude/hera_pptx/icons/heartbeat.png">    </p:cNvPr>
          <p:cNvPicPr>
            <a:picLocks noChangeAspect="1"/>
          </p:cNvPicPr>
          <p:nvPr/>
        </p:nvPicPr>
        <p:blipFill>
          <a:blip r:embed="rId1"/>
          <a:stretch>
            <a:fillRect/>
          </a:stretch>
        </p:blipFill>
        <p:spPr>
          <a:xfrm>
            <a:off x="831190" y="876910"/>
            <a:ext cx="486461" cy="486461"/>
          </a:xfrm>
          <a:prstGeom prst="rect">
            <a:avLst/>
          </a:prstGeom>
        </p:spPr>
      </p:pic>
      <p:sp>
        <p:nvSpPr>
          <p:cNvPr id="7" name="Text 4"/>
          <p:cNvSpPr/>
          <p:nvPr/>
        </p:nvSpPr>
        <p:spPr>
          <a:xfrm>
            <a:off x="1691640" y="777240"/>
            <a:ext cx="7315200" cy="365760"/>
          </a:xfrm>
          <a:prstGeom prst="rect">
            <a:avLst/>
          </a:prstGeom>
          <a:noFill/>
          <a:ln/>
        </p:spPr>
        <p:txBody>
          <a:bodyPr wrap="square" rtlCol="0" anchor="ctr"/>
          <a:lstStyle/>
          <a:p>
            <a:pPr indent="0" marL="0">
              <a:buNone/>
            </a:pPr>
            <a:r>
              <a:rPr lang="en-US" sz="1300" b="1" spc="150" kern="0" dirty="0">
                <a:solidFill>
                  <a:srgbClr val="4CB5AE"/>
                </a:solidFill>
                <a:latin typeface="Calibri" pitchFamily="34" charset="0"/>
                <a:ea typeface="Calibri" pitchFamily="34" charset="-122"/>
                <a:cs typeface="Calibri" pitchFamily="34" charset="-120"/>
              </a:rPr>
              <a:t>BỆNH VIỆN TIM HÀ NỘI  ·  AI CUSTOMER CARE ASSISTANT</a:t>
            </a:r>
            <a:endParaRPr lang="en-US" sz="1300" dirty="0"/>
          </a:p>
        </p:txBody>
      </p:sp>
      <p:sp>
        <p:nvSpPr>
          <p:cNvPr id="8" name="Text 5"/>
          <p:cNvSpPr/>
          <p:nvPr/>
        </p:nvSpPr>
        <p:spPr>
          <a:xfrm>
            <a:off x="594360" y="2331720"/>
            <a:ext cx="8229600" cy="146304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HERA</a:t>
            </a:r>
            <a:endParaRPr lang="en-US" sz="9600" dirty="0"/>
          </a:p>
        </p:txBody>
      </p:sp>
      <p:sp>
        <p:nvSpPr>
          <p:cNvPr id="9" name="Text 6"/>
          <p:cNvSpPr/>
          <p:nvPr/>
        </p:nvSpPr>
        <p:spPr>
          <a:xfrm>
            <a:off x="621792" y="3611880"/>
            <a:ext cx="8686800" cy="502920"/>
          </a:xfrm>
          <a:prstGeom prst="rect">
            <a:avLst/>
          </a:prstGeom>
          <a:noFill/>
          <a:ln/>
        </p:spPr>
        <p:txBody>
          <a:bodyPr wrap="square" rtlCol="0" anchor="ctr"/>
          <a:lstStyle/>
          <a:p>
            <a:pPr indent="0" marL="0">
              <a:buNone/>
            </a:pPr>
            <a:r>
              <a:rPr lang="en-US" sz="2000" i="1" dirty="0">
                <a:solidFill>
                  <a:srgbClr val="CFEDE9"/>
                </a:solidFill>
                <a:latin typeface="Calibri" pitchFamily="34" charset="0"/>
                <a:ea typeface="Calibri" pitchFamily="34" charset="-122"/>
                <a:cs typeface="Calibri" pitchFamily="34" charset="-120"/>
              </a:rPr>
              <a:t>Hanoi Heart Engagement &amp; Response Assistant</a:t>
            </a:r>
            <a:endParaRPr lang="en-US" sz="2000" dirty="0"/>
          </a:p>
        </p:txBody>
      </p:sp>
      <p:sp>
        <p:nvSpPr>
          <p:cNvPr id="10" name="Shape 7"/>
          <p:cNvSpPr/>
          <p:nvPr/>
        </p:nvSpPr>
        <p:spPr>
          <a:xfrm>
            <a:off x="621792" y="4251960"/>
            <a:ext cx="2926080" cy="0"/>
          </a:xfrm>
          <a:prstGeom prst="line">
            <a:avLst/>
          </a:prstGeom>
          <a:noFill/>
          <a:ln w="25400">
            <a:solidFill>
              <a:srgbClr val="4CB5AE"/>
            </a:solidFill>
            <a:prstDash val="solid"/>
          </a:ln>
        </p:spPr>
      </p:sp>
      <p:sp>
        <p:nvSpPr>
          <p:cNvPr id="11" name="Text 8"/>
          <p:cNvSpPr/>
          <p:nvPr/>
        </p:nvSpPr>
        <p:spPr>
          <a:xfrm>
            <a:off x="621792" y="4480560"/>
            <a:ext cx="7863840" cy="822960"/>
          </a:xfrm>
          <a:prstGeom prst="rect">
            <a:avLst/>
          </a:prstGeom>
          <a:noFill/>
          <a:ln/>
        </p:spPr>
        <p:txBody>
          <a:bodyPr wrap="square" rtlCol="0" anchor="ctr"/>
          <a:lstStyle/>
          <a:p>
            <a:pPr indent="0" marL="0">
              <a:lnSpc>
                <a:spcPts val="2200"/>
              </a:lnSpc>
              <a:buNone/>
            </a:pPr>
            <a:r>
              <a:rPr lang="en-US" sz="1500" dirty="0">
                <a:solidFill>
                  <a:srgbClr val="E7F5F3"/>
                </a:solidFill>
                <a:latin typeface="Calibri" pitchFamily="34" charset="0"/>
                <a:ea typeface="Calibri" pitchFamily="34" charset="-122"/>
                <a:cs typeface="Calibri" pitchFamily="34" charset="-120"/>
              </a:rPr>
              <a:t>Trợ lý AI có nghiệp vụ, có nguồn, biết giới hạn — đồng hành cùng người bệnh tim mạch từ câu hỏi đầu tiên đến cánh cửa phòng khám.</a:t>
            </a:r>
            <a:endParaRPr lang="en-US" sz="1500" dirty="0"/>
          </a:p>
        </p:txBody>
      </p:sp>
      <p:sp>
        <p:nvSpPr>
          <p:cNvPr id="12" name="Text 9"/>
          <p:cNvSpPr/>
          <p:nvPr/>
        </p:nvSpPr>
        <p:spPr>
          <a:xfrm>
            <a:off x="621792" y="6126480"/>
            <a:ext cx="7315200" cy="365760"/>
          </a:xfrm>
          <a:prstGeom prst="rect">
            <a:avLst/>
          </a:prstGeom>
          <a:noFill/>
          <a:ln/>
        </p:spPr>
        <p:txBody>
          <a:bodyPr wrap="square" rtlCol="0" anchor="ctr"/>
          <a:lstStyle/>
          <a:p>
            <a:pPr indent="0" marL="0">
              <a:buNone/>
            </a:pPr>
            <a:r>
              <a:rPr lang="en-US" sz="1200" b="1" dirty="0">
                <a:solidFill>
                  <a:srgbClr val="4CB5AE"/>
                </a:solidFill>
                <a:latin typeface="Calibri" pitchFamily="34" charset="0"/>
                <a:ea typeface="Calibri" pitchFamily="34" charset="-122"/>
                <a:cs typeface="Calibri" pitchFamily="34" charset="-120"/>
              </a:rPr>
              <a:t>Đề xuất giải pháp  ·  Kiến trúc kỹ thuật  ·  Lộ trình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01 · BỐI CẢNH</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Câu chuyện bắt đầu từ một nhu cầu rất thật</a:t>
            </a:r>
            <a:endParaRPr lang="en-US" sz="3000" dirty="0"/>
          </a:p>
        </p:txBody>
      </p:sp>
      <p:sp>
        <p:nvSpPr>
          <p:cNvPr id="4" name="Text 2"/>
          <p:cNvSpPr/>
          <p:nvPr/>
        </p:nvSpPr>
        <p:spPr>
          <a:xfrm>
            <a:off x="548640" y="1691640"/>
            <a:ext cx="5943600" cy="1005840"/>
          </a:xfrm>
          <a:prstGeom prst="rect">
            <a:avLst/>
          </a:prstGeom>
          <a:noFill/>
          <a:ln/>
        </p:spPr>
        <p:txBody>
          <a:bodyPr wrap="square" rtlCol="0" anchor="ctr"/>
          <a:lstStyle/>
          <a:p>
            <a:pPr indent="0" marL="0">
              <a:lnSpc>
                <a:spcPts val="1900"/>
              </a:lnSpc>
              <a:buNone/>
            </a:pPr>
            <a:r>
              <a:rPr lang="en-US" sz="1350" dirty="0">
                <a:solidFill>
                  <a:srgbClr val="13292E"/>
                </a:solidFill>
                <a:latin typeface="Calibri" pitchFamily="34" charset="0"/>
                <a:ea typeface="Calibri" pitchFamily="34" charset="-122"/>
                <a:cs typeface="Calibri" pitchFamily="34" charset="-120"/>
              </a:rPr>
              <a:t>Bệnh viện Tim Hà Nội là bệnh viện chuyên khoa tim mạch tuyến cuối của cả nước, với hệ sinh thái thông tin rộng: giới thiệu, dịch vụ, bảng giá, lịch bác sĩ, đặt lịch, BHYT, trả kết quả online.</a:t>
            </a:r>
            <a:endParaRPr lang="en-US" sz="1350" dirty="0"/>
          </a:p>
        </p:txBody>
      </p:sp>
      <p:sp>
        <p:nvSpPr>
          <p:cNvPr id="5" name="Text 3"/>
          <p:cNvSpPr/>
          <p:nvPr/>
        </p:nvSpPr>
        <p:spPr>
          <a:xfrm>
            <a:off x="548640" y="2743200"/>
            <a:ext cx="5943600" cy="960120"/>
          </a:xfrm>
          <a:prstGeom prst="rect">
            <a:avLst/>
          </a:prstGeom>
          <a:noFill/>
          <a:ln/>
        </p:spPr>
        <p:txBody>
          <a:bodyPr wrap="square" rtlCol="0" anchor="ctr"/>
          <a:lstStyle/>
          <a:p>
            <a:pPr indent="0" marL="0">
              <a:lnSpc>
                <a:spcPts val="1900"/>
              </a:lnSpc>
              <a:buNone/>
            </a:pPr>
            <a:r>
              <a:rPr lang="en-US" sz="1350" dirty="0">
                <a:solidFill>
                  <a:srgbClr val="13292E"/>
                </a:solidFill>
                <a:latin typeface="Calibri" pitchFamily="34" charset="0"/>
                <a:ea typeface="Calibri" pitchFamily="34" charset="-122"/>
                <a:cs typeface="Calibri" pitchFamily="34" charset="-120"/>
              </a:rPr>
              <a:t>Người bệnh tim mạch cần thông tin nhanh, đúng, dễ hiểu — nhưng thông tin lại nằm rải rác. Một câu hỏi nhỏ luôn kéo theo một chuỗi quyết định trong hành trình đi khám.</a:t>
            </a:r>
            <a:endParaRPr lang="en-US" sz="1350" dirty="0"/>
          </a:p>
        </p:txBody>
      </p:sp>
      <p:sp>
        <p:nvSpPr>
          <p:cNvPr id="6" name="Shape 4"/>
          <p:cNvSpPr/>
          <p:nvPr/>
        </p:nvSpPr>
        <p:spPr>
          <a:xfrm>
            <a:off x="548640" y="3977640"/>
            <a:ext cx="1874520" cy="1371600"/>
          </a:xfrm>
          <a:prstGeom prst="roundRect">
            <a:avLst>
              <a:gd name="adj" fmla="val 5333"/>
            </a:avLst>
          </a:prstGeom>
          <a:solidFill>
            <a:srgbClr val="FFFFFF"/>
          </a:solidFill>
          <a:ln w="12700">
            <a:solidFill>
              <a:srgbClr val="DCEDEB"/>
            </a:solidFill>
            <a:prstDash val="solid"/>
          </a:ln>
          <a:effectLst>
            <a:outerShdw sx="100000" sy="100000" kx="0" ky="0" algn="bl" rotWithShape="0" blurRad="76200" dist="25400" dir="5400000">
              <a:srgbClr val="0B7285">
                <a:alpha val="12000"/>
              </a:srgbClr>
            </a:outerShdw>
          </a:effectLst>
        </p:spPr>
      </p:sp>
      <p:sp>
        <p:nvSpPr>
          <p:cNvPr id="7" name="Text 5"/>
          <p:cNvSpPr/>
          <p:nvPr/>
        </p:nvSpPr>
        <p:spPr>
          <a:xfrm>
            <a:off x="640080" y="4096512"/>
            <a:ext cx="1691640" cy="548640"/>
          </a:xfrm>
          <a:prstGeom prst="rect">
            <a:avLst/>
          </a:prstGeom>
          <a:noFill/>
          <a:ln/>
        </p:spPr>
        <p:txBody>
          <a:bodyPr wrap="square" rtlCol="0" anchor="ctr"/>
          <a:lstStyle/>
          <a:p>
            <a:pPr algn="ctr" indent="0" marL="0">
              <a:buNone/>
            </a:pPr>
            <a:r>
              <a:rPr lang="en-US" sz="3000" b="1" dirty="0">
                <a:solidFill>
                  <a:srgbClr val="0B7285"/>
                </a:solidFill>
                <a:latin typeface="Cambria" pitchFamily="34" charset="0"/>
                <a:ea typeface="Cambria" pitchFamily="34" charset="-122"/>
                <a:cs typeface="Cambria" pitchFamily="34" charset="-120"/>
              </a:rPr>
              <a:t>2</a:t>
            </a:r>
            <a:endParaRPr lang="en-US" sz="3000" dirty="0"/>
          </a:p>
        </p:txBody>
      </p:sp>
      <p:sp>
        <p:nvSpPr>
          <p:cNvPr id="8" name="Text 6"/>
          <p:cNvSpPr/>
          <p:nvPr/>
        </p:nvSpPr>
        <p:spPr>
          <a:xfrm>
            <a:off x="640080" y="4663440"/>
            <a:ext cx="1691640" cy="5943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cơ sở khám chữa bệnh</a:t>
            </a:r>
            <a:endParaRPr lang="en-US" sz="1050" dirty="0"/>
          </a:p>
        </p:txBody>
      </p:sp>
      <p:sp>
        <p:nvSpPr>
          <p:cNvPr id="9" name="Shape 7"/>
          <p:cNvSpPr/>
          <p:nvPr/>
        </p:nvSpPr>
        <p:spPr>
          <a:xfrm>
            <a:off x="2560320" y="3977640"/>
            <a:ext cx="1874520" cy="1371600"/>
          </a:xfrm>
          <a:prstGeom prst="roundRect">
            <a:avLst>
              <a:gd name="adj" fmla="val 5333"/>
            </a:avLst>
          </a:prstGeom>
          <a:solidFill>
            <a:srgbClr val="FFFFFF"/>
          </a:solidFill>
          <a:ln w="12700">
            <a:solidFill>
              <a:srgbClr val="DCEDEB"/>
            </a:solidFill>
            <a:prstDash val="solid"/>
          </a:ln>
          <a:effectLst>
            <a:outerShdw sx="100000" sy="100000" kx="0" ky="0" algn="bl" rotWithShape="0" blurRad="76200" dist="25400" dir="5400000">
              <a:srgbClr val="0B7285">
                <a:alpha val="12000"/>
              </a:srgbClr>
            </a:outerShdw>
          </a:effectLst>
        </p:spPr>
      </p:sp>
      <p:sp>
        <p:nvSpPr>
          <p:cNvPr id="10" name="Text 8"/>
          <p:cNvSpPr/>
          <p:nvPr/>
        </p:nvSpPr>
        <p:spPr>
          <a:xfrm>
            <a:off x="2651760" y="4096512"/>
            <a:ext cx="1691640" cy="548640"/>
          </a:xfrm>
          <a:prstGeom prst="rect">
            <a:avLst/>
          </a:prstGeom>
          <a:noFill/>
          <a:ln/>
        </p:spPr>
        <p:txBody>
          <a:bodyPr wrap="square" rtlCol="0" anchor="ctr"/>
          <a:lstStyle/>
          <a:p>
            <a:pPr algn="ctr" indent="0" marL="0">
              <a:buNone/>
            </a:pPr>
            <a:r>
              <a:rPr lang="en-US" sz="2000" b="1" dirty="0">
                <a:solidFill>
                  <a:srgbClr val="0B7285"/>
                </a:solidFill>
                <a:latin typeface="Cambria" pitchFamily="34" charset="0"/>
                <a:ea typeface="Cambria" pitchFamily="34" charset="-122"/>
                <a:cs typeface="Cambria" pitchFamily="34" charset="-120"/>
              </a:rPr>
              <a:t>19001082</a:t>
            </a:r>
            <a:endParaRPr lang="en-US" sz="2000" dirty="0"/>
          </a:p>
        </p:txBody>
      </p:sp>
      <p:sp>
        <p:nvSpPr>
          <p:cNvPr id="11" name="Text 9"/>
          <p:cNvSpPr/>
          <p:nvPr/>
        </p:nvSpPr>
        <p:spPr>
          <a:xfrm>
            <a:off x="2651760" y="4663440"/>
            <a:ext cx="1691640" cy="5943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tổng đài hỗ trợ</a:t>
            </a:r>
            <a:endParaRPr lang="en-US" sz="1050" dirty="0"/>
          </a:p>
        </p:txBody>
      </p:sp>
      <p:sp>
        <p:nvSpPr>
          <p:cNvPr id="12" name="Shape 10"/>
          <p:cNvSpPr/>
          <p:nvPr/>
        </p:nvSpPr>
        <p:spPr>
          <a:xfrm>
            <a:off x="4572000" y="3977640"/>
            <a:ext cx="1874520" cy="1371600"/>
          </a:xfrm>
          <a:prstGeom prst="roundRect">
            <a:avLst>
              <a:gd name="adj" fmla="val 5333"/>
            </a:avLst>
          </a:prstGeom>
          <a:solidFill>
            <a:srgbClr val="FFFFFF"/>
          </a:solidFill>
          <a:ln w="12700">
            <a:solidFill>
              <a:srgbClr val="DCEDEB"/>
            </a:solidFill>
            <a:prstDash val="solid"/>
          </a:ln>
          <a:effectLst>
            <a:outerShdw sx="100000" sy="100000" kx="0" ky="0" algn="bl" rotWithShape="0" blurRad="76200" dist="25400" dir="5400000">
              <a:srgbClr val="0B7285">
                <a:alpha val="12000"/>
              </a:srgbClr>
            </a:outerShdw>
          </a:effectLst>
        </p:spPr>
      </p:sp>
      <p:sp>
        <p:nvSpPr>
          <p:cNvPr id="13" name="Text 11"/>
          <p:cNvSpPr/>
          <p:nvPr/>
        </p:nvSpPr>
        <p:spPr>
          <a:xfrm>
            <a:off x="4663440" y="4096512"/>
            <a:ext cx="1691640" cy="548640"/>
          </a:xfrm>
          <a:prstGeom prst="rect">
            <a:avLst/>
          </a:prstGeom>
          <a:noFill/>
          <a:ln/>
        </p:spPr>
        <p:txBody>
          <a:bodyPr wrap="square" rtlCol="0" anchor="ctr"/>
          <a:lstStyle/>
          <a:p>
            <a:pPr algn="ctr" indent="0" marL="0">
              <a:buNone/>
            </a:pPr>
            <a:r>
              <a:rPr lang="en-US" sz="3000" b="1" dirty="0">
                <a:solidFill>
                  <a:srgbClr val="0B7285"/>
                </a:solidFill>
                <a:latin typeface="Cambria" pitchFamily="34" charset="0"/>
                <a:ea typeface="Cambria" pitchFamily="34" charset="-122"/>
                <a:cs typeface="Cambria" pitchFamily="34" charset="-120"/>
              </a:rPr>
              <a:t>5</a:t>
            </a:r>
            <a:endParaRPr lang="en-US" sz="3000" dirty="0"/>
          </a:p>
        </p:txBody>
      </p:sp>
      <p:sp>
        <p:nvSpPr>
          <p:cNvPr id="14" name="Text 12"/>
          <p:cNvSpPr/>
          <p:nvPr/>
        </p:nvSpPr>
        <p:spPr>
          <a:xfrm>
            <a:off x="4663440" y="4663440"/>
            <a:ext cx="1691640" cy="5943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lĩnh vực tim mạch chuyên sâu</a:t>
            </a:r>
            <a:endParaRPr lang="en-US" sz="1050" dirty="0"/>
          </a:p>
        </p:txBody>
      </p:sp>
      <p:sp>
        <p:nvSpPr>
          <p:cNvPr id="15" name="Text 13"/>
          <p:cNvSpPr/>
          <p:nvPr/>
        </p:nvSpPr>
        <p:spPr>
          <a:xfrm>
            <a:off x="548640" y="5532120"/>
            <a:ext cx="5943600" cy="777240"/>
          </a:xfrm>
          <a:prstGeom prst="rect">
            <a:avLst/>
          </a:prstGeom>
          <a:noFill/>
          <a:ln/>
        </p:spPr>
        <p:txBody>
          <a:bodyPr wrap="square" rtlCol="0" anchor="ctr"/>
          <a:lstStyle/>
          <a:p>
            <a:pPr indent="0" marL="0">
              <a:lnSpc>
                <a:spcPts val="1600"/>
              </a:lnSpc>
              <a:buNone/>
            </a:pPr>
            <a:r>
              <a:rPr lang="en-US" sz="1200" i="1" dirty="0">
                <a:solidFill>
                  <a:srgbClr val="5B7278"/>
                </a:solidFill>
                <a:latin typeface="Calibri" pitchFamily="34" charset="0"/>
                <a:ea typeface="Calibri" pitchFamily="34" charset="-122"/>
                <a:cs typeface="Calibri" pitchFamily="34" charset="-120"/>
              </a:rPr>
              <a:t>Website chính thức đã có các điểm chạm số: hotline, đặt lịch, lịch bác sĩ, trả kết quả online, đặt lịch qua Zalo — nhưng đặt hẹn chỉ có giá trị sau khi bệnh viện xác nhận.</a:t>
            </a:r>
            <a:endParaRPr lang="en-US" sz="1200" dirty="0"/>
          </a:p>
        </p:txBody>
      </p:sp>
      <p:sp>
        <p:nvSpPr>
          <p:cNvPr id="16" name="Shape 14"/>
          <p:cNvSpPr/>
          <p:nvPr/>
        </p:nvSpPr>
        <p:spPr>
          <a:xfrm>
            <a:off x="6903720" y="1691640"/>
            <a:ext cx="4297680" cy="658368"/>
          </a:xfrm>
          <a:prstGeom prst="roundRect">
            <a:avLst>
              <a:gd name="adj" fmla="val 19444"/>
            </a:avLst>
          </a:prstGeom>
          <a:solidFill>
            <a:srgbClr val="FFFFFF"/>
          </a:solidFill>
          <a:ln w="12700">
            <a:solidFill>
              <a:srgbClr val="DCEDEB"/>
            </a:solidFill>
            <a:prstDash val="solid"/>
          </a:ln>
        </p:spPr>
      </p:sp>
      <p:sp>
        <p:nvSpPr>
          <p:cNvPr id="17" name="Text 15"/>
          <p:cNvSpPr/>
          <p:nvPr/>
        </p:nvSpPr>
        <p:spPr>
          <a:xfrm>
            <a:off x="7104888" y="1691640"/>
            <a:ext cx="3931920" cy="658368"/>
          </a:xfrm>
          <a:prstGeom prst="rect">
            <a:avLst/>
          </a:prstGeom>
          <a:noFill/>
          <a:ln/>
        </p:spPr>
        <p:txBody>
          <a:bodyPr wrap="square" rtlCol="0" anchor="ctr"/>
          <a:lstStyle/>
          <a:p>
            <a:pPr indent="0" marL="0">
              <a:buNone/>
            </a:pPr>
            <a:r>
              <a:rPr lang="en-US" sz="1200" i="1" dirty="0">
                <a:solidFill>
                  <a:srgbClr val="13292E"/>
                </a:solidFill>
                <a:latin typeface="Calibri" pitchFamily="34" charset="0"/>
                <a:ea typeface="Calibri" pitchFamily="34" charset="-122"/>
                <a:cs typeface="Calibri" pitchFamily="34" charset="-120"/>
              </a:rPr>
              <a:t>“Mai bác sĩ nào khám ở cơ sở 1?”</a:t>
            </a:r>
            <a:endParaRPr lang="en-US" sz="1200" dirty="0"/>
          </a:p>
        </p:txBody>
      </p:sp>
      <p:sp>
        <p:nvSpPr>
          <p:cNvPr id="18" name="Shape 16"/>
          <p:cNvSpPr/>
          <p:nvPr/>
        </p:nvSpPr>
        <p:spPr>
          <a:xfrm>
            <a:off x="7360920" y="2532888"/>
            <a:ext cx="3840480" cy="658368"/>
          </a:xfrm>
          <a:prstGeom prst="roundRect">
            <a:avLst>
              <a:gd name="adj" fmla="val 19444"/>
            </a:avLst>
          </a:prstGeom>
          <a:solidFill>
            <a:srgbClr val="FFFFFF"/>
          </a:solidFill>
          <a:ln w="12700">
            <a:solidFill>
              <a:srgbClr val="DCEDEB"/>
            </a:solidFill>
            <a:prstDash val="solid"/>
          </a:ln>
        </p:spPr>
      </p:sp>
      <p:sp>
        <p:nvSpPr>
          <p:cNvPr id="19" name="Text 17"/>
          <p:cNvSpPr/>
          <p:nvPr/>
        </p:nvSpPr>
        <p:spPr>
          <a:xfrm>
            <a:off x="7562088" y="2532888"/>
            <a:ext cx="3474720" cy="658368"/>
          </a:xfrm>
          <a:prstGeom prst="rect">
            <a:avLst/>
          </a:prstGeom>
          <a:noFill/>
          <a:ln/>
        </p:spPr>
        <p:txBody>
          <a:bodyPr wrap="square" rtlCol="0" anchor="ctr"/>
          <a:lstStyle/>
          <a:p>
            <a:pPr indent="0" marL="0">
              <a:buNone/>
            </a:pPr>
            <a:r>
              <a:rPr lang="en-US" sz="1200" i="1" dirty="0">
                <a:solidFill>
                  <a:srgbClr val="13292E"/>
                </a:solidFill>
                <a:latin typeface="Calibri" pitchFamily="34" charset="0"/>
                <a:ea typeface="Calibri" pitchFamily="34" charset="-122"/>
                <a:cs typeface="Calibri" pitchFamily="34" charset="-120"/>
              </a:rPr>
              <a:t>“Giá siêu âm tim bao nhiêu?”</a:t>
            </a:r>
            <a:endParaRPr lang="en-US" sz="1200" dirty="0"/>
          </a:p>
        </p:txBody>
      </p:sp>
      <p:sp>
        <p:nvSpPr>
          <p:cNvPr id="20" name="Shape 18"/>
          <p:cNvSpPr/>
          <p:nvPr/>
        </p:nvSpPr>
        <p:spPr>
          <a:xfrm>
            <a:off x="6903720" y="3374136"/>
            <a:ext cx="4297680" cy="658368"/>
          </a:xfrm>
          <a:prstGeom prst="roundRect">
            <a:avLst>
              <a:gd name="adj" fmla="val 19444"/>
            </a:avLst>
          </a:prstGeom>
          <a:solidFill>
            <a:srgbClr val="FFFFFF"/>
          </a:solidFill>
          <a:ln w="12700">
            <a:solidFill>
              <a:srgbClr val="DCEDEB"/>
            </a:solidFill>
            <a:prstDash val="solid"/>
          </a:ln>
        </p:spPr>
      </p:sp>
      <p:sp>
        <p:nvSpPr>
          <p:cNvPr id="21" name="Text 19"/>
          <p:cNvSpPr/>
          <p:nvPr/>
        </p:nvSpPr>
        <p:spPr>
          <a:xfrm>
            <a:off x="7104888" y="3374136"/>
            <a:ext cx="3931920" cy="658368"/>
          </a:xfrm>
          <a:prstGeom prst="rect">
            <a:avLst/>
          </a:prstGeom>
          <a:noFill/>
          <a:ln/>
        </p:spPr>
        <p:txBody>
          <a:bodyPr wrap="square" rtlCol="0" anchor="ctr"/>
          <a:lstStyle/>
          <a:p>
            <a:pPr indent="0" marL="0">
              <a:buNone/>
            </a:pPr>
            <a:r>
              <a:rPr lang="en-US" sz="1200" i="1" dirty="0">
                <a:solidFill>
                  <a:srgbClr val="13292E"/>
                </a:solidFill>
                <a:latin typeface="Calibri" pitchFamily="34" charset="0"/>
                <a:ea typeface="Calibri" pitchFamily="34" charset="-122"/>
                <a:cs typeface="Calibri" pitchFamily="34" charset="-120"/>
              </a:rPr>
              <a:t>“BHYT có áp dụng không?”</a:t>
            </a:r>
            <a:endParaRPr lang="en-US" sz="1200" dirty="0"/>
          </a:p>
        </p:txBody>
      </p:sp>
      <p:sp>
        <p:nvSpPr>
          <p:cNvPr id="22" name="Shape 20"/>
          <p:cNvSpPr/>
          <p:nvPr/>
        </p:nvSpPr>
        <p:spPr>
          <a:xfrm>
            <a:off x="7360920" y="4215384"/>
            <a:ext cx="3840480" cy="658368"/>
          </a:xfrm>
          <a:prstGeom prst="roundRect">
            <a:avLst>
              <a:gd name="adj" fmla="val 19444"/>
            </a:avLst>
          </a:prstGeom>
          <a:solidFill>
            <a:srgbClr val="FFFFFF"/>
          </a:solidFill>
          <a:ln w="12700">
            <a:solidFill>
              <a:srgbClr val="DCEDEB"/>
            </a:solidFill>
            <a:prstDash val="solid"/>
          </a:ln>
        </p:spPr>
      </p:sp>
      <p:sp>
        <p:nvSpPr>
          <p:cNvPr id="23" name="Text 21"/>
          <p:cNvSpPr/>
          <p:nvPr/>
        </p:nvSpPr>
        <p:spPr>
          <a:xfrm>
            <a:off x="7562088" y="4215384"/>
            <a:ext cx="3474720" cy="658368"/>
          </a:xfrm>
          <a:prstGeom prst="rect">
            <a:avLst/>
          </a:prstGeom>
          <a:noFill/>
          <a:ln/>
        </p:spPr>
        <p:txBody>
          <a:bodyPr wrap="square" rtlCol="0" anchor="ctr"/>
          <a:lstStyle/>
          <a:p>
            <a:pPr indent="0" marL="0">
              <a:buNone/>
            </a:pPr>
            <a:r>
              <a:rPr lang="en-US" sz="1200" i="1" dirty="0">
                <a:solidFill>
                  <a:srgbClr val="13292E"/>
                </a:solidFill>
                <a:latin typeface="Calibri" pitchFamily="34" charset="0"/>
                <a:ea typeface="Calibri" pitchFamily="34" charset="-122"/>
                <a:cs typeface="Calibri" pitchFamily="34" charset="-120"/>
              </a:rPr>
              <a:t>“Đặt lịch qua đâu?”</a:t>
            </a:r>
            <a:endParaRPr lang="en-US" sz="1200" dirty="0"/>
          </a:p>
        </p:txBody>
      </p:sp>
      <p:sp>
        <p:nvSpPr>
          <p:cNvPr id="24" name="Shape 22"/>
          <p:cNvSpPr/>
          <p:nvPr/>
        </p:nvSpPr>
        <p:spPr>
          <a:xfrm>
            <a:off x="6903720" y="5056632"/>
            <a:ext cx="4297680" cy="658368"/>
          </a:xfrm>
          <a:prstGeom prst="roundRect">
            <a:avLst>
              <a:gd name="adj" fmla="val 19444"/>
            </a:avLst>
          </a:prstGeom>
          <a:solidFill>
            <a:srgbClr val="E8544E"/>
          </a:solidFill>
          <a:ln w="12700">
            <a:solidFill>
              <a:srgbClr val="E8544E"/>
            </a:solidFill>
            <a:prstDash val="solid"/>
          </a:ln>
        </p:spPr>
      </p:sp>
      <p:sp>
        <p:nvSpPr>
          <p:cNvPr id="25" name="Text 23"/>
          <p:cNvSpPr/>
          <p:nvPr/>
        </p:nvSpPr>
        <p:spPr>
          <a:xfrm>
            <a:off x="7104888" y="5056632"/>
            <a:ext cx="3931920" cy="65836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“Đau ngực thì có nên chờ lịch hẹn không?”</a:t>
            </a:r>
            <a:endParaRPr lang="en-US" sz="1200" dirty="0"/>
          </a:p>
        </p:txBody>
      </p:sp>
      <p:sp>
        <p:nvSpPr>
          <p:cNvPr id="26" name="Text 24"/>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27" name="Text 2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02 · GIÁ TRỊ</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Vì sao đề tài này quan trọng với Bệnh viện Tim Hà Nội</a:t>
            </a:r>
            <a:endParaRPr lang="en-US" sz="3000" dirty="0"/>
          </a:p>
        </p:txBody>
      </p:sp>
      <p:sp>
        <p:nvSpPr>
          <p:cNvPr id="4" name="Text 2"/>
          <p:cNvSpPr/>
          <p:nvPr/>
        </p:nvSpPr>
        <p:spPr>
          <a:xfrm>
            <a:off x="548640" y="1600200"/>
            <a:ext cx="10789920" cy="457200"/>
          </a:xfrm>
          <a:prstGeom prst="rect">
            <a:avLst/>
          </a:prstGeom>
          <a:noFill/>
          <a:ln/>
        </p:spPr>
        <p:txBody>
          <a:bodyPr wrap="square" rtlCol="0" anchor="ctr"/>
          <a:lstStyle/>
          <a:p>
            <a:pPr indent="0" marL="0">
              <a:buNone/>
            </a:pPr>
            <a:r>
              <a:rPr lang="en-US" sz="1350" i="1" dirty="0">
                <a:solidFill>
                  <a:srgbClr val="5B7278"/>
                </a:solidFill>
                <a:latin typeface="Calibri" pitchFamily="34" charset="0"/>
                <a:ea typeface="Calibri" pitchFamily="34" charset="-122"/>
                <a:cs typeface="Calibri" pitchFamily="34" charset="-120"/>
              </a:rPr>
              <a:t>Người bệnh tim mạch thường căng thẳng hơn các nhóm khám khác — họ cần đúng cơ sở, đúng ca, đúng chi phí, và đúng kênh xử lý khi triệu chứng trở nặng.</a:t>
            </a:r>
            <a:endParaRPr lang="en-US" sz="1350" dirty="0"/>
          </a:p>
        </p:txBody>
      </p:sp>
      <p:sp>
        <p:nvSpPr>
          <p:cNvPr id="5" name="Shape 3"/>
          <p:cNvSpPr/>
          <p:nvPr/>
        </p:nvSpPr>
        <p:spPr>
          <a:xfrm>
            <a:off x="548640" y="2331720"/>
            <a:ext cx="3566160" cy="3291840"/>
          </a:xfrm>
          <a:prstGeom prst="roundRect">
            <a:avLst>
              <a:gd name="adj" fmla="val 2778"/>
            </a:avLst>
          </a:prstGeom>
          <a:solidFill>
            <a:srgbClr val="F3FAF9"/>
          </a:solidFill>
          <a:ln w="12700">
            <a:solidFill>
              <a:srgbClr val="DCEDEB"/>
            </a:solidFill>
            <a:prstDash val="solid"/>
          </a:ln>
        </p:spPr>
      </p:sp>
      <p:sp>
        <p:nvSpPr>
          <p:cNvPr id="6" name="Shape 4"/>
          <p:cNvSpPr/>
          <p:nvPr/>
        </p:nvSpPr>
        <p:spPr>
          <a:xfrm>
            <a:off x="868680" y="2697480"/>
            <a:ext cx="822960" cy="822960"/>
          </a:xfrm>
          <a:prstGeom prst="ellipse">
            <a:avLst/>
          </a:prstGeom>
          <a:solidFill>
            <a:srgbClr val="0B7285"/>
          </a:solidFill>
          <a:ln/>
        </p:spPr>
      </p:sp>
      <p:pic>
        <p:nvPicPr>
          <p:cNvPr id="7" name="Image 0" descr="/home/claude/hera_pptx/icons/chartLine.png">    </p:cNvPr>
          <p:cNvPicPr>
            <a:picLocks noChangeAspect="1"/>
          </p:cNvPicPr>
          <p:nvPr/>
        </p:nvPicPr>
        <p:blipFill>
          <a:blip r:embed="rId1"/>
          <a:stretch>
            <a:fillRect/>
          </a:stretch>
        </p:blipFill>
        <p:spPr>
          <a:xfrm>
            <a:off x="1074420" y="2903220"/>
            <a:ext cx="411480" cy="411480"/>
          </a:xfrm>
          <a:prstGeom prst="rect">
            <a:avLst/>
          </a:prstGeom>
        </p:spPr>
      </p:pic>
      <p:sp>
        <p:nvSpPr>
          <p:cNvPr id="8" name="Text 5"/>
          <p:cNvSpPr/>
          <p:nvPr/>
        </p:nvSpPr>
        <p:spPr>
          <a:xfrm>
            <a:off x="868680" y="3657600"/>
            <a:ext cx="2926080" cy="274320"/>
          </a:xfrm>
          <a:prstGeom prst="rect">
            <a:avLst/>
          </a:prstGeom>
          <a:noFill/>
          <a:ln/>
        </p:spPr>
        <p:txBody>
          <a:bodyPr wrap="square" rtlCol="0" anchor="ctr"/>
          <a:lstStyle/>
          <a:p>
            <a:pPr indent="0" marL="0">
              <a:buNone/>
            </a:pPr>
            <a:r>
              <a:rPr lang="en-US" sz="1050" b="1" spc="150" kern="0" dirty="0">
                <a:solidFill>
                  <a:srgbClr val="0B7285"/>
                </a:solidFill>
                <a:latin typeface="Calibri" pitchFamily="34" charset="0"/>
                <a:ea typeface="Calibri" pitchFamily="34" charset="-122"/>
                <a:cs typeface="Calibri" pitchFamily="34" charset="-120"/>
              </a:rPr>
              <a:t>TẦNG 1</a:t>
            </a:r>
            <a:endParaRPr lang="en-US" sz="1050" dirty="0"/>
          </a:p>
        </p:txBody>
      </p:sp>
      <p:sp>
        <p:nvSpPr>
          <p:cNvPr id="9" name="Text 6"/>
          <p:cNvSpPr/>
          <p:nvPr/>
        </p:nvSpPr>
        <p:spPr>
          <a:xfrm>
            <a:off x="868680" y="3931920"/>
            <a:ext cx="2926080" cy="594360"/>
          </a:xfrm>
          <a:prstGeom prst="rect">
            <a:avLst/>
          </a:prstGeom>
          <a:noFill/>
          <a:ln/>
        </p:spPr>
        <p:txBody>
          <a:bodyPr wrap="square" rtlCol="0" anchor="ctr"/>
          <a:lstStyle/>
          <a:p>
            <a:pPr indent="0" marL="0">
              <a:lnSpc>
                <a:spcPts val="1900"/>
              </a:lnSpc>
              <a:buNone/>
            </a:pPr>
            <a:r>
              <a:rPr lang="en-US" sz="1650" b="1" dirty="0">
                <a:solidFill>
                  <a:srgbClr val="13292E"/>
                </a:solidFill>
                <a:latin typeface="Cambria" pitchFamily="34" charset="0"/>
                <a:ea typeface="Cambria" pitchFamily="34" charset="-122"/>
                <a:cs typeface="Cambria" pitchFamily="34" charset="-120"/>
              </a:rPr>
              <a:t>Giảm tải câu hỏi lặp lại</a:t>
            </a:r>
            <a:endParaRPr lang="en-US" sz="1650" dirty="0"/>
          </a:p>
        </p:txBody>
      </p:sp>
      <p:sp>
        <p:nvSpPr>
          <p:cNvPr id="10" name="Text 7"/>
          <p:cNvSpPr/>
          <p:nvPr/>
        </p:nvSpPr>
        <p:spPr>
          <a:xfrm>
            <a:off x="868680" y="4572000"/>
            <a:ext cx="2971800" cy="960120"/>
          </a:xfrm>
          <a:prstGeom prst="rect">
            <a:avLst/>
          </a:prstGeom>
          <a:noFill/>
          <a:ln/>
        </p:spPr>
        <p:txBody>
          <a:bodyPr wrap="square" rtlCol="0" anchor="ctr"/>
          <a:lstStyle/>
          <a:p>
            <a:pPr indent="0" marL="0">
              <a:lnSpc>
                <a:spcPts val="1500"/>
              </a:lnSpc>
              <a:buNone/>
            </a:pPr>
            <a:r>
              <a:rPr lang="en-US" sz="1150" dirty="0">
                <a:solidFill>
                  <a:srgbClr val="5B7278"/>
                </a:solidFill>
                <a:latin typeface="Calibri" pitchFamily="34" charset="0"/>
                <a:ea typeface="Calibri" pitchFamily="34" charset="-122"/>
                <a:cs typeface="Calibri" pitchFamily="34" charset="-120"/>
              </a:rPr>
              <a:t>Giá dịch vụ, mức đóng BHYT hộ gia đình, lịch bác sĩ, quy trình khám, kênh đặt lịch, hotline, hướng dẫn phổ biến.</a:t>
            </a:r>
            <a:endParaRPr lang="en-US" sz="1150" dirty="0"/>
          </a:p>
        </p:txBody>
      </p:sp>
      <p:sp>
        <p:nvSpPr>
          <p:cNvPr id="11" name="Shape 8"/>
          <p:cNvSpPr/>
          <p:nvPr/>
        </p:nvSpPr>
        <p:spPr>
          <a:xfrm>
            <a:off x="4297680" y="2331720"/>
            <a:ext cx="3566160" cy="3291840"/>
          </a:xfrm>
          <a:prstGeom prst="roundRect">
            <a:avLst>
              <a:gd name="adj" fmla="val 2778"/>
            </a:avLst>
          </a:prstGeom>
          <a:solidFill>
            <a:srgbClr val="F3FAF9"/>
          </a:solidFill>
          <a:ln w="12700">
            <a:solidFill>
              <a:srgbClr val="DCEDEB"/>
            </a:solidFill>
            <a:prstDash val="solid"/>
          </a:ln>
        </p:spPr>
      </p:sp>
      <p:sp>
        <p:nvSpPr>
          <p:cNvPr id="12" name="Shape 9"/>
          <p:cNvSpPr/>
          <p:nvPr/>
        </p:nvSpPr>
        <p:spPr>
          <a:xfrm>
            <a:off x="4617720" y="2697480"/>
            <a:ext cx="822960" cy="822960"/>
          </a:xfrm>
          <a:prstGeom prst="ellipse">
            <a:avLst/>
          </a:prstGeom>
          <a:solidFill>
            <a:srgbClr val="4CB5AE"/>
          </a:solidFill>
          <a:ln/>
        </p:spPr>
      </p:sp>
      <p:pic>
        <p:nvPicPr>
          <p:cNvPr id="13" name="Image 1" descr="/home/claude/hera_pptx/icons/checkCircle.png">    </p:cNvPr>
          <p:cNvPicPr>
            <a:picLocks noChangeAspect="1"/>
          </p:cNvPicPr>
          <p:nvPr/>
        </p:nvPicPr>
        <p:blipFill>
          <a:blip r:embed="rId2"/>
          <a:stretch>
            <a:fillRect/>
          </a:stretch>
        </p:blipFill>
        <p:spPr>
          <a:xfrm>
            <a:off x="4823460" y="2903220"/>
            <a:ext cx="411480" cy="411480"/>
          </a:xfrm>
          <a:prstGeom prst="rect">
            <a:avLst/>
          </a:prstGeom>
        </p:spPr>
      </p:pic>
      <p:sp>
        <p:nvSpPr>
          <p:cNvPr id="14" name="Text 10"/>
          <p:cNvSpPr/>
          <p:nvPr/>
        </p:nvSpPr>
        <p:spPr>
          <a:xfrm>
            <a:off x="4617720" y="3657600"/>
            <a:ext cx="2926080" cy="274320"/>
          </a:xfrm>
          <a:prstGeom prst="rect">
            <a:avLst/>
          </a:prstGeom>
          <a:noFill/>
          <a:ln/>
        </p:spPr>
        <p:txBody>
          <a:bodyPr wrap="square" rtlCol="0" anchor="ctr"/>
          <a:lstStyle/>
          <a:p>
            <a:pPr indent="0" marL="0">
              <a:buNone/>
            </a:pPr>
            <a:r>
              <a:rPr lang="en-US" sz="1050" b="1" spc="150" kern="0" dirty="0">
                <a:solidFill>
                  <a:srgbClr val="4CB5AE"/>
                </a:solidFill>
                <a:latin typeface="Calibri" pitchFamily="34" charset="0"/>
                <a:ea typeface="Calibri" pitchFamily="34" charset="-122"/>
                <a:cs typeface="Calibri" pitchFamily="34" charset="-120"/>
              </a:rPr>
              <a:t>TẦNG 2</a:t>
            </a:r>
            <a:endParaRPr lang="en-US" sz="1050" dirty="0"/>
          </a:p>
        </p:txBody>
      </p:sp>
      <p:sp>
        <p:nvSpPr>
          <p:cNvPr id="15" name="Text 11"/>
          <p:cNvSpPr/>
          <p:nvPr/>
        </p:nvSpPr>
        <p:spPr>
          <a:xfrm>
            <a:off x="4617720" y="3931920"/>
            <a:ext cx="2926080" cy="594360"/>
          </a:xfrm>
          <a:prstGeom prst="rect">
            <a:avLst/>
          </a:prstGeom>
          <a:noFill/>
          <a:ln/>
        </p:spPr>
        <p:txBody>
          <a:bodyPr wrap="square" rtlCol="0" anchor="ctr"/>
          <a:lstStyle/>
          <a:p>
            <a:pPr indent="0" marL="0">
              <a:lnSpc>
                <a:spcPts val="1900"/>
              </a:lnSpc>
              <a:buNone/>
            </a:pPr>
            <a:r>
              <a:rPr lang="en-US" sz="1650" b="1" dirty="0">
                <a:solidFill>
                  <a:srgbClr val="13292E"/>
                </a:solidFill>
                <a:latin typeface="Cambria" pitchFamily="34" charset="0"/>
                <a:ea typeface="Cambria" pitchFamily="34" charset="-122"/>
                <a:cs typeface="Cambria" pitchFamily="34" charset="-120"/>
              </a:rPr>
              <a:t>Chuẩn hóa câu trả lời</a:t>
            </a:r>
            <a:endParaRPr lang="en-US" sz="1650" dirty="0"/>
          </a:p>
        </p:txBody>
      </p:sp>
      <p:sp>
        <p:nvSpPr>
          <p:cNvPr id="16" name="Text 12"/>
          <p:cNvSpPr/>
          <p:nvPr/>
        </p:nvSpPr>
        <p:spPr>
          <a:xfrm>
            <a:off x="4617720" y="4572000"/>
            <a:ext cx="2971800" cy="960120"/>
          </a:xfrm>
          <a:prstGeom prst="rect">
            <a:avLst/>
          </a:prstGeom>
          <a:noFill/>
          <a:ln/>
        </p:spPr>
        <p:txBody>
          <a:bodyPr wrap="square" rtlCol="0" anchor="ctr"/>
          <a:lstStyle/>
          <a:p>
            <a:pPr indent="0" marL="0">
              <a:lnSpc>
                <a:spcPts val="1500"/>
              </a:lnSpc>
              <a:buNone/>
            </a:pPr>
            <a:r>
              <a:rPr lang="en-US" sz="1150" dirty="0">
                <a:solidFill>
                  <a:srgbClr val="5B7278"/>
                </a:solidFill>
                <a:latin typeface="Calibri" pitchFamily="34" charset="0"/>
                <a:ea typeface="Calibri" pitchFamily="34" charset="-122"/>
                <a:cs typeface="Calibri" pitchFamily="34" charset="-120"/>
              </a:rPr>
              <a:t>Cùng một câu hỏi luôn trả lời từ cùng một nguồn dữ liệu, có citation và cảnh báo phạm vi sử dụng rõ ràng.</a:t>
            </a:r>
            <a:endParaRPr lang="en-US" sz="1150" dirty="0"/>
          </a:p>
        </p:txBody>
      </p:sp>
      <p:sp>
        <p:nvSpPr>
          <p:cNvPr id="17" name="Shape 13"/>
          <p:cNvSpPr/>
          <p:nvPr/>
        </p:nvSpPr>
        <p:spPr>
          <a:xfrm>
            <a:off x="8046720" y="2331720"/>
            <a:ext cx="3566160" cy="3291840"/>
          </a:xfrm>
          <a:prstGeom prst="roundRect">
            <a:avLst>
              <a:gd name="adj" fmla="val 2778"/>
            </a:avLst>
          </a:prstGeom>
          <a:solidFill>
            <a:srgbClr val="F3FAF9"/>
          </a:solidFill>
          <a:ln w="12700">
            <a:solidFill>
              <a:srgbClr val="DCEDEB"/>
            </a:solidFill>
            <a:prstDash val="solid"/>
          </a:ln>
        </p:spPr>
      </p:sp>
      <p:sp>
        <p:nvSpPr>
          <p:cNvPr id="18" name="Shape 14"/>
          <p:cNvSpPr/>
          <p:nvPr/>
        </p:nvSpPr>
        <p:spPr>
          <a:xfrm>
            <a:off x="8366760" y="2697480"/>
            <a:ext cx="822960" cy="822960"/>
          </a:xfrm>
          <a:prstGeom prst="ellipse">
            <a:avLst/>
          </a:prstGeom>
          <a:solidFill>
            <a:srgbClr val="E8544E"/>
          </a:solidFill>
          <a:ln/>
        </p:spPr>
      </p:sp>
      <p:pic>
        <p:nvPicPr>
          <p:cNvPr id="19" name="Image 2" descr="/home/claude/hera_pptx/icons/ambulance.png">    </p:cNvPr>
          <p:cNvPicPr>
            <a:picLocks noChangeAspect="1"/>
          </p:cNvPicPr>
          <p:nvPr/>
        </p:nvPicPr>
        <p:blipFill>
          <a:blip r:embed="rId3"/>
          <a:stretch>
            <a:fillRect/>
          </a:stretch>
        </p:blipFill>
        <p:spPr>
          <a:xfrm>
            <a:off x="8572500" y="2903220"/>
            <a:ext cx="411480" cy="411480"/>
          </a:xfrm>
          <a:prstGeom prst="rect">
            <a:avLst/>
          </a:prstGeom>
        </p:spPr>
      </p:pic>
      <p:sp>
        <p:nvSpPr>
          <p:cNvPr id="20" name="Text 15"/>
          <p:cNvSpPr/>
          <p:nvPr/>
        </p:nvSpPr>
        <p:spPr>
          <a:xfrm>
            <a:off x="8366760" y="3657600"/>
            <a:ext cx="2926080" cy="274320"/>
          </a:xfrm>
          <a:prstGeom prst="rect">
            <a:avLst/>
          </a:prstGeom>
          <a:noFill/>
          <a:ln/>
        </p:spPr>
        <p:txBody>
          <a:bodyPr wrap="square" rtlCol="0" anchor="ctr"/>
          <a:lstStyle/>
          <a:p>
            <a:pPr indent="0" marL="0">
              <a:buNone/>
            </a:pPr>
            <a:r>
              <a:rPr lang="en-US" sz="1050" b="1" spc="150" kern="0" dirty="0">
                <a:solidFill>
                  <a:srgbClr val="E8544E"/>
                </a:solidFill>
                <a:latin typeface="Calibri" pitchFamily="34" charset="0"/>
                <a:ea typeface="Calibri" pitchFamily="34" charset="-122"/>
                <a:cs typeface="Calibri" pitchFamily="34" charset="-120"/>
              </a:rPr>
              <a:t>TẦNG 3</a:t>
            </a:r>
            <a:endParaRPr lang="en-US" sz="1050" dirty="0"/>
          </a:p>
        </p:txBody>
      </p:sp>
      <p:sp>
        <p:nvSpPr>
          <p:cNvPr id="21" name="Text 16"/>
          <p:cNvSpPr/>
          <p:nvPr/>
        </p:nvSpPr>
        <p:spPr>
          <a:xfrm>
            <a:off x="8366760" y="3931920"/>
            <a:ext cx="2926080" cy="594360"/>
          </a:xfrm>
          <a:prstGeom prst="rect">
            <a:avLst/>
          </a:prstGeom>
          <a:noFill/>
          <a:ln/>
        </p:spPr>
        <p:txBody>
          <a:bodyPr wrap="square" rtlCol="0" anchor="ctr"/>
          <a:lstStyle/>
          <a:p>
            <a:pPr indent="0" marL="0">
              <a:lnSpc>
                <a:spcPts val="1900"/>
              </a:lnSpc>
              <a:buNone/>
            </a:pPr>
            <a:r>
              <a:rPr lang="en-US" sz="1650" b="1" dirty="0">
                <a:solidFill>
                  <a:srgbClr val="13292E"/>
                </a:solidFill>
                <a:latin typeface="Cambria" pitchFamily="34" charset="0"/>
                <a:ea typeface="Cambria" pitchFamily="34" charset="-122"/>
                <a:cs typeface="Cambria" pitchFamily="34" charset="-120"/>
              </a:rPr>
              <a:t>An toàn y tế</a:t>
            </a:r>
            <a:endParaRPr lang="en-US" sz="1650" dirty="0"/>
          </a:p>
        </p:txBody>
      </p:sp>
      <p:sp>
        <p:nvSpPr>
          <p:cNvPr id="22" name="Text 17"/>
          <p:cNvSpPr/>
          <p:nvPr/>
        </p:nvSpPr>
        <p:spPr>
          <a:xfrm>
            <a:off x="8366760" y="4572000"/>
            <a:ext cx="2971800" cy="960120"/>
          </a:xfrm>
          <a:prstGeom prst="rect">
            <a:avLst/>
          </a:prstGeom>
          <a:noFill/>
          <a:ln/>
        </p:spPr>
        <p:txBody>
          <a:bodyPr wrap="square" rtlCol="0" anchor="ctr"/>
          <a:lstStyle/>
          <a:p>
            <a:pPr indent="0" marL="0">
              <a:lnSpc>
                <a:spcPts val="1500"/>
              </a:lnSpc>
              <a:buNone/>
            </a:pPr>
            <a:r>
              <a:rPr lang="en-US" sz="1150" dirty="0">
                <a:solidFill>
                  <a:srgbClr val="5B7278"/>
                </a:solidFill>
                <a:latin typeface="Calibri" pitchFamily="34" charset="0"/>
                <a:ea typeface="Calibri" pitchFamily="34" charset="-122"/>
                <a:cs typeface="Calibri" pitchFamily="34" charset="-120"/>
              </a:rPr>
              <a:t>Khi phát hiện dấu hiệu nguy cấp (đau ngực dữ dội, khó thở, ngất), hệ thống chuyển ngay sang emergency handoff.</a:t>
            </a:r>
            <a:endParaRPr lang="en-US" sz="1150" dirty="0"/>
          </a:p>
        </p:txBody>
      </p:sp>
      <p:sp>
        <p:nvSpPr>
          <p:cNvPr id="23" name="Text 18"/>
          <p:cNvSpPr/>
          <p:nvPr/>
        </p:nvSpPr>
        <p:spPr>
          <a:xfrm>
            <a:off x="548640" y="5852160"/>
            <a:ext cx="10789920" cy="502920"/>
          </a:xfrm>
          <a:prstGeom prst="rect">
            <a:avLst/>
          </a:prstGeom>
          <a:noFill/>
          <a:ln/>
        </p:spPr>
        <p:txBody>
          <a:bodyPr wrap="square" rtlCol="0" anchor="ctr"/>
          <a:lstStyle/>
          <a:p>
            <a:pPr indent="0" marL="0">
              <a:buNone/>
            </a:pPr>
            <a:r>
              <a:rPr lang="en-US" sz="1250" b="1" i="1" dirty="0">
                <a:solidFill>
                  <a:srgbClr val="0B7285"/>
                </a:solidFill>
                <a:latin typeface="Calibri" pitchFamily="34" charset="0"/>
                <a:ea typeface="Calibri" pitchFamily="34" charset="-122"/>
                <a:cs typeface="Calibri" pitchFamily="34" charset="-120"/>
              </a:rPr>
              <a:t>HERA không cố biến AI thành bác sĩ — trong tim mạch, một câu trả lời “có vẻ thông minh” nhưng vô căn cứ có thể nguy hiểm hơn một lời từ chối rõ ràng.</a:t>
            </a:r>
            <a:endParaRPr lang="en-US" sz="1250" dirty="0"/>
          </a:p>
        </p:txBody>
      </p:sp>
      <p:sp>
        <p:nvSpPr>
          <p:cNvPr id="24" name="Text 19"/>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25"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03 · GIẢI PHÁP</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Một trợ lý AI có nghiệp vụ — không phải chatbot tự do</a:t>
            </a:r>
            <a:endParaRPr lang="en-US" sz="3000" dirty="0"/>
          </a:p>
        </p:txBody>
      </p:sp>
      <p:sp>
        <p:nvSpPr>
          <p:cNvPr id="4" name="Text 2"/>
          <p:cNvSpPr/>
          <p:nvPr/>
        </p:nvSpPr>
        <p:spPr>
          <a:xfrm>
            <a:off x="548640" y="1600200"/>
            <a:ext cx="10607040" cy="457200"/>
          </a:xfrm>
          <a:prstGeom prst="rect">
            <a:avLst/>
          </a:prstGeom>
          <a:noFill/>
          <a:ln/>
        </p:spPr>
        <p:txBody>
          <a:bodyPr wrap="square" rtlCol="0" anchor="ctr"/>
          <a:lstStyle/>
          <a:p>
            <a:pPr indent="0" marL="0">
              <a:buNone/>
            </a:pPr>
            <a:r>
              <a:rPr lang="en-US" sz="1350" i="1" dirty="0">
                <a:solidFill>
                  <a:srgbClr val="5B7278"/>
                </a:solidFill>
                <a:latin typeface="Calibri" pitchFamily="34" charset="0"/>
                <a:ea typeface="Calibri" pitchFamily="34" charset="-122"/>
                <a:cs typeface="Calibri" pitchFamily="34" charset="-120"/>
              </a:rPr>
              <a:t>Kiến trúc cốt lõi: “Grounded AI + Structured Data + Guardrail”. LLM không được tự bịa giá, lịch hay quyền lợi BHYT.</a:t>
            </a:r>
            <a:endParaRPr lang="en-US" sz="1350" dirty="0"/>
          </a:p>
        </p:txBody>
      </p:sp>
      <p:sp>
        <p:nvSpPr>
          <p:cNvPr id="5" name="Shape 3"/>
          <p:cNvSpPr/>
          <p:nvPr/>
        </p:nvSpPr>
        <p:spPr>
          <a:xfrm>
            <a:off x="548640" y="2286000"/>
            <a:ext cx="3566160" cy="3017520"/>
          </a:xfrm>
          <a:prstGeom prst="roundRect">
            <a:avLst>
              <a:gd name="adj" fmla="val 3030"/>
            </a:avLst>
          </a:prstGeom>
          <a:solidFill>
            <a:srgbClr val="FFFFFF"/>
          </a:solidFill>
          <a:ln w="12700">
            <a:solidFill>
              <a:srgbClr val="DCEDEB"/>
            </a:solidFill>
            <a:prstDash val="solid"/>
          </a:ln>
          <a:effectLst>
            <a:outerShdw sx="100000" sy="100000" kx="0" ky="0" algn="bl" rotWithShape="0" blurRad="101600" dist="38100" dir="5400000">
              <a:srgbClr val="0B7285">
                <a:alpha val="10000"/>
              </a:srgbClr>
            </a:outerShdw>
          </a:effectLst>
        </p:spPr>
      </p:sp>
      <p:sp>
        <p:nvSpPr>
          <p:cNvPr id="6" name="Shape 4"/>
          <p:cNvSpPr/>
          <p:nvPr/>
        </p:nvSpPr>
        <p:spPr>
          <a:xfrm>
            <a:off x="2011680" y="2606040"/>
            <a:ext cx="685800" cy="685800"/>
          </a:xfrm>
          <a:prstGeom prst="ellipse">
            <a:avLst/>
          </a:prstGeom>
          <a:solidFill>
            <a:srgbClr val="0B7285"/>
          </a:solidFill>
          <a:ln/>
        </p:spPr>
      </p:sp>
      <p:pic>
        <p:nvPicPr>
          <p:cNvPr id="7" name="Image 0" descr="/home/claude/hera_pptx/icons/database.png">    </p:cNvPr>
          <p:cNvPicPr>
            <a:picLocks noChangeAspect="1"/>
          </p:cNvPicPr>
          <p:nvPr/>
        </p:nvPicPr>
        <p:blipFill>
          <a:blip r:embed="rId1"/>
          <a:stretch>
            <a:fillRect/>
          </a:stretch>
        </p:blipFill>
        <p:spPr>
          <a:xfrm>
            <a:off x="2183130" y="2777490"/>
            <a:ext cx="342900" cy="342900"/>
          </a:xfrm>
          <a:prstGeom prst="rect">
            <a:avLst/>
          </a:prstGeom>
        </p:spPr>
      </p:pic>
      <p:sp>
        <p:nvSpPr>
          <p:cNvPr id="8" name="Text 5"/>
          <p:cNvSpPr/>
          <p:nvPr/>
        </p:nvSpPr>
        <p:spPr>
          <a:xfrm>
            <a:off x="777240" y="3429000"/>
            <a:ext cx="3108960" cy="411480"/>
          </a:xfrm>
          <a:prstGeom prst="rect">
            <a:avLst/>
          </a:prstGeom>
          <a:noFill/>
          <a:ln/>
        </p:spPr>
        <p:txBody>
          <a:bodyPr wrap="square" rtlCol="0" anchor="ctr"/>
          <a:lstStyle/>
          <a:p>
            <a:pPr algn="ctr" indent="0" marL="0">
              <a:buNone/>
            </a:pPr>
            <a:r>
              <a:rPr lang="en-US" sz="1550" b="1" dirty="0">
                <a:solidFill>
                  <a:srgbClr val="13292E"/>
                </a:solidFill>
                <a:latin typeface="Cambria" pitchFamily="34" charset="0"/>
                <a:ea typeface="Cambria" pitchFamily="34" charset="-122"/>
                <a:cs typeface="Cambria" pitchFamily="34" charset="-120"/>
              </a:rPr>
              <a:t>Structured Data</a:t>
            </a:r>
            <a:endParaRPr lang="en-US" sz="1550" dirty="0"/>
          </a:p>
        </p:txBody>
      </p:sp>
      <p:sp>
        <p:nvSpPr>
          <p:cNvPr id="9" name="Text 6"/>
          <p:cNvSpPr/>
          <p:nvPr/>
        </p:nvSpPr>
        <p:spPr>
          <a:xfrm>
            <a:off x="822960" y="3886200"/>
            <a:ext cx="3017520" cy="1280160"/>
          </a:xfrm>
          <a:prstGeom prst="rect">
            <a:avLst/>
          </a:prstGeom>
          <a:noFill/>
          <a:ln/>
        </p:spPr>
        <p:txBody>
          <a:bodyPr wrap="square" rtlCol="0" anchor="ctr"/>
          <a:lstStyle/>
          <a:p>
            <a:pPr algn="ctr" indent="0" marL="0">
              <a:lnSpc>
                <a:spcPts val="1500"/>
              </a:lnSpc>
              <a:buNone/>
            </a:pPr>
            <a:r>
              <a:rPr lang="en-US" sz="1100" dirty="0">
                <a:solidFill>
                  <a:srgbClr val="5B7278"/>
                </a:solidFill>
                <a:latin typeface="Calibri" pitchFamily="34" charset="0"/>
                <a:ea typeface="Calibri" pitchFamily="34" charset="-122"/>
                <a:cs typeface="Calibri" pitchFamily="34" charset="-120"/>
              </a:rPr>
              <a:t>Bảng giá, BHYT, lịch bác sĩ, ca khám, capacity được lưu chuẩn trong PostgreSQL — độ chính xác cao, không suy đoán.</a:t>
            </a:r>
            <a:endParaRPr lang="en-US" sz="1100" dirty="0"/>
          </a:p>
        </p:txBody>
      </p:sp>
      <p:sp>
        <p:nvSpPr>
          <p:cNvPr id="10" name="Text 7"/>
          <p:cNvSpPr/>
          <p:nvPr/>
        </p:nvSpPr>
        <p:spPr>
          <a:xfrm>
            <a:off x="4069080" y="3246120"/>
            <a:ext cx="365760" cy="548640"/>
          </a:xfrm>
          <a:prstGeom prst="rect">
            <a:avLst/>
          </a:prstGeom>
          <a:noFill/>
          <a:ln/>
        </p:spPr>
        <p:txBody>
          <a:bodyPr wrap="square" rtlCol="0" anchor="ctr"/>
          <a:lstStyle/>
          <a:p>
            <a:pPr algn="ctr" indent="0" marL="0">
              <a:buNone/>
            </a:pPr>
            <a:r>
              <a:rPr lang="en-US" sz="2600" b="1" dirty="0">
                <a:solidFill>
                  <a:srgbClr val="4CB5AE"/>
                </a:solidFill>
                <a:latin typeface="Cambria" pitchFamily="34" charset="0"/>
                <a:ea typeface="Cambria" pitchFamily="34" charset="-122"/>
                <a:cs typeface="Cambria" pitchFamily="34" charset="-120"/>
              </a:rPr>
              <a:t>+</a:t>
            </a:r>
            <a:endParaRPr lang="en-US" sz="2600" dirty="0"/>
          </a:p>
        </p:txBody>
      </p:sp>
      <p:sp>
        <p:nvSpPr>
          <p:cNvPr id="11" name="Shape 8"/>
          <p:cNvSpPr/>
          <p:nvPr/>
        </p:nvSpPr>
        <p:spPr>
          <a:xfrm>
            <a:off x="4297680" y="2286000"/>
            <a:ext cx="3566160" cy="3017520"/>
          </a:xfrm>
          <a:prstGeom prst="roundRect">
            <a:avLst>
              <a:gd name="adj" fmla="val 3030"/>
            </a:avLst>
          </a:prstGeom>
          <a:solidFill>
            <a:srgbClr val="FFFFFF"/>
          </a:solidFill>
          <a:ln w="12700">
            <a:solidFill>
              <a:srgbClr val="DCEDEB"/>
            </a:solidFill>
            <a:prstDash val="solid"/>
          </a:ln>
          <a:effectLst>
            <a:outerShdw sx="100000" sy="100000" kx="0" ky="0" algn="bl" rotWithShape="0" blurRad="101600" dist="38100" dir="5400000">
              <a:srgbClr val="0B7285">
                <a:alpha val="10000"/>
              </a:srgbClr>
            </a:outerShdw>
          </a:effectLst>
        </p:spPr>
      </p:sp>
      <p:sp>
        <p:nvSpPr>
          <p:cNvPr id="12" name="Shape 9"/>
          <p:cNvSpPr/>
          <p:nvPr/>
        </p:nvSpPr>
        <p:spPr>
          <a:xfrm>
            <a:off x="5760720" y="2606040"/>
            <a:ext cx="685800" cy="685800"/>
          </a:xfrm>
          <a:prstGeom prst="ellipse">
            <a:avLst/>
          </a:prstGeom>
          <a:solidFill>
            <a:srgbClr val="E8544E"/>
          </a:solidFill>
          <a:ln/>
        </p:spPr>
      </p:sp>
      <p:pic>
        <p:nvPicPr>
          <p:cNvPr id="13" name="Image 1" descr="/home/claude/hera_pptx/icons/robot.png">    </p:cNvPr>
          <p:cNvPicPr>
            <a:picLocks noChangeAspect="1"/>
          </p:cNvPicPr>
          <p:nvPr/>
        </p:nvPicPr>
        <p:blipFill>
          <a:blip r:embed="rId2"/>
          <a:stretch>
            <a:fillRect/>
          </a:stretch>
        </p:blipFill>
        <p:spPr>
          <a:xfrm>
            <a:off x="5932170" y="2777490"/>
            <a:ext cx="342900" cy="342900"/>
          </a:xfrm>
          <a:prstGeom prst="rect">
            <a:avLst/>
          </a:prstGeom>
        </p:spPr>
      </p:pic>
      <p:sp>
        <p:nvSpPr>
          <p:cNvPr id="14" name="Text 10"/>
          <p:cNvSpPr/>
          <p:nvPr/>
        </p:nvSpPr>
        <p:spPr>
          <a:xfrm>
            <a:off x="4526280" y="3429000"/>
            <a:ext cx="3108960" cy="411480"/>
          </a:xfrm>
          <a:prstGeom prst="rect">
            <a:avLst/>
          </a:prstGeom>
          <a:noFill/>
          <a:ln/>
        </p:spPr>
        <p:txBody>
          <a:bodyPr wrap="square" rtlCol="0" anchor="ctr"/>
          <a:lstStyle/>
          <a:p>
            <a:pPr algn="ctr" indent="0" marL="0">
              <a:buNone/>
            </a:pPr>
            <a:r>
              <a:rPr lang="en-US" sz="1550" b="1" dirty="0">
                <a:solidFill>
                  <a:srgbClr val="13292E"/>
                </a:solidFill>
                <a:latin typeface="Cambria" pitchFamily="34" charset="0"/>
                <a:ea typeface="Cambria" pitchFamily="34" charset="-122"/>
                <a:cs typeface="Cambria" pitchFamily="34" charset="-120"/>
              </a:rPr>
              <a:t>Grounded AI (LLM)</a:t>
            </a:r>
            <a:endParaRPr lang="en-US" sz="1550" dirty="0"/>
          </a:p>
        </p:txBody>
      </p:sp>
      <p:sp>
        <p:nvSpPr>
          <p:cNvPr id="15" name="Text 11"/>
          <p:cNvSpPr/>
          <p:nvPr/>
        </p:nvSpPr>
        <p:spPr>
          <a:xfrm>
            <a:off x="4572000" y="3886200"/>
            <a:ext cx="3017520" cy="1280160"/>
          </a:xfrm>
          <a:prstGeom prst="rect">
            <a:avLst/>
          </a:prstGeom>
          <a:noFill/>
          <a:ln/>
        </p:spPr>
        <p:txBody>
          <a:bodyPr wrap="square" rtlCol="0" anchor="ctr"/>
          <a:lstStyle/>
          <a:p>
            <a:pPr algn="ctr" indent="0" marL="0">
              <a:lnSpc>
                <a:spcPts val="1500"/>
              </a:lnSpc>
              <a:buNone/>
            </a:pPr>
            <a:r>
              <a:rPr lang="en-US" sz="1100" dirty="0">
                <a:solidFill>
                  <a:srgbClr val="5B7278"/>
                </a:solidFill>
                <a:latin typeface="Calibri" pitchFamily="34" charset="0"/>
                <a:ea typeface="Calibri" pitchFamily="34" charset="-122"/>
                <a:cs typeface="Calibri" pitchFamily="34" charset="-120"/>
              </a:rPr>
              <a:t>Hiểu câu hỏi tự nhiên, phân loại ý định, hỗ trợ routing, diễn đạt câu trả lời mạch lạc — đúng vai trò, không tự sinh sự kiện.</a:t>
            </a:r>
            <a:endParaRPr lang="en-US" sz="1100" dirty="0"/>
          </a:p>
        </p:txBody>
      </p:sp>
      <p:sp>
        <p:nvSpPr>
          <p:cNvPr id="16" name="Text 12"/>
          <p:cNvSpPr/>
          <p:nvPr/>
        </p:nvSpPr>
        <p:spPr>
          <a:xfrm>
            <a:off x="7818120" y="3246120"/>
            <a:ext cx="365760" cy="548640"/>
          </a:xfrm>
          <a:prstGeom prst="rect">
            <a:avLst/>
          </a:prstGeom>
          <a:noFill/>
          <a:ln/>
        </p:spPr>
        <p:txBody>
          <a:bodyPr wrap="square" rtlCol="0" anchor="ctr"/>
          <a:lstStyle/>
          <a:p>
            <a:pPr algn="ctr" indent="0" marL="0">
              <a:buNone/>
            </a:pPr>
            <a:r>
              <a:rPr lang="en-US" sz="2600" b="1" dirty="0">
                <a:solidFill>
                  <a:srgbClr val="4CB5AE"/>
                </a:solidFill>
                <a:latin typeface="Cambria" pitchFamily="34" charset="0"/>
                <a:ea typeface="Cambria" pitchFamily="34" charset="-122"/>
                <a:cs typeface="Cambria" pitchFamily="34" charset="-120"/>
              </a:rPr>
              <a:t>+</a:t>
            </a:r>
            <a:endParaRPr lang="en-US" sz="2600" dirty="0"/>
          </a:p>
        </p:txBody>
      </p:sp>
      <p:sp>
        <p:nvSpPr>
          <p:cNvPr id="17" name="Shape 13"/>
          <p:cNvSpPr/>
          <p:nvPr/>
        </p:nvSpPr>
        <p:spPr>
          <a:xfrm>
            <a:off x="8046720" y="2286000"/>
            <a:ext cx="3566160" cy="3017520"/>
          </a:xfrm>
          <a:prstGeom prst="roundRect">
            <a:avLst>
              <a:gd name="adj" fmla="val 3030"/>
            </a:avLst>
          </a:prstGeom>
          <a:solidFill>
            <a:srgbClr val="FFFFFF"/>
          </a:solidFill>
          <a:ln w="12700">
            <a:solidFill>
              <a:srgbClr val="DCEDEB"/>
            </a:solidFill>
            <a:prstDash val="solid"/>
          </a:ln>
          <a:effectLst>
            <a:outerShdw sx="100000" sy="100000" kx="0" ky="0" algn="bl" rotWithShape="0" blurRad="101600" dist="38100" dir="5400000">
              <a:srgbClr val="0B7285">
                <a:alpha val="10000"/>
              </a:srgbClr>
            </a:outerShdw>
          </a:effectLst>
        </p:spPr>
      </p:sp>
      <p:sp>
        <p:nvSpPr>
          <p:cNvPr id="18" name="Shape 14"/>
          <p:cNvSpPr/>
          <p:nvPr/>
        </p:nvSpPr>
        <p:spPr>
          <a:xfrm>
            <a:off x="9509760" y="2606040"/>
            <a:ext cx="685800" cy="685800"/>
          </a:xfrm>
          <a:prstGeom prst="ellipse">
            <a:avLst/>
          </a:prstGeom>
          <a:solidFill>
            <a:srgbClr val="0B7285"/>
          </a:solidFill>
          <a:ln/>
        </p:spPr>
      </p:sp>
      <p:pic>
        <p:nvPicPr>
          <p:cNvPr id="19" name="Image 2" descr="/home/claude/hera_pptx/icons/shield.png">    </p:cNvPr>
          <p:cNvPicPr>
            <a:picLocks noChangeAspect="1"/>
          </p:cNvPicPr>
          <p:nvPr/>
        </p:nvPicPr>
        <p:blipFill>
          <a:blip r:embed="rId3"/>
          <a:stretch>
            <a:fillRect/>
          </a:stretch>
        </p:blipFill>
        <p:spPr>
          <a:xfrm>
            <a:off x="9681210" y="2777490"/>
            <a:ext cx="342900" cy="342900"/>
          </a:xfrm>
          <a:prstGeom prst="rect">
            <a:avLst/>
          </a:prstGeom>
        </p:spPr>
      </p:pic>
      <p:sp>
        <p:nvSpPr>
          <p:cNvPr id="20" name="Text 15"/>
          <p:cNvSpPr/>
          <p:nvPr/>
        </p:nvSpPr>
        <p:spPr>
          <a:xfrm>
            <a:off x="8275320" y="3429000"/>
            <a:ext cx="3108960" cy="411480"/>
          </a:xfrm>
          <a:prstGeom prst="rect">
            <a:avLst/>
          </a:prstGeom>
          <a:noFill/>
          <a:ln/>
        </p:spPr>
        <p:txBody>
          <a:bodyPr wrap="square" rtlCol="0" anchor="ctr"/>
          <a:lstStyle/>
          <a:p>
            <a:pPr algn="ctr" indent="0" marL="0">
              <a:buNone/>
            </a:pPr>
            <a:r>
              <a:rPr lang="en-US" sz="1550" b="1" dirty="0">
                <a:solidFill>
                  <a:srgbClr val="13292E"/>
                </a:solidFill>
                <a:latin typeface="Cambria" pitchFamily="34" charset="0"/>
                <a:ea typeface="Cambria" pitchFamily="34" charset="-122"/>
                <a:cs typeface="Cambria" pitchFamily="34" charset="-120"/>
              </a:rPr>
              <a:t>Guardrail</a:t>
            </a:r>
            <a:endParaRPr lang="en-US" sz="1550" dirty="0"/>
          </a:p>
        </p:txBody>
      </p:sp>
      <p:sp>
        <p:nvSpPr>
          <p:cNvPr id="21" name="Text 16"/>
          <p:cNvSpPr/>
          <p:nvPr/>
        </p:nvSpPr>
        <p:spPr>
          <a:xfrm>
            <a:off x="8321040" y="3886200"/>
            <a:ext cx="3017520" cy="1280160"/>
          </a:xfrm>
          <a:prstGeom prst="rect">
            <a:avLst/>
          </a:prstGeom>
          <a:noFill/>
          <a:ln/>
        </p:spPr>
        <p:txBody>
          <a:bodyPr wrap="square" rtlCol="0" anchor="ctr"/>
          <a:lstStyle/>
          <a:p>
            <a:pPr algn="ctr" indent="0" marL="0">
              <a:lnSpc>
                <a:spcPts val="1500"/>
              </a:lnSpc>
              <a:buNone/>
            </a:pPr>
            <a:r>
              <a:rPr lang="en-US" sz="1100" dirty="0">
                <a:solidFill>
                  <a:srgbClr val="5B7278"/>
                </a:solidFill>
                <a:latin typeface="Calibri" pitchFamily="34" charset="0"/>
                <a:ea typeface="Calibri" pitchFamily="34" charset="-122"/>
                <a:cs typeface="Calibri" pitchFamily="34" charset="-120"/>
              </a:rPr>
              <a:t>Không có evidence → từ chối trả lời và hướng người dùng tới kênh chính thức, thay vì trả lời trôi chảy nhưng thiếu kiểm chứng.</a:t>
            </a:r>
            <a:endParaRPr lang="en-US" sz="1100" dirty="0"/>
          </a:p>
        </p:txBody>
      </p:sp>
      <p:sp>
        <p:nvSpPr>
          <p:cNvPr id="22" name="Shape 17"/>
          <p:cNvSpPr/>
          <p:nvPr/>
        </p:nvSpPr>
        <p:spPr>
          <a:xfrm>
            <a:off x="548640" y="5532120"/>
            <a:ext cx="10881360" cy="868680"/>
          </a:xfrm>
          <a:prstGeom prst="roundRect">
            <a:avLst>
              <a:gd name="adj" fmla="val 8421"/>
            </a:avLst>
          </a:prstGeom>
          <a:solidFill>
            <a:srgbClr val="0B7285"/>
          </a:solidFill>
          <a:ln/>
        </p:spPr>
      </p:sp>
      <p:sp>
        <p:nvSpPr>
          <p:cNvPr id="23" name="Text 18"/>
          <p:cNvSpPr/>
          <p:nvPr/>
        </p:nvSpPr>
        <p:spPr>
          <a:xfrm>
            <a:off x="868680" y="5532120"/>
            <a:ext cx="10241280" cy="868680"/>
          </a:xfrm>
          <a:prstGeom prst="rect">
            <a:avLst/>
          </a:prstGeom>
          <a:noFill/>
          <a:ln/>
        </p:spPr>
        <p:txBody>
          <a:bodyPr wrap="square" rtlCol="0" anchor="ctr"/>
          <a:lstStyle/>
          <a:p>
            <a:pPr indent="0" marL="0">
              <a:buNone/>
            </a:pPr>
            <a:r>
              <a:rPr lang="en-US" sz="1300" b="1" i="1" dirty="0">
                <a:solidFill>
                  <a:srgbClr val="FFFFFF"/>
                </a:solidFill>
                <a:latin typeface="Calibri" pitchFamily="34" charset="0"/>
                <a:ea typeface="Calibri" pitchFamily="34" charset="-122"/>
                <a:cs typeface="Calibri" pitchFamily="34" charset="-120"/>
              </a:rPr>
              <a:t>Nguyên tắc vận hành quan trọng nhất: “HERA chưa có đủ dữ liệu chính thức để trả lời chắc chắn” tốt hơn một câu trả lời trôi chảy nhưng không kiểm chứng được.</a:t>
            </a:r>
            <a:endParaRPr lang="en-US" sz="1300" dirty="0"/>
          </a:p>
        </p:txBody>
      </p:sp>
      <p:sp>
        <p:nvSpPr>
          <p:cNvPr id="24" name="Text 19"/>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25"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04 · HÀNH TRÌNH</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Hành trình người dùng mà HERA phục vụ</a:t>
            </a:r>
            <a:endParaRPr lang="en-US" sz="3000" dirty="0"/>
          </a:p>
        </p:txBody>
      </p:sp>
      <p:sp>
        <p:nvSpPr>
          <p:cNvPr id="4" name="Shape 2"/>
          <p:cNvSpPr/>
          <p:nvPr/>
        </p:nvSpPr>
        <p:spPr>
          <a:xfrm>
            <a:off x="548640" y="1783080"/>
            <a:ext cx="777240" cy="777240"/>
          </a:xfrm>
          <a:prstGeom prst="ellipse">
            <a:avLst/>
          </a:prstGeom>
          <a:solidFill>
            <a:srgbClr val="0B7285"/>
          </a:solidFill>
          <a:ln/>
        </p:spPr>
      </p:sp>
      <p:pic>
        <p:nvPicPr>
          <p:cNvPr id="5" name="Image 0" descr="/home/claude/hera_pptx/icons/comments.png">    </p:cNvPr>
          <p:cNvPicPr>
            <a:picLocks noChangeAspect="1"/>
          </p:cNvPicPr>
          <p:nvPr/>
        </p:nvPicPr>
        <p:blipFill>
          <a:blip r:embed="rId1"/>
          <a:stretch>
            <a:fillRect/>
          </a:stretch>
        </p:blipFill>
        <p:spPr>
          <a:xfrm>
            <a:off x="742950" y="1977390"/>
            <a:ext cx="388620" cy="388620"/>
          </a:xfrm>
          <a:prstGeom prst="rect">
            <a:avLst/>
          </a:prstGeom>
        </p:spPr>
      </p:pic>
      <p:sp>
        <p:nvSpPr>
          <p:cNvPr id="6" name="Text 3"/>
          <p:cNvSpPr/>
          <p:nvPr/>
        </p:nvSpPr>
        <p:spPr>
          <a:xfrm>
            <a:off x="365760" y="2697480"/>
            <a:ext cx="2788920" cy="502920"/>
          </a:xfrm>
          <a:prstGeom prst="rect">
            <a:avLst/>
          </a:prstGeom>
          <a:noFill/>
          <a:ln/>
        </p:spPr>
        <p:txBody>
          <a:bodyPr wrap="square" rtlCol="0" anchor="ctr"/>
          <a:lstStyle/>
          <a:p>
            <a:pPr algn="ctr" indent="0" marL="0">
              <a:lnSpc>
                <a:spcPts val="1500"/>
              </a:lnSpc>
              <a:buNone/>
            </a:pPr>
            <a:r>
              <a:rPr lang="en-US" sz="1300" b="1" dirty="0">
                <a:solidFill>
                  <a:srgbClr val="13292E"/>
                </a:solidFill>
                <a:latin typeface="Cambria" pitchFamily="34" charset="0"/>
                <a:ea typeface="Cambria" pitchFamily="34" charset="-122"/>
                <a:cs typeface="Cambria" pitchFamily="34" charset="-120"/>
              </a:rPr>
              <a:t>Đặt câu hỏi tự nhiên</a:t>
            </a:r>
            <a:endParaRPr lang="en-US" sz="1300" dirty="0"/>
          </a:p>
        </p:txBody>
      </p:sp>
      <p:sp>
        <p:nvSpPr>
          <p:cNvPr id="7" name="Text 4"/>
          <p:cNvSpPr/>
          <p:nvPr/>
        </p:nvSpPr>
        <p:spPr>
          <a:xfrm>
            <a:off x="365760" y="3200400"/>
            <a:ext cx="2788920" cy="8229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“Giá siêu âm tim bao nhiêu?”, “lịch bác sĩ cơ sở 1 hôm nay”…</a:t>
            </a:r>
            <a:endParaRPr lang="en-US" sz="1050" dirty="0"/>
          </a:p>
        </p:txBody>
      </p:sp>
      <p:sp>
        <p:nvSpPr>
          <p:cNvPr id="8" name="Text 5"/>
          <p:cNvSpPr/>
          <p:nvPr/>
        </p:nvSpPr>
        <p:spPr>
          <a:xfrm>
            <a:off x="3081528" y="1847088"/>
            <a:ext cx="365760" cy="640080"/>
          </a:xfrm>
          <a:prstGeom prst="rect">
            <a:avLst/>
          </a:prstGeom>
          <a:noFill/>
          <a:ln/>
        </p:spPr>
        <p:txBody>
          <a:bodyPr wrap="square" rtlCol="0" anchor="ctr"/>
          <a:lstStyle/>
          <a:p>
            <a:pPr algn="ctr" indent="0" marL="0">
              <a:buNone/>
            </a:pPr>
            <a:r>
              <a:rPr lang="en-US" sz="2200" b="1" dirty="0">
                <a:solidFill>
                  <a:srgbClr val="4CB5AE"/>
                </a:solidFill>
                <a:latin typeface="Cambria" pitchFamily="34" charset="0"/>
                <a:ea typeface="Cambria" pitchFamily="34" charset="-122"/>
                <a:cs typeface="Cambria" pitchFamily="34" charset="-120"/>
              </a:rPr>
              <a:t>→</a:t>
            </a:r>
            <a:endParaRPr lang="en-US" sz="2200" dirty="0"/>
          </a:p>
        </p:txBody>
      </p:sp>
      <p:sp>
        <p:nvSpPr>
          <p:cNvPr id="9" name="Shape 6"/>
          <p:cNvSpPr/>
          <p:nvPr/>
        </p:nvSpPr>
        <p:spPr>
          <a:xfrm>
            <a:off x="3383280" y="1783080"/>
            <a:ext cx="777240" cy="777240"/>
          </a:xfrm>
          <a:prstGeom prst="ellipse">
            <a:avLst/>
          </a:prstGeom>
          <a:solidFill>
            <a:srgbClr val="0B7285"/>
          </a:solidFill>
          <a:ln/>
        </p:spPr>
      </p:sp>
      <p:pic>
        <p:nvPicPr>
          <p:cNvPr id="10" name="Image 1" descr="/home/claude/hera_pptx/icons/search.png">    </p:cNvPr>
          <p:cNvPicPr>
            <a:picLocks noChangeAspect="1"/>
          </p:cNvPicPr>
          <p:nvPr/>
        </p:nvPicPr>
        <p:blipFill>
          <a:blip r:embed="rId2"/>
          <a:stretch>
            <a:fillRect/>
          </a:stretch>
        </p:blipFill>
        <p:spPr>
          <a:xfrm>
            <a:off x="3577590" y="1977390"/>
            <a:ext cx="388620" cy="388620"/>
          </a:xfrm>
          <a:prstGeom prst="rect">
            <a:avLst/>
          </a:prstGeom>
        </p:spPr>
      </p:pic>
      <p:sp>
        <p:nvSpPr>
          <p:cNvPr id="11" name="Text 7"/>
          <p:cNvSpPr/>
          <p:nvPr/>
        </p:nvSpPr>
        <p:spPr>
          <a:xfrm>
            <a:off x="3200400" y="2697480"/>
            <a:ext cx="2788920" cy="502920"/>
          </a:xfrm>
          <a:prstGeom prst="rect">
            <a:avLst/>
          </a:prstGeom>
          <a:noFill/>
          <a:ln/>
        </p:spPr>
        <p:txBody>
          <a:bodyPr wrap="square" rtlCol="0" anchor="ctr"/>
          <a:lstStyle/>
          <a:p>
            <a:pPr algn="ctr" indent="0" marL="0">
              <a:lnSpc>
                <a:spcPts val="1500"/>
              </a:lnSpc>
              <a:buNone/>
            </a:pPr>
            <a:r>
              <a:rPr lang="en-US" sz="1300" b="1" dirty="0">
                <a:solidFill>
                  <a:srgbClr val="13292E"/>
                </a:solidFill>
                <a:latin typeface="Cambria" pitchFamily="34" charset="0"/>
                <a:ea typeface="Cambria" pitchFamily="34" charset="-122"/>
                <a:cs typeface="Cambria" pitchFamily="34" charset="-120"/>
              </a:rPr>
              <a:t>Phân loại ý định</a:t>
            </a:r>
            <a:endParaRPr lang="en-US" sz="1300" dirty="0"/>
          </a:p>
        </p:txBody>
      </p:sp>
      <p:sp>
        <p:nvSpPr>
          <p:cNvPr id="12" name="Text 8"/>
          <p:cNvSpPr/>
          <p:nvPr/>
        </p:nvSpPr>
        <p:spPr>
          <a:xfrm>
            <a:off x="3200400" y="3200400"/>
            <a:ext cx="2788920" cy="8229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Giá dịch vụ · BHYT · lịch bác sĩ · thủ tục · ngoài phạm vi</a:t>
            </a:r>
            <a:endParaRPr lang="en-US" sz="1050" dirty="0"/>
          </a:p>
        </p:txBody>
      </p:sp>
      <p:sp>
        <p:nvSpPr>
          <p:cNvPr id="13" name="Text 9"/>
          <p:cNvSpPr/>
          <p:nvPr/>
        </p:nvSpPr>
        <p:spPr>
          <a:xfrm>
            <a:off x="5916168" y="1847088"/>
            <a:ext cx="365760" cy="640080"/>
          </a:xfrm>
          <a:prstGeom prst="rect">
            <a:avLst/>
          </a:prstGeom>
          <a:noFill/>
          <a:ln/>
        </p:spPr>
        <p:txBody>
          <a:bodyPr wrap="square" rtlCol="0" anchor="ctr"/>
          <a:lstStyle/>
          <a:p>
            <a:pPr algn="ctr" indent="0" marL="0">
              <a:buNone/>
            </a:pPr>
            <a:r>
              <a:rPr lang="en-US" sz="2200" b="1" dirty="0">
                <a:solidFill>
                  <a:srgbClr val="4CB5AE"/>
                </a:solidFill>
                <a:latin typeface="Cambria" pitchFamily="34" charset="0"/>
                <a:ea typeface="Cambria" pitchFamily="34" charset="-122"/>
                <a:cs typeface="Cambria" pitchFamily="34" charset="-120"/>
              </a:rPr>
              <a:t>→</a:t>
            </a:r>
            <a:endParaRPr lang="en-US" sz="2200" dirty="0"/>
          </a:p>
        </p:txBody>
      </p:sp>
      <p:sp>
        <p:nvSpPr>
          <p:cNvPr id="14" name="Shape 10"/>
          <p:cNvSpPr/>
          <p:nvPr/>
        </p:nvSpPr>
        <p:spPr>
          <a:xfrm>
            <a:off x="6217920" y="1783080"/>
            <a:ext cx="777240" cy="777240"/>
          </a:xfrm>
          <a:prstGeom prst="ellipse">
            <a:avLst/>
          </a:prstGeom>
          <a:solidFill>
            <a:srgbClr val="0B7285"/>
          </a:solidFill>
          <a:ln/>
        </p:spPr>
      </p:sp>
      <p:pic>
        <p:nvPicPr>
          <p:cNvPr id="15" name="Image 2" descr="/home/claude/hera_pptx/icons/checkCircle.png">    </p:cNvPr>
          <p:cNvPicPr>
            <a:picLocks noChangeAspect="1"/>
          </p:cNvPicPr>
          <p:nvPr/>
        </p:nvPicPr>
        <p:blipFill>
          <a:blip r:embed="rId3"/>
          <a:stretch>
            <a:fillRect/>
          </a:stretch>
        </p:blipFill>
        <p:spPr>
          <a:xfrm>
            <a:off x="6412230" y="1977390"/>
            <a:ext cx="388620" cy="388620"/>
          </a:xfrm>
          <a:prstGeom prst="rect">
            <a:avLst/>
          </a:prstGeom>
        </p:spPr>
      </p:pic>
      <p:sp>
        <p:nvSpPr>
          <p:cNvPr id="16" name="Text 11"/>
          <p:cNvSpPr/>
          <p:nvPr/>
        </p:nvSpPr>
        <p:spPr>
          <a:xfrm>
            <a:off x="6035040" y="2697480"/>
            <a:ext cx="2788920" cy="502920"/>
          </a:xfrm>
          <a:prstGeom prst="rect">
            <a:avLst/>
          </a:prstGeom>
          <a:noFill/>
          <a:ln/>
        </p:spPr>
        <p:txBody>
          <a:bodyPr wrap="square" rtlCol="0" anchor="ctr"/>
          <a:lstStyle/>
          <a:p>
            <a:pPr algn="ctr" indent="0" marL="0">
              <a:lnSpc>
                <a:spcPts val="1500"/>
              </a:lnSpc>
              <a:buNone/>
            </a:pPr>
            <a:r>
              <a:rPr lang="en-US" sz="1300" b="1" dirty="0">
                <a:solidFill>
                  <a:srgbClr val="13292E"/>
                </a:solidFill>
                <a:latin typeface="Cambria" pitchFamily="34" charset="0"/>
                <a:ea typeface="Cambria" pitchFamily="34" charset="-122"/>
                <a:cs typeface="Cambria" pitchFamily="34" charset="-120"/>
              </a:rPr>
              <a:t>Trả lời có nguồn</a:t>
            </a:r>
            <a:endParaRPr lang="en-US" sz="1300" dirty="0"/>
          </a:p>
        </p:txBody>
      </p:sp>
      <p:sp>
        <p:nvSpPr>
          <p:cNvPr id="17" name="Text 12"/>
          <p:cNvSpPr/>
          <p:nvPr/>
        </p:nvSpPr>
        <p:spPr>
          <a:xfrm>
            <a:off x="6035040" y="3200400"/>
            <a:ext cx="2788920" cy="8229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Structured lookup hoặc RAG — kèm citation, không suy đoán</a:t>
            </a:r>
            <a:endParaRPr lang="en-US" sz="1050" dirty="0"/>
          </a:p>
        </p:txBody>
      </p:sp>
      <p:sp>
        <p:nvSpPr>
          <p:cNvPr id="18" name="Text 13"/>
          <p:cNvSpPr/>
          <p:nvPr/>
        </p:nvSpPr>
        <p:spPr>
          <a:xfrm>
            <a:off x="8750808" y="1847088"/>
            <a:ext cx="365760" cy="640080"/>
          </a:xfrm>
          <a:prstGeom prst="rect">
            <a:avLst/>
          </a:prstGeom>
          <a:noFill/>
          <a:ln/>
        </p:spPr>
        <p:txBody>
          <a:bodyPr wrap="square" rtlCol="0" anchor="ctr"/>
          <a:lstStyle/>
          <a:p>
            <a:pPr algn="ctr" indent="0" marL="0">
              <a:buNone/>
            </a:pPr>
            <a:r>
              <a:rPr lang="en-US" sz="2200" b="1" dirty="0">
                <a:solidFill>
                  <a:srgbClr val="4CB5AE"/>
                </a:solidFill>
                <a:latin typeface="Cambria" pitchFamily="34" charset="0"/>
                <a:ea typeface="Cambria" pitchFamily="34" charset="-122"/>
                <a:cs typeface="Cambria" pitchFamily="34" charset="-120"/>
              </a:rPr>
              <a:t>→</a:t>
            </a:r>
            <a:endParaRPr lang="en-US" sz="2200" dirty="0"/>
          </a:p>
        </p:txBody>
      </p:sp>
      <p:sp>
        <p:nvSpPr>
          <p:cNvPr id="19" name="Shape 14"/>
          <p:cNvSpPr/>
          <p:nvPr/>
        </p:nvSpPr>
        <p:spPr>
          <a:xfrm>
            <a:off x="9052560" y="1783080"/>
            <a:ext cx="777240" cy="777240"/>
          </a:xfrm>
          <a:prstGeom prst="ellipse">
            <a:avLst/>
          </a:prstGeom>
          <a:solidFill>
            <a:srgbClr val="0B7285"/>
          </a:solidFill>
          <a:ln/>
        </p:spPr>
      </p:sp>
      <p:pic>
        <p:nvPicPr>
          <p:cNvPr id="20" name="Image 3" descr="/home/claude/hera_pptx/icons/calendar.png">    </p:cNvPr>
          <p:cNvPicPr>
            <a:picLocks noChangeAspect="1"/>
          </p:cNvPicPr>
          <p:nvPr/>
        </p:nvPicPr>
        <p:blipFill>
          <a:blip r:embed="rId4"/>
          <a:stretch>
            <a:fillRect/>
          </a:stretch>
        </p:blipFill>
        <p:spPr>
          <a:xfrm>
            <a:off x="9246870" y="1977390"/>
            <a:ext cx="388620" cy="388620"/>
          </a:xfrm>
          <a:prstGeom prst="rect">
            <a:avLst/>
          </a:prstGeom>
        </p:spPr>
      </p:pic>
      <p:sp>
        <p:nvSpPr>
          <p:cNvPr id="21" name="Text 15"/>
          <p:cNvSpPr/>
          <p:nvPr/>
        </p:nvSpPr>
        <p:spPr>
          <a:xfrm>
            <a:off x="8869680" y="2697480"/>
            <a:ext cx="2788920" cy="502920"/>
          </a:xfrm>
          <a:prstGeom prst="rect">
            <a:avLst/>
          </a:prstGeom>
          <a:noFill/>
          <a:ln/>
        </p:spPr>
        <p:txBody>
          <a:bodyPr wrap="square" rtlCol="0" anchor="ctr"/>
          <a:lstStyle/>
          <a:p>
            <a:pPr algn="ctr" indent="0" marL="0">
              <a:lnSpc>
                <a:spcPts val="1500"/>
              </a:lnSpc>
              <a:buNone/>
            </a:pPr>
            <a:r>
              <a:rPr lang="en-US" sz="1300" b="1" dirty="0">
                <a:solidFill>
                  <a:srgbClr val="13292E"/>
                </a:solidFill>
                <a:latin typeface="Cambria" pitchFamily="34" charset="0"/>
                <a:ea typeface="Cambria" pitchFamily="34" charset="-122"/>
                <a:cs typeface="Cambria" pitchFamily="34" charset="-120"/>
              </a:rPr>
              <a:t>Giữ chỗ khám (tuỳ chọn)</a:t>
            </a:r>
            <a:endParaRPr lang="en-US" sz="1300" dirty="0"/>
          </a:p>
        </p:txBody>
      </p:sp>
      <p:sp>
        <p:nvSpPr>
          <p:cNvPr id="22" name="Text 16"/>
          <p:cNvSpPr/>
          <p:nvPr/>
        </p:nvSpPr>
        <p:spPr>
          <a:xfrm>
            <a:off x="8869680" y="3200400"/>
            <a:ext cx="2788920" cy="822960"/>
          </a:xfrm>
          <a:prstGeom prst="rect">
            <a:avLst/>
          </a:prstGeom>
          <a:noFill/>
          <a:ln/>
        </p:spPr>
        <p:txBody>
          <a:bodyPr wrap="square" rtlCol="0" anchor="ctr"/>
          <a:lstStyle/>
          <a:p>
            <a:pPr algn="ctr" indent="0" marL="0">
              <a:lnSpc>
                <a:spcPts val="1300"/>
              </a:lnSpc>
              <a:buNone/>
            </a:pPr>
            <a:r>
              <a:rPr lang="en-US" sz="1050" dirty="0">
                <a:solidFill>
                  <a:srgbClr val="5B7278"/>
                </a:solidFill>
                <a:latin typeface="Calibri" pitchFamily="34" charset="0"/>
                <a:ea typeface="Calibri" pitchFamily="34" charset="-122"/>
                <a:cs typeface="Calibri" pitchFamily="34" charset="-120"/>
              </a:rPr>
              <a:t>Chuyển sang booking prototype nếu người dùng muốn đặt</a:t>
            </a:r>
            <a:endParaRPr lang="en-US" sz="1050" dirty="0"/>
          </a:p>
        </p:txBody>
      </p:sp>
      <p:sp>
        <p:nvSpPr>
          <p:cNvPr id="23" name="Shape 17"/>
          <p:cNvSpPr/>
          <p:nvPr/>
        </p:nvSpPr>
        <p:spPr>
          <a:xfrm>
            <a:off x="548640" y="4434840"/>
            <a:ext cx="10881360" cy="1417320"/>
          </a:xfrm>
          <a:prstGeom prst="roundRect">
            <a:avLst>
              <a:gd name="adj" fmla="val 6452"/>
            </a:avLst>
          </a:prstGeom>
          <a:solidFill>
            <a:srgbClr val="FCEBEA"/>
          </a:solidFill>
          <a:ln w="15875">
            <a:solidFill>
              <a:srgbClr val="E8544E"/>
            </a:solidFill>
            <a:prstDash val="solid"/>
          </a:ln>
        </p:spPr>
      </p:sp>
      <p:sp>
        <p:nvSpPr>
          <p:cNvPr id="24" name="Shape 18"/>
          <p:cNvSpPr/>
          <p:nvPr/>
        </p:nvSpPr>
        <p:spPr>
          <a:xfrm>
            <a:off x="822960" y="4663440"/>
            <a:ext cx="914400" cy="914400"/>
          </a:xfrm>
          <a:prstGeom prst="ellipse">
            <a:avLst/>
          </a:prstGeom>
          <a:solidFill>
            <a:srgbClr val="E8544E"/>
          </a:solidFill>
          <a:ln/>
        </p:spPr>
      </p:sp>
      <p:pic>
        <p:nvPicPr>
          <p:cNvPr id="25" name="Image 4" descr="/home/claude/hera_pptx/icons/ambulance.png">    </p:cNvPr>
          <p:cNvPicPr>
            <a:picLocks noChangeAspect="1"/>
          </p:cNvPicPr>
          <p:nvPr/>
        </p:nvPicPr>
        <p:blipFill>
          <a:blip r:embed="rId5"/>
          <a:stretch>
            <a:fillRect/>
          </a:stretch>
        </p:blipFill>
        <p:spPr>
          <a:xfrm>
            <a:off x="1051560" y="4892040"/>
            <a:ext cx="457200" cy="457200"/>
          </a:xfrm>
          <a:prstGeom prst="rect">
            <a:avLst/>
          </a:prstGeom>
        </p:spPr>
      </p:pic>
      <p:sp>
        <p:nvSpPr>
          <p:cNvPr id="26" name="Text 19"/>
          <p:cNvSpPr/>
          <p:nvPr/>
        </p:nvSpPr>
        <p:spPr>
          <a:xfrm>
            <a:off x="1965960" y="4617720"/>
            <a:ext cx="9052560" cy="365760"/>
          </a:xfrm>
          <a:prstGeom prst="rect">
            <a:avLst/>
          </a:prstGeom>
          <a:noFill/>
          <a:ln/>
        </p:spPr>
        <p:txBody>
          <a:bodyPr wrap="square" rtlCol="0" anchor="ctr"/>
          <a:lstStyle/>
          <a:p>
            <a:pPr indent="0" marL="0">
              <a:buNone/>
            </a:pPr>
            <a:r>
              <a:rPr lang="en-US" sz="1450" b="1" dirty="0">
                <a:solidFill>
                  <a:srgbClr val="C43F3A"/>
                </a:solidFill>
                <a:latin typeface="Cambria" pitchFamily="34" charset="0"/>
                <a:ea typeface="Cambria" pitchFamily="34" charset="-122"/>
                <a:cs typeface="Cambria" pitchFamily="34" charset="-120"/>
              </a:rPr>
              <a:t>Nhánh khẩn cấp: không "chẩn đoán", không gợi ý thuốc</a:t>
            </a:r>
            <a:endParaRPr lang="en-US" sz="1450" dirty="0"/>
          </a:p>
        </p:txBody>
      </p:sp>
      <p:sp>
        <p:nvSpPr>
          <p:cNvPr id="27" name="Text 20"/>
          <p:cNvSpPr/>
          <p:nvPr/>
        </p:nvSpPr>
        <p:spPr>
          <a:xfrm>
            <a:off x="1965960" y="4983480"/>
            <a:ext cx="9052560" cy="777240"/>
          </a:xfrm>
          <a:prstGeom prst="rect">
            <a:avLst/>
          </a:prstGeom>
          <a:noFill/>
          <a:ln/>
        </p:spPr>
        <p:txBody>
          <a:bodyPr wrap="square" rtlCol="0" anchor="ctr"/>
          <a:lstStyle/>
          <a:p>
            <a:pPr indent="0" marL="0">
              <a:lnSpc>
                <a:spcPts val="1600"/>
              </a:lnSpc>
              <a:buNone/>
            </a:pPr>
            <a:r>
              <a:rPr lang="en-US" sz="1200" dirty="0">
                <a:solidFill>
                  <a:srgbClr val="13292E"/>
                </a:solidFill>
                <a:latin typeface="Calibri" pitchFamily="34" charset="0"/>
                <a:ea typeface="Calibri" pitchFamily="34" charset="-122"/>
                <a:cs typeface="Calibri" pitchFamily="34" charset="-120"/>
              </a:rPr>
              <a:t>Khi người dùng mô tả dấu hiệu nguy cấp (đau ngực dữ dội, khó thở, ngất…), luồng hội thoại đổi trạng thái ngay: ưu tiên thông báo cấp cứu, hướng dẫn gọi 115 hoặc đến cơ sở y tế gần nhất.</a:t>
            </a:r>
            <a:endParaRPr lang="en-US" sz="1200" dirty="0"/>
          </a:p>
        </p:txBody>
      </p:sp>
      <p:sp>
        <p:nvSpPr>
          <p:cNvPr id="28" name="Text 21"/>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29" name="Text 2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05 · SẢN PHẨM</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Giao diện: AI-native nhưng vẫn giống một công cụ bệnh viện</a:t>
            </a:r>
            <a:endParaRPr lang="en-US" sz="3000" dirty="0"/>
          </a:p>
        </p:txBody>
      </p:sp>
      <p:sp>
        <p:nvSpPr>
          <p:cNvPr id="4" name="Text 2"/>
          <p:cNvSpPr/>
          <p:nvPr/>
        </p:nvSpPr>
        <p:spPr>
          <a:xfrm>
            <a:off x="548640" y="1600200"/>
            <a:ext cx="10607040" cy="365760"/>
          </a:xfrm>
          <a:prstGeom prst="rect">
            <a:avLst/>
          </a:prstGeom>
          <a:noFill/>
          <a:ln/>
        </p:spPr>
        <p:txBody>
          <a:bodyPr wrap="square" rtlCol="0" anchor="ctr"/>
          <a:lstStyle/>
          <a:p>
            <a:pPr indent="0" marL="0">
              <a:buNone/>
            </a:pPr>
            <a:r>
              <a:rPr lang="en-US" sz="1300" i="1" dirty="0">
                <a:solidFill>
                  <a:srgbClr val="5B7278"/>
                </a:solidFill>
                <a:latin typeface="Calibri" pitchFamily="34" charset="0"/>
                <a:ea typeface="Calibri" pitchFamily="34" charset="-122"/>
                <a:cs typeface="Calibri" pitchFamily="34" charset="-120"/>
              </a:rPr>
              <a:t>Hai vùng chức năng chính: khung chat HERA và khung giữ chỗ khám theo ca.</a:t>
            </a:r>
            <a:endParaRPr lang="en-US" sz="1300" dirty="0"/>
          </a:p>
        </p:txBody>
      </p:sp>
      <p:sp>
        <p:nvSpPr>
          <p:cNvPr id="5" name="Shape 3"/>
          <p:cNvSpPr/>
          <p:nvPr/>
        </p:nvSpPr>
        <p:spPr>
          <a:xfrm>
            <a:off x="548640" y="2103120"/>
            <a:ext cx="5257800" cy="4160520"/>
          </a:xfrm>
          <a:prstGeom prst="roundRect">
            <a:avLst>
              <a:gd name="adj" fmla="val 2198"/>
            </a:avLst>
          </a:prstGeom>
          <a:solidFill>
            <a:srgbClr val="FFFFFF"/>
          </a:solidFill>
          <a:ln w="12700">
            <a:solidFill>
              <a:srgbClr val="DCEDEB"/>
            </a:solidFill>
            <a:prstDash val="solid"/>
          </a:ln>
          <a:effectLst>
            <a:outerShdw sx="100000" sy="100000" kx="0" ky="0" algn="bl" rotWithShape="0" blurRad="101600" dist="38100" dir="5400000">
              <a:srgbClr val="0B7285">
                <a:alpha val="12000"/>
              </a:srgbClr>
            </a:outerShdw>
          </a:effectLst>
        </p:spPr>
      </p:sp>
      <p:sp>
        <p:nvSpPr>
          <p:cNvPr id="6" name="Shape 4"/>
          <p:cNvSpPr/>
          <p:nvPr/>
        </p:nvSpPr>
        <p:spPr>
          <a:xfrm>
            <a:off x="548640" y="2103120"/>
            <a:ext cx="5257800" cy="502920"/>
          </a:xfrm>
          <a:prstGeom prst="roundRect">
            <a:avLst>
              <a:gd name="adj" fmla="val 18182"/>
            </a:avLst>
          </a:prstGeom>
          <a:solidFill>
            <a:srgbClr val="0B7285"/>
          </a:solidFill>
          <a:ln/>
        </p:spPr>
      </p:sp>
      <p:sp>
        <p:nvSpPr>
          <p:cNvPr id="7" name="Shape 5"/>
          <p:cNvSpPr/>
          <p:nvPr/>
        </p:nvSpPr>
        <p:spPr>
          <a:xfrm>
            <a:off x="548640" y="2359152"/>
            <a:ext cx="5257800" cy="246888"/>
          </a:xfrm>
          <a:prstGeom prst="rect">
            <a:avLst/>
          </a:prstGeom>
          <a:solidFill>
            <a:srgbClr val="0B7285"/>
          </a:solidFill>
          <a:ln/>
        </p:spPr>
      </p:sp>
      <p:sp>
        <p:nvSpPr>
          <p:cNvPr id="8" name="Text 6"/>
          <p:cNvSpPr/>
          <p:nvPr/>
        </p:nvSpPr>
        <p:spPr>
          <a:xfrm>
            <a:off x="777240" y="2103120"/>
            <a:ext cx="4800600"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HERA · Trợ lý thông tin  ·  Không thay thế tư vấn y tế</a:t>
            </a:r>
            <a:endParaRPr lang="en-US" sz="1150" dirty="0"/>
          </a:p>
        </p:txBody>
      </p:sp>
      <p:sp>
        <p:nvSpPr>
          <p:cNvPr id="9" name="Shape 7"/>
          <p:cNvSpPr/>
          <p:nvPr/>
        </p:nvSpPr>
        <p:spPr>
          <a:xfrm>
            <a:off x="1920240" y="2788920"/>
            <a:ext cx="3657600" cy="566928"/>
          </a:xfrm>
          <a:prstGeom prst="roundRect">
            <a:avLst>
              <a:gd name="adj" fmla="val 19355"/>
            </a:avLst>
          </a:prstGeom>
          <a:solidFill>
            <a:srgbClr val="4CB5AE"/>
          </a:solidFill>
          <a:ln/>
        </p:spPr>
      </p:sp>
      <p:sp>
        <p:nvSpPr>
          <p:cNvPr id="10" name="Text 8"/>
          <p:cNvSpPr/>
          <p:nvPr/>
        </p:nvSpPr>
        <p:spPr>
          <a:xfrm>
            <a:off x="2057400" y="2788920"/>
            <a:ext cx="338328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Dịch vụ siêu âm tim giá bao nhiêu?</a:t>
            </a:r>
            <a:endParaRPr lang="en-US" sz="950" dirty="0"/>
          </a:p>
        </p:txBody>
      </p:sp>
      <p:sp>
        <p:nvSpPr>
          <p:cNvPr id="11" name="Shape 9"/>
          <p:cNvSpPr/>
          <p:nvPr/>
        </p:nvSpPr>
        <p:spPr>
          <a:xfrm>
            <a:off x="777240" y="3502152"/>
            <a:ext cx="3657600" cy="566928"/>
          </a:xfrm>
          <a:prstGeom prst="roundRect">
            <a:avLst>
              <a:gd name="adj" fmla="val 19355"/>
            </a:avLst>
          </a:prstGeom>
          <a:solidFill>
            <a:srgbClr val="F3FAF9"/>
          </a:solidFill>
          <a:ln/>
        </p:spPr>
      </p:sp>
      <p:sp>
        <p:nvSpPr>
          <p:cNvPr id="12" name="Text 10"/>
          <p:cNvSpPr/>
          <p:nvPr/>
        </p:nvSpPr>
        <p:spPr>
          <a:xfrm>
            <a:off x="914400" y="3502152"/>
            <a:ext cx="3383280" cy="566928"/>
          </a:xfrm>
          <a:prstGeom prst="rect">
            <a:avLst/>
          </a:prstGeom>
          <a:noFill/>
          <a:ln/>
        </p:spPr>
        <p:txBody>
          <a:bodyPr wrap="square" rtlCol="0" anchor="ctr"/>
          <a:lstStyle/>
          <a:p>
            <a:pPr indent="0" marL="0">
              <a:buNone/>
            </a:pPr>
            <a:r>
              <a:rPr lang="en-US" sz="950" dirty="0">
                <a:solidFill>
                  <a:srgbClr val="13292E"/>
                </a:solidFill>
                <a:latin typeface="Calibri" pitchFamily="34" charset="0"/>
                <a:ea typeface="Calibri" pitchFamily="34" charset="-122"/>
                <a:cs typeface="Calibri" pitchFamily="34" charset="-120"/>
              </a:rPr>
              <a:t>📋 Bảng giá — Siêu âm tim: 350.000đ (CS1) · Nguồn: bảng giá 2025 [citation]</a:t>
            </a:r>
            <a:endParaRPr lang="en-US" sz="950" dirty="0"/>
          </a:p>
        </p:txBody>
      </p:sp>
      <p:sp>
        <p:nvSpPr>
          <p:cNvPr id="13" name="Shape 11"/>
          <p:cNvSpPr/>
          <p:nvPr/>
        </p:nvSpPr>
        <p:spPr>
          <a:xfrm>
            <a:off x="1920240" y="4215384"/>
            <a:ext cx="3657600" cy="566928"/>
          </a:xfrm>
          <a:prstGeom prst="roundRect">
            <a:avLst>
              <a:gd name="adj" fmla="val 19355"/>
            </a:avLst>
          </a:prstGeom>
          <a:solidFill>
            <a:srgbClr val="4CB5AE"/>
          </a:solidFill>
          <a:ln/>
        </p:spPr>
      </p:sp>
      <p:sp>
        <p:nvSpPr>
          <p:cNvPr id="14" name="Text 12"/>
          <p:cNvSpPr/>
          <p:nvPr/>
        </p:nvSpPr>
        <p:spPr>
          <a:xfrm>
            <a:off x="2057400" y="4215384"/>
            <a:ext cx="338328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Lịch bác sĩ cơ sở 1 hôm nay?</a:t>
            </a:r>
            <a:endParaRPr lang="en-US" sz="950" dirty="0"/>
          </a:p>
        </p:txBody>
      </p:sp>
      <p:sp>
        <p:nvSpPr>
          <p:cNvPr id="15" name="Shape 13"/>
          <p:cNvSpPr/>
          <p:nvPr/>
        </p:nvSpPr>
        <p:spPr>
          <a:xfrm>
            <a:off x="777240" y="4928616"/>
            <a:ext cx="3657600" cy="566928"/>
          </a:xfrm>
          <a:prstGeom prst="roundRect">
            <a:avLst>
              <a:gd name="adj" fmla="val 19355"/>
            </a:avLst>
          </a:prstGeom>
          <a:solidFill>
            <a:srgbClr val="F3FAF9"/>
          </a:solidFill>
          <a:ln/>
        </p:spPr>
      </p:sp>
      <p:sp>
        <p:nvSpPr>
          <p:cNvPr id="16" name="Text 14"/>
          <p:cNvSpPr/>
          <p:nvPr/>
        </p:nvSpPr>
        <p:spPr>
          <a:xfrm>
            <a:off x="914400" y="4928616"/>
            <a:ext cx="3383280" cy="566928"/>
          </a:xfrm>
          <a:prstGeom prst="rect">
            <a:avLst/>
          </a:prstGeom>
          <a:noFill/>
          <a:ln/>
        </p:spPr>
        <p:txBody>
          <a:bodyPr wrap="square" rtlCol="0" anchor="ctr"/>
          <a:lstStyle/>
          <a:p>
            <a:pPr indent="0" marL="0">
              <a:buNone/>
            </a:pPr>
            <a:r>
              <a:rPr lang="en-US" sz="950" dirty="0">
                <a:solidFill>
                  <a:srgbClr val="13292E"/>
                </a:solidFill>
                <a:latin typeface="Calibri" pitchFamily="34" charset="0"/>
                <a:ea typeface="Calibri" pitchFamily="34" charset="-122"/>
                <a:cs typeface="Calibri" pitchFamily="34" charset="-120"/>
              </a:rPr>
              <a:t>🗓 Lịch khám hôm nay — CS1: BS. Nguyễn A (sáng), BS. Trần B (chiều)</a:t>
            </a:r>
            <a:endParaRPr lang="en-US" sz="950" dirty="0"/>
          </a:p>
        </p:txBody>
      </p:sp>
      <p:sp>
        <p:nvSpPr>
          <p:cNvPr id="17" name="Text 15"/>
          <p:cNvSpPr/>
          <p:nvPr/>
        </p:nvSpPr>
        <p:spPr>
          <a:xfrm>
            <a:off x="777240" y="5486400"/>
            <a:ext cx="4800600" cy="594360"/>
          </a:xfrm>
          <a:prstGeom prst="rect">
            <a:avLst/>
          </a:prstGeom>
          <a:noFill/>
          <a:ln/>
        </p:spPr>
        <p:txBody>
          <a:bodyPr wrap="square" rtlCol="0" anchor="ctr"/>
          <a:lstStyle/>
          <a:p>
            <a:pPr indent="0" marL="0">
              <a:lnSpc>
                <a:spcPts val="1300"/>
              </a:lnSpc>
              <a:buNone/>
            </a:pPr>
            <a:r>
              <a:rPr lang="en-US" sz="1000" i="1" dirty="0">
                <a:solidFill>
                  <a:srgbClr val="5B7278"/>
                </a:solidFill>
                <a:latin typeface="Calibri" pitchFamily="34" charset="0"/>
                <a:ea typeface="Calibri" pitchFamily="34" charset="-122"/>
                <a:cs typeface="Calibri" pitchFamily="34" charset="-120"/>
              </a:rPr>
              <a:t>Nhãn ý định tự động: giá dịch vụ · BHYT · lịch bác sĩ · cấp cứu · thủ tục · ngoài phạm vi</a:t>
            </a:r>
            <a:endParaRPr lang="en-US" sz="1000" dirty="0"/>
          </a:p>
        </p:txBody>
      </p:sp>
      <p:sp>
        <p:nvSpPr>
          <p:cNvPr id="18" name="Shape 16"/>
          <p:cNvSpPr/>
          <p:nvPr/>
        </p:nvSpPr>
        <p:spPr>
          <a:xfrm>
            <a:off x="6035040" y="2103120"/>
            <a:ext cx="5257800" cy="4160520"/>
          </a:xfrm>
          <a:prstGeom prst="roundRect">
            <a:avLst>
              <a:gd name="adj" fmla="val 2198"/>
            </a:avLst>
          </a:prstGeom>
          <a:solidFill>
            <a:srgbClr val="FFFFFF"/>
          </a:solidFill>
          <a:ln w="12700">
            <a:solidFill>
              <a:srgbClr val="DCEDEB"/>
            </a:solidFill>
            <a:prstDash val="solid"/>
          </a:ln>
          <a:effectLst>
            <a:outerShdw sx="100000" sy="100000" kx="0" ky="0" algn="bl" rotWithShape="0" blurRad="101600" dist="38100" dir="5400000">
              <a:srgbClr val="0B7285">
                <a:alpha val="12000"/>
              </a:srgbClr>
            </a:outerShdw>
          </a:effectLst>
        </p:spPr>
      </p:sp>
      <p:sp>
        <p:nvSpPr>
          <p:cNvPr id="19" name="Shape 17"/>
          <p:cNvSpPr/>
          <p:nvPr/>
        </p:nvSpPr>
        <p:spPr>
          <a:xfrm>
            <a:off x="6035040" y="2103120"/>
            <a:ext cx="5257800" cy="502920"/>
          </a:xfrm>
          <a:prstGeom prst="rect">
            <a:avLst/>
          </a:prstGeom>
          <a:solidFill>
            <a:srgbClr val="E8544E"/>
          </a:solidFill>
          <a:ln/>
        </p:spPr>
      </p:sp>
      <p:sp>
        <p:nvSpPr>
          <p:cNvPr id="20" name="Text 18"/>
          <p:cNvSpPr/>
          <p:nvPr/>
        </p:nvSpPr>
        <p:spPr>
          <a:xfrm>
            <a:off x="6263640" y="2103120"/>
            <a:ext cx="4800600"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Giữ chỗ khám theo ca  ·  Bản demo hackathon</a:t>
            </a:r>
            <a:endParaRPr lang="en-US" sz="1150" dirty="0"/>
          </a:p>
        </p:txBody>
      </p:sp>
      <p:sp>
        <p:nvSpPr>
          <p:cNvPr id="21" name="Shape 19"/>
          <p:cNvSpPr/>
          <p:nvPr/>
        </p:nvSpPr>
        <p:spPr>
          <a:xfrm>
            <a:off x="6263640" y="2788920"/>
            <a:ext cx="4800600" cy="868680"/>
          </a:xfrm>
          <a:prstGeom prst="roundRect">
            <a:avLst>
              <a:gd name="adj" fmla="val 8421"/>
            </a:avLst>
          </a:prstGeom>
          <a:solidFill>
            <a:srgbClr val="F3FAF9"/>
          </a:solidFill>
          <a:ln w="9525">
            <a:solidFill>
              <a:srgbClr val="DCEDEB"/>
            </a:solidFill>
            <a:prstDash val="solid"/>
          </a:ln>
        </p:spPr>
      </p:sp>
      <p:sp>
        <p:nvSpPr>
          <p:cNvPr id="22" name="Text 20"/>
          <p:cNvSpPr/>
          <p:nvPr/>
        </p:nvSpPr>
        <p:spPr>
          <a:xfrm>
            <a:off x="6446520" y="2862072"/>
            <a:ext cx="3794760" cy="320040"/>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BS. Nguyễn A</a:t>
            </a:r>
            <a:endParaRPr lang="en-US" sz="1200" dirty="0"/>
          </a:p>
        </p:txBody>
      </p:sp>
      <p:sp>
        <p:nvSpPr>
          <p:cNvPr id="23" name="Text 21"/>
          <p:cNvSpPr/>
          <p:nvPr/>
        </p:nvSpPr>
        <p:spPr>
          <a:xfrm>
            <a:off x="6446520" y="3172968"/>
            <a:ext cx="379476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CS1 · Ca sáng · Phòng 203</a:t>
            </a:r>
            <a:endParaRPr lang="en-US" sz="1000" dirty="0"/>
          </a:p>
        </p:txBody>
      </p:sp>
      <p:sp>
        <p:nvSpPr>
          <p:cNvPr id="24" name="Shape 22"/>
          <p:cNvSpPr/>
          <p:nvPr/>
        </p:nvSpPr>
        <p:spPr>
          <a:xfrm>
            <a:off x="9784080" y="3044952"/>
            <a:ext cx="1097280" cy="365760"/>
          </a:xfrm>
          <a:prstGeom prst="roundRect">
            <a:avLst>
              <a:gd name="adj" fmla="val 50000"/>
            </a:avLst>
          </a:prstGeom>
          <a:solidFill>
            <a:srgbClr val="4CB5AE"/>
          </a:solidFill>
          <a:ln/>
        </p:spPr>
      </p:sp>
      <p:sp>
        <p:nvSpPr>
          <p:cNvPr id="25" name="Text 23"/>
          <p:cNvSpPr/>
          <p:nvPr/>
        </p:nvSpPr>
        <p:spPr>
          <a:xfrm>
            <a:off x="9784080" y="3044952"/>
            <a:ext cx="10972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4/10 chỗ</a:t>
            </a:r>
            <a:endParaRPr lang="en-US" sz="950" dirty="0"/>
          </a:p>
        </p:txBody>
      </p:sp>
      <p:sp>
        <p:nvSpPr>
          <p:cNvPr id="26" name="Shape 24"/>
          <p:cNvSpPr/>
          <p:nvPr/>
        </p:nvSpPr>
        <p:spPr>
          <a:xfrm>
            <a:off x="6263640" y="3813048"/>
            <a:ext cx="4800600" cy="868680"/>
          </a:xfrm>
          <a:prstGeom prst="roundRect">
            <a:avLst>
              <a:gd name="adj" fmla="val 8421"/>
            </a:avLst>
          </a:prstGeom>
          <a:solidFill>
            <a:srgbClr val="F3FAF9"/>
          </a:solidFill>
          <a:ln w="9525">
            <a:solidFill>
              <a:srgbClr val="DCEDEB"/>
            </a:solidFill>
            <a:prstDash val="solid"/>
          </a:ln>
        </p:spPr>
      </p:sp>
      <p:sp>
        <p:nvSpPr>
          <p:cNvPr id="27" name="Text 25"/>
          <p:cNvSpPr/>
          <p:nvPr/>
        </p:nvSpPr>
        <p:spPr>
          <a:xfrm>
            <a:off x="6446520" y="3886200"/>
            <a:ext cx="3794760" cy="320040"/>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BS. Trần B</a:t>
            </a:r>
            <a:endParaRPr lang="en-US" sz="1200" dirty="0"/>
          </a:p>
        </p:txBody>
      </p:sp>
      <p:sp>
        <p:nvSpPr>
          <p:cNvPr id="28" name="Text 26"/>
          <p:cNvSpPr/>
          <p:nvPr/>
        </p:nvSpPr>
        <p:spPr>
          <a:xfrm>
            <a:off x="6446520" y="4197096"/>
            <a:ext cx="379476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CS1 · Ca chiều · Phòng 105</a:t>
            </a:r>
            <a:endParaRPr lang="en-US" sz="1000" dirty="0"/>
          </a:p>
        </p:txBody>
      </p:sp>
      <p:sp>
        <p:nvSpPr>
          <p:cNvPr id="29" name="Shape 27"/>
          <p:cNvSpPr/>
          <p:nvPr/>
        </p:nvSpPr>
        <p:spPr>
          <a:xfrm>
            <a:off x="9784080" y="4069080"/>
            <a:ext cx="1097280" cy="365760"/>
          </a:xfrm>
          <a:prstGeom prst="roundRect">
            <a:avLst>
              <a:gd name="adj" fmla="val 50000"/>
            </a:avLst>
          </a:prstGeom>
          <a:solidFill>
            <a:srgbClr val="4CB5AE"/>
          </a:solidFill>
          <a:ln/>
        </p:spPr>
      </p:sp>
      <p:sp>
        <p:nvSpPr>
          <p:cNvPr id="30" name="Text 28"/>
          <p:cNvSpPr/>
          <p:nvPr/>
        </p:nvSpPr>
        <p:spPr>
          <a:xfrm>
            <a:off x="9784080" y="4069080"/>
            <a:ext cx="10972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8/10 chỗ</a:t>
            </a:r>
            <a:endParaRPr lang="en-US" sz="950" dirty="0"/>
          </a:p>
        </p:txBody>
      </p:sp>
      <p:sp>
        <p:nvSpPr>
          <p:cNvPr id="31" name="Shape 29"/>
          <p:cNvSpPr/>
          <p:nvPr/>
        </p:nvSpPr>
        <p:spPr>
          <a:xfrm>
            <a:off x="6263640" y="4882896"/>
            <a:ext cx="4800600" cy="457200"/>
          </a:xfrm>
          <a:prstGeom prst="roundRect">
            <a:avLst>
              <a:gd name="adj" fmla="val 50000"/>
            </a:avLst>
          </a:prstGeom>
          <a:solidFill>
            <a:srgbClr val="0B7285"/>
          </a:solidFill>
          <a:ln/>
        </p:spPr>
      </p:sp>
      <p:sp>
        <p:nvSpPr>
          <p:cNvPr id="32" name="Text 30"/>
          <p:cNvSpPr/>
          <p:nvPr/>
        </p:nvSpPr>
        <p:spPr>
          <a:xfrm>
            <a:off x="6400800" y="4882896"/>
            <a:ext cx="4526280" cy="4572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Giữ chỗ tạm — hết hạn sau 10:00 · Không phải lịch hẹn chính thức</a:t>
            </a:r>
            <a:endParaRPr lang="en-US" sz="1000" dirty="0"/>
          </a:p>
        </p:txBody>
      </p:sp>
      <p:sp>
        <p:nvSpPr>
          <p:cNvPr id="33" name="Text 31"/>
          <p:cNvSpPr/>
          <p:nvPr/>
        </p:nvSpPr>
        <p:spPr>
          <a:xfrm>
            <a:off x="6263640" y="5760720"/>
            <a:ext cx="4800600" cy="457200"/>
          </a:xfrm>
          <a:prstGeom prst="rect">
            <a:avLst/>
          </a:prstGeom>
          <a:noFill/>
          <a:ln/>
        </p:spPr>
        <p:txBody>
          <a:bodyPr wrap="square" rtlCol="0" anchor="ctr"/>
          <a:lstStyle/>
          <a:p>
            <a:pPr indent="0" marL="0">
              <a:lnSpc>
                <a:spcPts val="1200"/>
              </a:lnSpc>
              <a:buNone/>
            </a:pPr>
            <a:r>
              <a:rPr lang="en-US" sz="950" i="1" dirty="0">
                <a:solidFill>
                  <a:srgbClr val="5B7278"/>
                </a:solidFill>
                <a:latin typeface="Calibri" pitchFamily="34" charset="0"/>
                <a:ea typeface="Calibri" pitchFamily="34" charset="-122"/>
                <a:cs typeface="Calibri" pitchFamily="34" charset="-120"/>
              </a:rPr>
              <a:t>Cảnh báo "bản demo" xuất hiện ở mọi điểm nhạy cảm để không gây hiểu nhầm với lịch hẹn thật.</a:t>
            </a:r>
            <a:endParaRPr lang="en-US" sz="950" dirty="0"/>
          </a:p>
        </p:txBody>
      </p:sp>
      <p:sp>
        <p:nvSpPr>
          <p:cNvPr id="34" name="Text 32"/>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35" name="Text 3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06 · DỮ LIỆU</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Dữ liệu thực tế trở thành Knowledge Base như thế nào</a:t>
            </a:r>
            <a:endParaRPr lang="en-US" sz="3000" dirty="0"/>
          </a:p>
        </p:txBody>
      </p:sp>
      <p:sp>
        <p:nvSpPr>
          <p:cNvPr id="4" name="Text 2"/>
          <p:cNvSpPr/>
          <p:nvPr/>
        </p:nvSpPr>
        <p:spPr>
          <a:xfrm>
            <a:off x="548640" y="1600200"/>
            <a:ext cx="10607040" cy="457200"/>
          </a:xfrm>
          <a:prstGeom prst="rect">
            <a:avLst/>
          </a:prstGeom>
          <a:noFill/>
          <a:ln/>
        </p:spPr>
        <p:txBody>
          <a:bodyPr wrap="square" rtlCol="0" anchor="ctr"/>
          <a:lstStyle/>
          <a:p>
            <a:pPr indent="0" marL="0">
              <a:buNone/>
            </a:pPr>
            <a:r>
              <a:rPr lang="en-US" sz="1300" i="1" dirty="0">
                <a:solidFill>
                  <a:srgbClr val="5B7278"/>
                </a:solidFill>
                <a:latin typeface="Calibri" pitchFamily="34" charset="0"/>
                <a:ea typeface="Calibri" pitchFamily="34" charset="-122"/>
                <a:cs typeface="Calibri" pitchFamily="34" charset="-120"/>
              </a:rPr>
              <a:t>Chuẩn hoá nhiều nhóm dữ liệu, seed vào PostgreSQL — có checksum, manifest và script verify để đảm bảo demo dựng lại ổn định.</a:t>
            </a:r>
            <a:endParaRPr lang="en-US" sz="1300" dirty="0"/>
          </a:p>
        </p:txBody>
      </p:sp>
      <p:sp>
        <p:nvSpPr>
          <p:cNvPr id="5" name="Shape 3"/>
          <p:cNvSpPr/>
          <p:nvPr/>
        </p:nvSpPr>
        <p:spPr>
          <a:xfrm>
            <a:off x="548640" y="2240280"/>
            <a:ext cx="3520440" cy="1188720"/>
          </a:xfrm>
          <a:prstGeom prst="roundRect">
            <a:avLst>
              <a:gd name="adj" fmla="val 7692"/>
            </a:avLst>
          </a:prstGeom>
          <a:solidFill>
            <a:srgbClr val="F3FAF9"/>
          </a:solidFill>
          <a:ln w="12700">
            <a:solidFill>
              <a:srgbClr val="DCEDEB"/>
            </a:solidFill>
            <a:prstDash val="solid"/>
          </a:ln>
        </p:spPr>
      </p:sp>
      <p:sp>
        <p:nvSpPr>
          <p:cNvPr id="6" name="Shape 4"/>
          <p:cNvSpPr/>
          <p:nvPr/>
        </p:nvSpPr>
        <p:spPr>
          <a:xfrm>
            <a:off x="749808" y="2496312"/>
            <a:ext cx="658368" cy="658368"/>
          </a:xfrm>
          <a:prstGeom prst="ellipse">
            <a:avLst/>
          </a:prstGeom>
          <a:solidFill>
            <a:srgbClr val="0B7285"/>
          </a:solidFill>
          <a:ln/>
        </p:spPr>
      </p:sp>
      <p:pic>
        <p:nvPicPr>
          <p:cNvPr id="7" name="Image 0" descr="/home/claude/hera_pptx/icons/moneyBill.png">    </p:cNvPr>
          <p:cNvPicPr>
            <a:picLocks noChangeAspect="1"/>
          </p:cNvPicPr>
          <p:nvPr/>
        </p:nvPicPr>
        <p:blipFill>
          <a:blip r:embed="rId1"/>
          <a:stretch>
            <a:fillRect/>
          </a:stretch>
        </p:blipFill>
        <p:spPr>
          <a:xfrm>
            <a:off x="914400" y="2660904"/>
            <a:ext cx="329184" cy="329184"/>
          </a:xfrm>
          <a:prstGeom prst="rect">
            <a:avLst/>
          </a:prstGeom>
        </p:spPr>
      </p:pic>
      <p:sp>
        <p:nvSpPr>
          <p:cNvPr id="8" name="Text 5"/>
          <p:cNvSpPr/>
          <p:nvPr/>
        </p:nvSpPr>
        <p:spPr>
          <a:xfrm>
            <a:off x="1554480" y="224028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Service catalog &amp; price snapshot</a:t>
            </a:r>
            <a:endParaRPr lang="en-US" sz="1200" dirty="0"/>
          </a:p>
        </p:txBody>
      </p:sp>
      <p:sp>
        <p:nvSpPr>
          <p:cNvPr id="9" name="Shape 6"/>
          <p:cNvSpPr/>
          <p:nvPr/>
        </p:nvSpPr>
        <p:spPr>
          <a:xfrm>
            <a:off x="4251960" y="2240280"/>
            <a:ext cx="3520440" cy="1188720"/>
          </a:xfrm>
          <a:prstGeom prst="roundRect">
            <a:avLst>
              <a:gd name="adj" fmla="val 7692"/>
            </a:avLst>
          </a:prstGeom>
          <a:solidFill>
            <a:srgbClr val="F3FAF9"/>
          </a:solidFill>
          <a:ln w="12700">
            <a:solidFill>
              <a:srgbClr val="DCEDEB"/>
            </a:solidFill>
            <a:prstDash val="solid"/>
          </a:ln>
        </p:spPr>
      </p:sp>
      <p:sp>
        <p:nvSpPr>
          <p:cNvPr id="10" name="Shape 7"/>
          <p:cNvSpPr/>
          <p:nvPr/>
        </p:nvSpPr>
        <p:spPr>
          <a:xfrm>
            <a:off x="4453128" y="2496312"/>
            <a:ext cx="658368" cy="658368"/>
          </a:xfrm>
          <a:prstGeom prst="ellipse">
            <a:avLst/>
          </a:prstGeom>
          <a:solidFill>
            <a:srgbClr val="4CB5AE"/>
          </a:solidFill>
          <a:ln/>
        </p:spPr>
      </p:sp>
      <p:pic>
        <p:nvPicPr>
          <p:cNvPr id="11" name="Image 1" descr="/home/claude/hera_pptx/icons/fileMedical.png">    </p:cNvPr>
          <p:cNvPicPr>
            <a:picLocks noChangeAspect="1"/>
          </p:cNvPicPr>
          <p:nvPr/>
        </p:nvPicPr>
        <p:blipFill>
          <a:blip r:embed="rId2"/>
          <a:stretch>
            <a:fillRect/>
          </a:stretch>
        </p:blipFill>
        <p:spPr>
          <a:xfrm>
            <a:off x="4617720" y="2660904"/>
            <a:ext cx="329184" cy="329184"/>
          </a:xfrm>
          <a:prstGeom prst="rect">
            <a:avLst/>
          </a:prstGeom>
        </p:spPr>
      </p:pic>
      <p:sp>
        <p:nvSpPr>
          <p:cNvPr id="12" name="Text 8"/>
          <p:cNvSpPr/>
          <p:nvPr/>
        </p:nvSpPr>
        <p:spPr>
          <a:xfrm>
            <a:off x="5257800" y="224028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BHYT policy &amp; tier</a:t>
            </a:r>
            <a:endParaRPr lang="en-US" sz="1200" dirty="0"/>
          </a:p>
        </p:txBody>
      </p:sp>
      <p:sp>
        <p:nvSpPr>
          <p:cNvPr id="13" name="Shape 9"/>
          <p:cNvSpPr/>
          <p:nvPr/>
        </p:nvSpPr>
        <p:spPr>
          <a:xfrm>
            <a:off x="7955280" y="2240280"/>
            <a:ext cx="3520440" cy="1188720"/>
          </a:xfrm>
          <a:prstGeom prst="roundRect">
            <a:avLst>
              <a:gd name="adj" fmla="val 7692"/>
            </a:avLst>
          </a:prstGeom>
          <a:solidFill>
            <a:srgbClr val="F3FAF9"/>
          </a:solidFill>
          <a:ln w="12700">
            <a:solidFill>
              <a:srgbClr val="DCEDEB"/>
            </a:solidFill>
            <a:prstDash val="solid"/>
          </a:ln>
        </p:spPr>
      </p:sp>
      <p:sp>
        <p:nvSpPr>
          <p:cNvPr id="14" name="Shape 10"/>
          <p:cNvSpPr/>
          <p:nvPr/>
        </p:nvSpPr>
        <p:spPr>
          <a:xfrm>
            <a:off x="8156448" y="2496312"/>
            <a:ext cx="658368" cy="658368"/>
          </a:xfrm>
          <a:prstGeom prst="ellipse">
            <a:avLst/>
          </a:prstGeom>
          <a:solidFill>
            <a:srgbClr val="0B7285"/>
          </a:solidFill>
          <a:ln/>
        </p:spPr>
      </p:sp>
      <p:pic>
        <p:nvPicPr>
          <p:cNvPr id="15" name="Image 2" descr="/home/claude/hera_pptx/icons/calendar.png">    </p:cNvPr>
          <p:cNvPicPr>
            <a:picLocks noChangeAspect="1"/>
          </p:cNvPicPr>
          <p:nvPr/>
        </p:nvPicPr>
        <p:blipFill>
          <a:blip r:embed="rId3"/>
          <a:stretch>
            <a:fillRect/>
          </a:stretch>
        </p:blipFill>
        <p:spPr>
          <a:xfrm>
            <a:off x="8321040" y="2660904"/>
            <a:ext cx="329184" cy="329184"/>
          </a:xfrm>
          <a:prstGeom prst="rect">
            <a:avLst/>
          </a:prstGeom>
        </p:spPr>
      </p:pic>
      <p:sp>
        <p:nvSpPr>
          <p:cNvPr id="16" name="Text 11"/>
          <p:cNvSpPr/>
          <p:nvPr/>
        </p:nvSpPr>
        <p:spPr>
          <a:xfrm>
            <a:off x="8961120" y="224028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Schedule document &amp; entry</a:t>
            </a:r>
            <a:endParaRPr lang="en-US" sz="1200" dirty="0"/>
          </a:p>
        </p:txBody>
      </p:sp>
      <p:sp>
        <p:nvSpPr>
          <p:cNvPr id="17" name="Shape 12"/>
          <p:cNvSpPr/>
          <p:nvPr/>
        </p:nvSpPr>
        <p:spPr>
          <a:xfrm>
            <a:off x="548640" y="3657600"/>
            <a:ext cx="3520440" cy="1188720"/>
          </a:xfrm>
          <a:prstGeom prst="roundRect">
            <a:avLst>
              <a:gd name="adj" fmla="val 7692"/>
            </a:avLst>
          </a:prstGeom>
          <a:solidFill>
            <a:srgbClr val="F3FAF9"/>
          </a:solidFill>
          <a:ln w="12700">
            <a:solidFill>
              <a:srgbClr val="DCEDEB"/>
            </a:solidFill>
            <a:prstDash val="solid"/>
          </a:ln>
        </p:spPr>
      </p:sp>
      <p:sp>
        <p:nvSpPr>
          <p:cNvPr id="18" name="Shape 13"/>
          <p:cNvSpPr/>
          <p:nvPr/>
        </p:nvSpPr>
        <p:spPr>
          <a:xfrm>
            <a:off x="749808" y="3913632"/>
            <a:ext cx="658368" cy="658368"/>
          </a:xfrm>
          <a:prstGeom prst="ellipse">
            <a:avLst/>
          </a:prstGeom>
          <a:solidFill>
            <a:srgbClr val="4CB5AE"/>
          </a:solidFill>
          <a:ln/>
        </p:spPr>
      </p:sp>
      <p:pic>
        <p:nvPicPr>
          <p:cNvPr id="19" name="Image 3" descr="/home/claude/hera_pptx/icons/users.png">    </p:cNvPr>
          <p:cNvPicPr>
            <a:picLocks noChangeAspect="1"/>
          </p:cNvPicPr>
          <p:nvPr/>
        </p:nvPicPr>
        <p:blipFill>
          <a:blip r:embed="rId4"/>
          <a:stretch>
            <a:fillRect/>
          </a:stretch>
        </p:blipFill>
        <p:spPr>
          <a:xfrm>
            <a:off x="914400" y="4078224"/>
            <a:ext cx="329184" cy="329184"/>
          </a:xfrm>
          <a:prstGeom prst="rect">
            <a:avLst/>
          </a:prstGeom>
        </p:spPr>
      </p:pic>
      <p:sp>
        <p:nvSpPr>
          <p:cNvPr id="20" name="Text 14"/>
          <p:cNvSpPr/>
          <p:nvPr/>
        </p:nvSpPr>
        <p:spPr>
          <a:xfrm>
            <a:off x="1554480" y="365760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Doctor &amp; booking session</a:t>
            </a:r>
            <a:endParaRPr lang="en-US" sz="1200" dirty="0"/>
          </a:p>
        </p:txBody>
      </p:sp>
      <p:sp>
        <p:nvSpPr>
          <p:cNvPr id="21" name="Shape 15"/>
          <p:cNvSpPr/>
          <p:nvPr/>
        </p:nvSpPr>
        <p:spPr>
          <a:xfrm>
            <a:off x="4251960" y="3657600"/>
            <a:ext cx="3520440" cy="1188720"/>
          </a:xfrm>
          <a:prstGeom prst="roundRect">
            <a:avLst>
              <a:gd name="adj" fmla="val 7692"/>
            </a:avLst>
          </a:prstGeom>
          <a:solidFill>
            <a:srgbClr val="F3FAF9"/>
          </a:solidFill>
          <a:ln w="12700">
            <a:solidFill>
              <a:srgbClr val="DCEDEB"/>
            </a:solidFill>
            <a:prstDash val="solid"/>
          </a:ln>
        </p:spPr>
      </p:sp>
      <p:sp>
        <p:nvSpPr>
          <p:cNvPr id="22" name="Shape 16"/>
          <p:cNvSpPr/>
          <p:nvPr/>
        </p:nvSpPr>
        <p:spPr>
          <a:xfrm>
            <a:off x="4453128" y="3913632"/>
            <a:ext cx="658368" cy="658368"/>
          </a:xfrm>
          <a:prstGeom prst="ellipse">
            <a:avLst/>
          </a:prstGeom>
          <a:solidFill>
            <a:srgbClr val="0B7285"/>
          </a:solidFill>
          <a:ln/>
        </p:spPr>
      </p:sp>
      <p:pic>
        <p:nvPicPr>
          <p:cNvPr id="23" name="Image 4" descr="/home/claude/hera_pptx/icons/book.png">    </p:cNvPr>
          <p:cNvPicPr>
            <a:picLocks noChangeAspect="1"/>
          </p:cNvPicPr>
          <p:nvPr/>
        </p:nvPicPr>
        <p:blipFill>
          <a:blip r:embed="rId5"/>
          <a:stretch>
            <a:fillRect/>
          </a:stretch>
        </p:blipFill>
        <p:spPr>
          <a:xfrm>
            <a:off x="4617720" y="4078224"/>
            <a:ext cx="329184" cy="329184"/>
          </a:xfrm>
          <a:prstGeom prst="rect">
            <a:avLst/>
          </a:prstGeom>
        </p:spPr>
      </p:pic>
      <p:sp>
        <p:nvSpPr>
          <p:cNvPr id="24" name="Text 17"/>
          <p:cNvSpPr/>
          <p:nvPr/>
        </p:nvSpPr>
        <p:spPr>
          <a:xfrm>
            <a:off x="5257800" y="365760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Knowledge chunk (vector)</a:t>
            </a:r>
            <a:endParaRPr lang="en-US" sz="1200" dirty="0"/>
          </a:p>
        </p:txBody>
      </p:sp>
      <p:sp>
        <p:nvSpPr>
          <p:cNvPr id="25" name="Shape 18"/>
          <p:cNvSpPr/>
          <p:nvPr/>
        </p:nvSpPr>
        <p:spPr>
          <a:xfrm>
            <a:off x="7955280" y="3657600"/>
            <a:ext cx="3520440" cy="1188720"/>
          </a:xfrm>
          <a:prstGeom prst="roundRect">
            <a:avLst>
              <a:gd name="adj" fmla="val 7692"/>
            </a:avLst>
          </a:prstGeom>
          <a:solidFill>
            <a:srgbClr val="F3FAF9"/>
          </a:solidFill>
          <a:ln w="12700">
            <a:solidFill>
              <a:srgbClr val="DCEDEB"/>
            </a:solidFill>
            <a:prstDash val="solid"/>
          </a:ln>
        </p:spPr>
      </p:sp>
      <p:sp>
        <p:nvSpPr>
          <p:cNvPr id="26" name="Shape 19"/>
          <p:cNvSpPr/>
          <p:nvPr/>
        </p:nvSpPr>
        <p:spPr>
          <a:xfrm>
            <a:off x="8156448" y="3913632"/>
            <a:ext cx="658368" cy="658368"/>
          </a:xfrm>
          <a:prstGeom prst="ellipse">
            <a:avLst/>
          </a:prstGeom>
          <a:solidFill>
            <a:srgbClr val="4CB5AE"/>
          </a:solidFill>
          <a:ln/>
        </p:spPr>
      </p:sp>
      <p:pic>
        <p:nvPicPr>
          <p:cNvPr id="27" name="Image 5" descr="/home/claude/hera_pptx/icons/phone.png">    </p:cNvPr>
          <p:cNvPicPr>
            <a:picLocks noChangeAspect="1"/>
          </p:cNvPicPr>
          <p:nvPr/>
        </p:nvPicPr>
        <p:blipFill>
          <a:blip r:embed="rId6"/>
          <a:stretch>
            <a:fillRect/>
          </a:stretch>
        </p:blipFill>
        <p:spPr>
          <a:xfrm>
            <a:off x="8321040" y="4078224"/>
            <a:ext cx="329184" cy="329184"/>
          </a:xfrm>
          <a:prstGeom prst="rect">
            <a:avLst/>
          </a:prstGeom>
        </p:spPr>
      </p:pic>
      <p:sp>
        <p:nvSpPr>
          <p:cNvPr id="28" name="Text 20"/>
          <p:cNvSpPr/>
          <p:nvPr/>
        </p:nvSpPr>
        <p:spPr>
          <a:xfrm>
            <a:off x="8961120" y="3657600"/>
            <a:ext cx="2377440" cy="1188720"/>
          </a:xfrm>
          <a:prstGeom prst="rect">
            <a:avLst/>
          </a:prstGeom>
          <a:noFill/>
          <a:ln/>
        </p:spPr>
        <p:txBody>
          <a:bodyPr wrap="square" rtlCol="0" anchor="ctr"/>
          <a:lstStyle/>
          <a:p>
            <a:pPr indent="0" marL="0">
              <a:lnSpc>
                <a:spcPts val="1500"/>
              </a:lnSpc>
              <a:buNone/>
            </a:pPr>
            <a:r>
              <a:rPr lang="en-US" sz="1200" b="1" dirty="0">
                <a:solidFill>
                  <a:srgbClr val="13292E"/>
                </a:solidFill>
                <a:latin typeface="Calibri" pitchFamily="34" charset="0"/>
                <a:ea typeface="Calibri" pitchFamily="34" charset="-122"/>
                <a:cs typeface="Calibri" pitchFamily="34" charset="-120"/>
              </a:rPr>
              <a:t>Support channel &amp; metadata</a:t>
            </a:r>
            <a:endParaRPr lang="en-US" sz="1200" dirty="0"/>
          </a:p>
        </p:txBody>
      </p:sp>
      <p:sp>
        <p:nvSpPr>
          <p:cNvPr id="29" name="Shape 21"/>
          <p:cNvSpPr/>
          <p:nvPr/>
        </p:nvSpPr>
        <p:spPr>
          <a:xfrm>
            <a:off x="548640" y="5349240"/>
            <a:ext cx="10881360" cy="1051560"/>
          </a:xfrm>
          <a:prstGeom prst="roundRect">
            <a:avLst>
              <a:gd name="adj" fmla="val 6957"/>
            </a:avLst>
          </a:prstGeom>
          <a:solidFill>
            <a:srgbClr val="0B7285"/>
          </a:solidFill>
          <a:ln/>
        </p:spPr>
      </p:sp>
      <p:sp>
        <p:nvSpPr>
          <p:cNvPr id="30" name="Shape 22"/>
          <p:cNvSpPr/>
          <p:nvPr/>
        </p:nvSpPr>
        <p:spPr>
          <a:xfrm>
            <a:off x="777240" y="5513832"/>
            <a:ext cx="685800" cy="685800"/>
          </a:xfrm>
          <a:prstGeom prst="ellipse">
            <a:avLst/>
          </a:prstGeom>
          <a:solidFill>
            <a:srgbClr val="E8544E"/>
          </a:solidFill>
          <a:ln/>
        </p:spPr>
      </p:sp>
      <p:pic>
        <p:nvPicPr>
          <p:cNvPr id="31" name="Image 6" descr="/home/claude/hera_pptx/icons/warning.png">    </p:cNvPr>
          <p:cNvPicPr>
            <a:picLocks noChangeAspect="1"/>
          </p:cNvPicPr>
          <p:nvPr/>
        </p:nvPicPr>
        <p:blipFill>
          <a:blip r:embed="rId7"/>
          <a:stretch>
            <a:fillRect/>
          </a:stretch>
        </p:blipFill>
        <p:spPr>
          <a:xfrm>
            <a:off x="948690" y="5685282"/>
            <a:ext cx="342900" cy="342900"/>
          </a:xfrm>
          <a:prstGeom prst="rect">
            <a:avLst/>
          </a:prstGeom>
        </p:spPr>
      </p:pic>
      <p:sp>
        <p:nvSpPr>
          <p:cNvPr id="32" name="Text 23"/>
          <p:cNvSpPr/>
          <p:nvPr/>
        </p:nvSpPr>
        <p:spPr>
          <a:xfrm>
            <a:off x="1645920" y="5349240"/>
            <a:ext cx="9601200" cy="1051560"/>
          </a:xfrm>
          <a:prstGeom prst="rect">
            <a:avLst/>
          </a:prstGeom>
          <a:noFill/>
          <a:ln/>
        </p:spPr>
        <p:txBody>
          <a:bodyPr wrap="square"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Bản hiện tại KHÔNG có OCR runtime và không đọc ảnh/PDF người dùng tải lên lúc chat. Tài liệu được xử lý ở tầng chuẩn bị dữ liệu → JSON/JSONL → seed PostgreSQL, có kiểm duyệt.</a:t>
            </a:r>
            <a:endParaRPr lang="en-US" sz="1250" dirty="0"/>
          </a:p>
        </p:txBody>
      </p:sp>
      <p:sp>
        <p:nvSpPr>
          <p:cNvPr id="33" name="Text 24"/>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BFE3DF"/>
                </a:solidFill>
                <a:latin typeface="Calibri" pitchFamily="34" charset="0"/>
                <a:ea typeface="Calibri" pitchFamily="34" charset="-122"/>
                <a:cs typeface="Calibri" pitchFamily="34" charset="-120"/>
              </a:rPr>
              <a:t>HERA · Bệnh viện Tim Hà Nội</a:t>
            </a:r>
            <a:endParaRPr lang="en-US" sz="1000" dirty="0"/>
          </a:p>
        </p:txBody>
      </p:sp>
      <p:sp>
        <p:nvSpPr>
          <p:cNvPr id="34" name="Text 2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07 · KỸ THUẬT</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Kiến trúc RAG: đủ sâu để tin, đủ gọn để triển khai</a:t>
            </a:r>
            <a:endParaRPr lang="en-US" sz="3000" dirty="0"/>
          </a:p>
        </p:txBody>
      </p:sp>
      <p:sp>
        <p:nvSpPr>
          <p:cNvPr id="4" name="Shape 2"/>
          <p:cNvSpPr/>
          <p:nvPr/>
        </p:nvSpPr>
        <p:spPr>
          <a:xfrm>
            <a:off x="502920" y="2423160"/>
            <a:ext cx="1783080" cy="868680"/>
          </a:xfrm>
          <a:prstGeom prst="roundRect">
            <a:avLst>
              <a:gd name="adj" fmla="val 8421"/>
            </a:avLst>
          </a:prstGeom>
          <a:solidFill>
            <a:srgbClr val="073F49"/>
          </a:solidFill>
          <a:ln/>
        </p:spPr>
      </p:sp>
      <p:sp>
        <p:nvSpPr>
          <p:cNvPr id="5" name="Text 3"/>
          <p:cNvSpPr/>
          <p:nvPr/>
        </p:nvSpPr>
        <p:spPr>
          <a:xfrm>
            <a:off x="548640" y="2423160"/>
            <a:ext cx="1691640" cy="868680"/>
          </a:xfrm>
          <a:prstGeom prst="rect">
            <a:avLst/>
          </a:prstGeom>
          <a:noFill/>
          <a:ln/>
        </p:spPr>
        <p:txBody>
          <a:bodyPr wrap="square" rtlCol="0" anchor="ctr"/>
          <a:lstStyle/>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Câu hỏi</a:t>
            </a:r>
            <a:endParaRPr lang="en-US" sz="1050" dirty="0"/>
          </a:p>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người dùng</a:t>
            </a:r>
            <a:endParaRPr lang="en-US" sz="1050" dirty="0"/>
          </a:p>
        </p:txBody>
      </p:sp>
      <p:sp>
        <p:nvSpPr>
          <p:cNvPr id="6" name="Shape 4"/>
          <p:cNvSpPr/>
          <p:nvPr/>
        </p:nvSpPr>
        <p:spPr>
          <a:xfrm>
            <a:off x="2286000" y="2852928"/>
            <a:ext cx="411480" cy="0"/>
          </a:xfrm>
          <a:prstGeom prst="line">
            <a:avLst/>
          </a:prstGeom>
          <a:noFill/>
          <a:ln w="22225">
            <a:solidFill>
              <a:srgbClr val="4CB5AE"/>
            </a:solidFill>
            <a:prstDash val="solid"/>
            <a:tailEnd type="triangle"/>
          </a:ln>
        </p:spPr>
      </p:sp>
      <p:sp>
        <p:nvSpPr>
          <p:cNvPr id="7" name="Shape 5"/>
          <p:cNvSpPr/>
          <p:nvPr/>
        </p:nvSpPr>
        <p:spPr>
          <a:xfrm>
            <a:off x="2697480" y="2423160"/>
            <a:ext cx="1783080" cy="868680"/>
          </a:xfrm>
          <a:prstGeom prst="roundRect">
            <a:avLst>
              <a:gd name="adj" fmla="val 8421"/>
            </a:avLst>
          </a:prstGeom>
          <a:solidFill>
            <a:srgbClr val="0B7285"/>
          </a:solidFill>
          <a:ln/>
        </p:spPr>
      </p:sp>
      <p:sp>
        <p:nvSpPr>
          <p:cNvPr id="8" name="Text 6"/>
          <p:cNvSpPr/>
          <p:nvPr/>
        </p:nvSpPr>
        <p:spPr>
          <a:xfrm>
            <a:off x="2743200" y="2423160"/>
            <a:ext cx="1691640" cy="868680"/>
          </a:xfrm>
          <a:prstGeom prst="rect">
            <a:avLst/>
          </a:prstGeom>
          <a:noFill/>
          <a:ln/>
        </p:spPr>
        <p:txBody>
          <a:bodyPr wrap="square" rtlCol="0" anchor="ctr"/>
          <a:lstStyle/>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Privacy</a:t>
            </a:r>
            <a:endParaRPr lang="en-US" sz="1050" dirty="0"/>
          </a:p>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Redaction</a:t>
            </a:r>
            <a:endParaRPr lang="en-US" sz="1050" dirty="0"/>
          </a:p>
        </p:txBody>
      </p:sp>
      <p:sp>
        <p:nvSpPr>
          <p:cNvPr id="9" name="Shape 7"/>
          <p:cNvSpPr/>
          <p:nvPr/>
        </p:nvSpPr>
        <p:spPr>
          <a:xfrm>
            <a:off x="4480560" y="2852928"/>
            <a:ext cx="411480" cy="0"/>
          </a:xfrm>
          <a:prstGeom prst="line">
            <a:avLst/>
          </a:prstGeom>
          <a:noFill/>
          <a:ln w="22225">
            <a:solidFill>
              <a:srgbClr val="4CB5AE"/>
            </a:solidFill>
            <a:prstDash val="solid"/>
            <a:tailEnd type="triangle"/>
          </a:ln>
        </p:spPr>
      </p:sp>
      <p:sp>
        <p:nvSpPr>
          <p:cNvPr id="10" name="Shape 8"/>
          <p:cNvSpPr/>
          <p:nvPr/>
        </p:nvSpPr>
        <p:spPr>
          <a:xfrm>
            <a:off x="4892040" y="2423160"/>
            <a:ext cx="1783080" cy="868680"/>
          </a:xfrm>
          <a:prstGeom prst="roundRect">
            <a:avLst>
              <a:gd name="adj" fmla="val 8421"/>
            </a:avLst>
          </a:prstGeom>
          <a:solidFill>
            <a:srgbClr val="0B7285"/>
          </a:solidFill>
          <a:ln/>
        </p:spPr>
      </p:sp>
      <p:sp>
        <p:nvSpPr>
          <p:cNvPr id="11" name="Text 9"/>
          <p:cNvSpPr/>
          <p:nvPr/>
        </p:nvSpPr>
        <p:spPr>
          <a:xfrm>
            <a:off x="4937760" y="2423160"/>
            <a:ext cx="1691640" cy="868680"/>
          </a:xfrm>
          <a:prstGeom prst="rect">
            <a:avLst/>
          </a:prstGeom>
          <a:noFill/>
          <a:ln/>
        </p:spPr>
        <p:txBody>
          <a:bodyPr wrap="square" rtlCol="0" anchor="ctr"/>
          <a:lstStyle/>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Intent</a:t>
            </a:r>
            <a:endParaRPr lang="en-US" sz="1050" dirty="0"/>
          </a:p>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Classifier</a:t>
            </a:r>
            <a:endParaRPr lang="en-US" sz="1050" dirty="0"/>
          </a:p>
        </p:txBody>
      </p:sp>
      <p:sp>
        <p:nvSpPr>
          <p:cNvPr id="12" name="Shape 10"/>
          <p:cNvSpPr/>
          <p:nvPr/>
        </p:nvSpPr>
        <p:spPr>
          <a:xfrm>
            <a:off x="6675120" y="2651760"/>
            <a:ext cx="411480" cy="-640080"/>
          </a:xfrm>
          <a:prstGeom prst="line">
            <a:avLst/>
          </a:prstGeom>
          <a:noFill/>
          <a:ln w="22225">
            <a:solidFill>
              <a:srgbClr val="4CB5AE"/>
            </a:solidFill>
            <a:prstDash val="solid"/>
            <a:tailEnd type="triangle"/>
          </a:ln>
        </p:spPr>
      </p:sp>
      <p:sp>
        <p:nvSpPr>
          <p:cNvPr id="13" name="Shape 11"/>
          <p:cNvSpPr/>
          <p:nvPr/>
        </p:nvSpPr>
        <p:spPr>
          <a:xfrm>
            <a:off x="6675120" y="3063240"/>
            <a:ext cx="411480" cy="640080"/>
          </a:xfrm>
          <a:prstGeom prst="line">
            <a:avLst/>
          </a:prstGeom>
          <a:noFill/>
          <a:ln w="22225">
            <a:solidFill>
              <a:srgbClr val="4CB5AE"/>
            </a:solidFill>
            <a:prstDash val="solid"/>
            <a:tailEnd type="triangle"/>
          </a:ln>
        </p:spPr>
      </p:sp>
      <p:sp>
        <p:nvSpPr>
          <p:cNvPr id="14" name="Shape 12"/>
          <p:cNvSpPr/>
          <p:nvPr/>
        </p:nvSpPr>
        <p:spPr>
          <a:xfrm>
            <a:off x="7086600" y="1581912"/>
            <a:ext cx="1783080" cy="868680"/>
          </a:xfrm>
          <a:prstGeom prst="roundRect">
            <a:avLst>
              <a:gd name="adj" fmla="val 8421"/>
            </a:avLst>
          </a:prstGeom>
          <a:solidFill>
            <a:srgbClr val="4CB5AE"/>
          </a:solidFill>
          <a:ln/>
        </p:spPr>
      </p:sp>
      <p:sp>
        <p:nvSpPr>
          <p:cNvPr id="15" name="Text 13"/>
          <p:cNvSpPr/>
          <p:nvPr/>
        </p:nvSpPr>
        <p:spPr>
          <a:xfrm>
            <a:off x="7132320" y="1581912"/>
            <a:ext cx="1691640" cy="868680"/>
          </a:xfrm>
          <a:prstGeom prst="rect">
            <a:avLst/>
          </a:prstGeom>
          <a:noFill/>
          <a:ln/>
        </p:spPr>
        <p:txBody>
          <a:bodyPr wrap="square" rtlCol="0" anchor="ctr"/>
          <a:lstStyle/>
          <a:p>
            <a:pPr algn="ctr" indent="0" marL="0">
              <a:lnSpc>
                <a:spcPts val="1200"/>
              </a:lnSpc>
              <a:buNone/>
            </a:pPr>
            <a:r>
              <a:rPr lang="en-US" sz="1050" b="1" dirty="0">
                <a:solidFill>
                  <a:srgbClr val="073F49"/>
                </a:solidFill>
                <a:latin typeface="Calibri" pitchFamily="34" charset="0"/>
                <a:ea typeface="Calibri" pitchFamily="34" charset="-122"/>
                <a:cs typeface="Calibri" pitchFamily="34" charset="-120"/>
              </a:rPr>
              <a:t>Structured</a:t>
            </a:r>
            <a:endParaRPr lang="en-US" sz="1050" dirty="0"/>
          </a:p>
          <a:p>
            <a:pPr algn="ctr" indent="0" marL="0">
              <a:lnSpc>
                <a:spcPts val="1200"/>
              </a:lnSpc>
              <a:buNone/>
            </a:pPr>
            <a:r>
              <a:rPr lang="en-US" sz="1050" b="1" dirty="0">
                <a:solidFill>
                  <a:srgbClr val="073F49"/>
                </a:solidFill>
                <a:latin typeface="Calibri" pitchFamily="34" charset="0"/>
                <a:ea typeface="Calibri" pitchFamily="34" charset="-122"/>
                <a:cs typeface="Calibri" pitchFamily="34" charset="-120"/>
              </a:rPr>
              <a:t>Lookup (Postgres)</a:t>
            </a:r>
            <a:endParaRPr lang="en-US" sz="1050" dirty="0"/>
          </a:p>
        </p:txBody>
      </p:sp>
      <p:sp>
        <p:nvSpPr>
          <p:cNvPr id="16" name="Text 14"/>
          <p:cNvSpPr/>
          <p:nvPr/>
        </p:nvSpPr>
        <p:spPr>
          <a:xfrm>
            <a:off x="7086600" y="2496312"/>
            <a:ext cx="1783080" cy="274320"/>
          </a:xfrm>
          <a:prstGeom prst="rect">
            <a:avLst/>
          </a:prstGeom>
          <a:noFill/>
          <a:ln/>
        </p:spPr>
        <p:txBody>
          <a:bodyPr wrap="square" rtlCol="0" anchor="ctr"/>
          <a:lstStyle/>
          <a:p>
            <a:pPr algn="ctr" indent="0" marL="0">
              <a:buNone/>
            </a:pPr>
            <a:r>
              <a:rPr lang="en-US" sz="850" i="1" dirty="0">
                <a:solidFill>
                  <a:srgbClr val="5B7278"/>
                </a:solidFill>
                <a:latin typeface="Calibri" pitchFamily="34" charset="0"/>
                <a:ea typeface="Calibri" pitchFamily="34" charset="-122"/>
                <a:cs typeface="Calibri" pitchFamily="34" charset="-120"/>
              </a:rPr>
              <a:t>giá · BHYT · lịch bác sĩ</a:t>
            </a:r>
            <a:endParaRPr lang="en-US" sz="850" dirty="0"/>
          </a:p>
        </p:txBody>
      </p:sp>
      <p:sp>
        <p:nvSpPr>
          <p:cNvPr id="17" name="Shape 15"/>
          <p:cNvSpPr/>
          <p:nvPr/>
        </p:nvSpPr>
        <p:spPr>
          <a:xfrm>
            <a:off x="7086600" y="3291840"/>
            <a:ext cx="1783080" cy="868680"/>
          </a:xfrm>
          <a:prstGeom prst="roundRect">
            <a:avLst>
              <a:gd name="adj" fmla="val 8421"/>
            </a:avLst>
          </a:prstGeom>
          <a:solidFill>
            <a:srgbClr val="E8544E"/>
          </a:solidFill>
          <a:ln/>
        </p:spPr>
      </p:sp>
      <p:sp>
        <p:nvSpPr>
          <p:cNvPr id="18" name="Text 16"/>
          <p:cNvSpPr/>
          <p:nvPr/>
        </p:nvSpPr>
        <p:spPr>
          <a:xfrm>
            <a:off x="7132320" y="3291840"/>
            <a:ext cx="1691640" cy="868680"/>
          </a:xfrm>
          <a:prstGeom prst="rect">
            <a:avLst/>
          </a:prstGeom>
          <a:noFill/>
          <a:ln/>
        </p:spPr>
        <p:txBody>
          <a:bodyPr wrap="square" rtlCol="0" anchor="ctr"/>
          <a:lstStyle/>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RAG Pipeline</a:t>
            </a:r>
            <a:endParaRPr lang="en-US" sz="1050" dirty="0"/>
          </a:p>
        </p:txBody>
      </p:sp>
      <p:sp>
        <p:nvSpPr>
          <p:cNvPr id="19" name="Text 17"/>
          <p:cNvSpPr/>
          <p:nvPr/>
        </p:nvSpPr>
        <p:spPr>
          <a:xfrm>
            <a:off x="6903720" y="4178808"/>
            <a:ext cx="2148840" cy="274320"/>
          </a:xfrm>
          <a:prstGeom prst="rect">
            <a:avLst/>
          </a:prstGeom>
          <a:noFill/>
          <a:ln/>
        </p:spPr>
        <p:txBody>
          <a:bodyPr wrap="square" rtlCol="0" anchor="ctr"/>
          <a:lstStyle/>
          <a:p>
            <a:pPr algn="ctr" indent="0" marL="0">
              <a:buNone/>
            </a:pPr>
            <a:r>
              <a:rPr lang="en-US" sz="850" i="1" dirty="0">
                <a:solidFill>
                  <a:srgbClr val="5B7278"/>
                </a:solidFill>
                <a:latin typeface="Calibri" pitchFamily="34" charset="0"/>
                <a:ea typeface="Calibri" pitchFamily="34" charset="-122"/>
                <a:cs typeface="Calibri" pitchFamily="34" charset="-120"/>
              </a:rPr>
              <a:t>lexical + semantic → RRF → rerank</a:t>
            </a:r>
            <a:endParaRPr lang="en-US" sz="850" dirty="0"/>
          </a:p>
        </p:txBody>
      </p:sp>
      <p:sp>
        <p:nvSpPr>
          <p:cNvPr id="20" name="Shape 18"/>
          <p:cNvSpPr/>
          <p:nvPr/>
        </p:nvSpPr>
        <p:spPr>
          <a:xfrm>
            <a:off x="8869680" y="2011680"/>
            <a:ext cx="411480" cy="640080"/>
          </a:xfrm>
          <a:prstGeom prst="line">
            <a:avLst/>
          </a:prstGeom>
          <a:noFill/>
          <a:ln w="22225">
            <a:solidFill>
              <a:srgbClr val="4CB5AE"/>
            </a:solidFill>
            <a:prstDash val="solid"/>
            <a:tailEnd type="triangle"/>
          </a:ln>
        </p:spPr>
      </p:sp>
      <p:sp>
        <p:nvSpPr>
          <p:cNvPr id="21" name="Shape 19"/>
          <p:cNvSpPr/>
          <p:nvPr/>
        </p:nvSpPr>
        <p:spPr>
          <a:xfrm>
            <a:off x="8869680" y="3703320"/>
            <a:ext cx="411480" cy="-640080"/>
          </a:xfrm>
          <a:prstGeom prst="line">
            <a:avLst/>
          </a:prstGeom>
          <a:noFill/>
          <a:ln w="22225">
            <a:solidFill>
              <a:srgbClr val="4CB5AE"/>
            </a:solidFill>
            <a:prstDash val="solid"/>
            <a:tailEnd type="triangle"/>
          </a:ln>
        </p:spPr>
      </p:sp>
      <p:sp>
        <p:nvSpPr>
          <p:cNvPr id="22" name="Shape 20"/>
          <p:cNvSpPr/>
          <p:nvPr/>
        </p:nvSpPr>
        <p:spPr>
          <a:xfrm>
            <a:off x="9281160" y="2423160"/>
            <a:ext cx="1783080" cy="868680"/>
          </a:xfrm>
          <a:prstGeom prst="roundRect">
            <a:avLst>
              <a:gd name="adj" fmla="val 8421"/>
            </a:avLst>
          </a:prstGeom>
          <a:solidFill>
            <a:srgbClr val="073F49"/>
          </a:solidFill>
          <a:ln/>
        </p:spPr>
      </p:sp>
      <p:sp>
        <p:nvSpPr>
          <p:cNvPr id="23" name="Text 21"/>
          <p:cNvSpPr/>
          <p:nvPr/>
        </p:nvSpPr>
        <p:spPr>
          <a:xfrm>
            <a:off x="9326880" y="2423160"/>
            <a:ext cx="1691640" cy="868680"/>
          </a:xfrm>
          <a:prstGeom prst="rect">
            <a:avLst/>
          </a:prstGeom>
          <a:noFill/>
          <a:ln/>
        </p:spPr>
        <p:txBody>
          <a:bodyPr wrap="square" rtlCol="0" anchor="ctr"/>
          <a:lstStyle/>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p>
          <a:p>
            <a:pPr algn="ctr" indent="0" marL="0">
              <a:lnSpc>
                <a:spcPts val="1200"/>
              </a:lnSpc>
              <a:buNone/>
            </a:pPr>
            <a:r>
              <a:rPr lang="en-US" sz="1050" b="1" dirty="0">
                <a:solidFill>
                  <a:srgbClr val="FFFFFF"/>
                </a:solidFill>
                <a:latin typeface="Calibri" pitchFamily="34" charset="0"/>
                <a:ea typeface="Calibri" pitchFamily="34" charset="-122"/>
                <a:cs typeface="Calibri" pitchFamily="34" charset="-120"/>
              </a:rPr>
              <a:t>Validator</a:t>
            </a:r>
            <a:endParaRPr lang="en-US" sz="1050" dirty="0"/>
          </a:p>
        </p:txBody>
      </p:sp>
      <p:sp>
        <p:nvSpPr>
          <p:cNvPr id="24" name="Shape 22"/>
          <p:cNvSpPr/>
          <p:nvPr/>
        </p:nvSpPr>
        <p:spPr>
          <a:xfrm>
            <a:off x="11064240" y="2852928"/>
            <a:ext cx="365760" cy="0"/>
          </a:xfrm>
          <a:prstGeom prst="line">
            <a:avLst/>
          </a:prstGeom>
          <a:noFill/>
          <a:ln w="22225">
            <a:solidFill>
              <a:srgbClr val="4CB5AE"/>
            </a:solidFill>
            <a:prstDash val="solid"/>
            <a:tailEnd type="triangle"/>
          </a:ln>
        </p:spPr>
      </p:sp>
      <p:sp>
        <p:nvSpPr>
          <p:cNvPr id="25" name="Text 23"/>
          <p:cNvSpPr/>
          <p:nvPr/>
        </p:nvSpPr>
        <p:spPr>
          <a:xfrm>
            <a:off x="11384280" y="2331720"/>
            <a:ext cx="777240" cy="1051560"/>
          </a:xfrm>
          <a:prstGeom prst="rect">
            <a:avLst/>
          </a:prstGeom>
          <a:noFill/>
          <a:ln/>
        </p:spPr>
        <p:txBody>
          <a:bodyPr wrap="square" rtlCol="0" anchor="ctr"/>
          <a:lstStyle/>
          <a:p>
            <a:pPr algn="ctr" indent="0" marL="0">
              <a:lnSpc>
                <a:spcPts val="1100"/>
              </a:lnSpc>
              <a:buNone/>
            </a:pPr>
            <a:r>
              <a:rPr lang="en-US" sz="950" b="1" dirty="0">
                <a:solidFill>
                  <a:srgbClr val="0B7285"/>
                </a:solidFill>
                <a:latin typeface="Calibri" pitchFamily="34" charset="0"/>
                <a:ea typeface="Calibri" pitchFamily="34" charset="-122"/>
                <a:cs typeface="Calibri" pitchFamily="34" charset="-120"/>
              </a:rPr>
              <a:t>✓ Trả lời</a:t>
            </a:r>
            <a:endParaRPr lang="en-US" sz="950" dirty="0"/>
          </a:p>
          <a:p>
            <a:pPr algn="ctr" indent="0" marL="0">
              <a:lnSpc>
                <a:spcPts val="1100"/>
              </a:lnSpc>
              <a:buNone/>
            </a:pPr>
            <a:r>
              <a:rPr lang="en-US" sz="950" b="1" dirty="0">
                <a:solidFill>
                  <a:srgbClr val="0B7285"/>
                </a:solidFill>
                <a:latin typeface="Calibri" pitchFamily="34" charset="0"/>
                <a:ea typeface="Calibri" pitchFamily="34" charset="-122"/>
                <a:cs typeface="Calibri" pitchFamily="34" charset="-120"/>
              </a:rPr>
              <a:t>có citation</a:t>
            </a:r>
            <a:endParaRPr lang="en-US" sz="950" dirty="0"/>
          </a:p>
        </p:txBody>
      </p:sp>
      <p:sp>
        <p:nvSpPr>
          <p:cNvPr id="26" name="Text 24"/>
          <p:cNvSpPr/>
          <p:nvPr/>
        </p:nvSpPr>
        <p:spPr>
          <a:xfrm>
            <a:off x="548640" y="4572000"/>
            <a:ext cx="7498080" cy="548640"/>
          </a:xfrm>
          <a:prstGeom prst="rect">
            <a:avLst/>
          </a:prstGeom>
          <a:noFill/>
          <a:ln/>
        </p:spPr>
        <p:txBody>
          <a:bodyPr wrap="square" rtlCol="0" anchor="ctr"/>
          <a:lstStyle/>
          <a:p>
            <a:pPr indent="0" marL="0">
              <a:lnSpc>
                <a:spcPts val="1400"/>
              </a:lnSpc>
              <a:buNone/>
            </a:pPr>
            <a:r>
              <a:rPr lang="en-US" sz="1050" i="1" dirty="0">
                <a:solidFill>
                  <a:srgbClr val="5B7278"/>
                </a:solidFill>
                <a:latin typeface="Calibri" pitchFamily="34" charset="0"/>
                <a:ea typeface="Calibri" pitchFamily="34" charset="-122"/>
                <a:cs typeface="Calibri" pitchFamily="34" charset="-120"/>
              </a:rPr>
              <a:t>Không đạt kiểm tra evidence → loại bỏ output model, quay về câu trả lời deterministic từ fact đã duyệt. Không có citation → từ chối trả lời.</a:t>
            </a:r>
            <a:endParaRPr lang="en-US" sz="1050" dirty="0"/>
          </a:p>
        </p:txBody>
      </p:sp>
      <p:sp>
        <p:nvSpPr>
          <p:cNvPr id="27" name="Shape 25"/>
          <p:cNvSpPr/>
          <p:nvPr/>
        </p:nvSpPr>
        <p:spPr>
          <a:xfrm>
            <a:off x="548640" y="5257800"/>
            <a:ext cx="2651760" cy="868680"/>
          </a:xfrm>
          <a:prstGeom prst="roundRect">
            <a:avLst>
              <a:gd name="adj" fmla="val 8421"/>
            </a:avLst>
          </a:prstGeom>
          <a:solidFill>
            <a:srgbClr val="FFFFFF"/>
          </a:solidFill>
          <a:ln w="12700">
            <a:solidFill>
              <a:srgbClr val="DCEDEB"/>
            </a:solidFill>
            <a:prstDash val="solid"/>
          </a:ln>
        </p:spPr>
      </p:sp>
      <p:sp>
        <p:nvSpPr>
          <p:cNvPr id="28" name="Text 26"/>
          <p:cNvSpPr/>
          <p:nvPr/>
        </p:nvSpPr>
        <p:spPr>
          <a:xfrm>
            <a:off x="713232" y="5349240"/>
            <a:ext cx="2331720" cy="274320"/>
          </a:xfrm>
          <a:prstGeom prst="rect">
            <a:avLst/>
          </a:prstGeom>
          <a:noFill/>
          <a:ln/>
        </p:spPr>
        <p:txBody>
          <a:bodyPr wrap="square" rtlCol="0" anchor="ctr"/>
          <a:lstStyle/>
          <a:p>
            <a:pPr indent="0" marL="0">
              <a:buNone/>
            </a:pPr>
            <a:r>
              <a:rPr lang="en-US" sz="950" b="1" dirty="0">
                <a:solidFill>
                  <a:srgbClr val="0B7285"/>
                </a:solidFill>
                <a:latin typeface="Calibri" pitchFamily="34" charset="0"/>
                <a:ea typeface="Calibri" pitchFamily="34" charset="-122"/>
                <a:cs typeface="Calibri" pitchFamily="34" charset="-120"/>
              </a:rPr>
              <a:t>generation</a:t>
            </a:r>
            <a:endParaRPr lang="en-US" sz="950" dirty="0"/>
          </a:p>
        </p:txBody>
      </p:sp>
      <p:sp>
        <p:nvSpPr>
          <p:cNvPr id="29" name="Text 27"/>
          <p:cNvSpPr/>
          <p:nvPr/>
        </p:nvSpPr>
        <p:spPr>
          <a:xfrm>
            <a:off x="713232" y="5623560"/>
            <a:ext cx="2331720" cy="457200"/>
          </a:xfrm>
          <a:prstGeom prst="rect">
            <a:avLst/>
          </a:prstGeom>
          <a:noFill/>
          <a:ln/>
        </p:spPr>
        <p:txBody>
          <a:bodyPr wrap="square" rtlCol="0" anchor="ctr"/>
          <a:lstStyle/>
          <a:p>
            <a:pPr indent="0" marL="0">
              <a:lnSpc>
                <a:spcPts val="1200"/>
              </a:lnSpc>
              <a:buNone/>
            </a:pPr>
            <a:r>
              <a:rPr lang="en-US" sz="1050" dirty="0">
                <a:solidFill>
                  <a:srgbClr val="13292E"/>
                </a:solidFill>
                <a:latin typeface="Calibri" pitchFamily="34" charset="0"/>
                <a:ea typeface="Calibri" pitchFamily="34" charset="-122"/>
                <a:cs typeface="Calibri" pitchFamily="34" charset="-120"/>
              </a:rPr>
              <a:t>gpt-oss-120b</a:t>
            </a:r>
            <a:endParaRPr lang="en-US" sz="1050" dirty="0"/>
          </a:p>
        </p:txBody>
      </p:sp>
      <p:sp>
        <p:nvSpPr>
          <p:cNvPr id="30" name="Shape 28"/>
          <p:cNvSpPr/>
          <p:nvPr/>
        </p:nvSpPr>
        <p:spPr>
          <a:xfrm>
            <a:off x="3337560" y="5257800"/>
            <a:ext cx="2651760" cy="868680"/>
          </a:xfrm>
          <a:prstGeom prst="roundRect">
            <a:avLst>
              <a:gd name="adj" fmla="val 8421"/>
            </a:avLst>
          </a:prstGeom>
          <a:solidFill>
            <a:srgbClr val="FFFFFF"/>
          </a:solidFill>
          <a:ln w="12700">
            <a:solidFill>
              <a:srgbClr val="DCEDEB"/>
            </a:solidFill>
            <a:prstDash val="solid"/>
          </a:ln>
        </p:spPr>
      </p:sp>
      <p:sp>
        <p:nvSpPr>
          <p:cNvPr id="31" name="Text 29"/>
          <p:cNvSpPr/>
          <p:nvPr/>
        </p:nvSpPr>
        <p:spPr>
          <a:xfrm>
            <a:off x="3502152" y="5349240"/>
            <a:ext cx="2331720" cy="274320"/>
          </a:xfrm>
          <a:prstGeom prst="rect">
            <a:avLst/>
          </a:prstGeom>
          <a:noFill/>
          <a:ln/>
        </p:spPr>
        <p:txBody>
          <a:bodyPr wrap="square" rtlCol="0" anchor="ctr"/>
          <a:lstStyle/>
          <a:p>
            <a:pPr indent="0" marL="0">
              <a:buNone/>
            </a:pPr>
            <a:r>
              <a:rPr lang="en-US" sz="950" b="1" dirty="0">
                <a:solidFill>
                  <a:srgbClr val="0B7285"/>
                </a:solidFill>
                <a:latin typeface="Calibri" pitchFamily="34" charset="0"/>
                <a:ea typeface="Calibri" pitchFamily="34" charset="-122"/>
                <a:cs typeface="Calibri" pitchFamily="34" charset="-120"/>
              </a:rPr>
              <a:t>guard/routing</a:t>
            </a:r>
            <a:endParaRPr lang="en-US" sz="950" dirty="0"/>
          </a:p>
        </p:txBody>
      </p:sp>
      <p:sp>
        <p:nvSpPr>
          <p:cNvPr id="32" name="Text 30"/>
          <p:cNvSpPr/>
          <p:nvPr/>
        </p:nvSpPr>
        <p:spPr>
          <a:xfrm>
            <a:off x="3502152" y="5623560"/>
            <a:ext cx="2331720" cy="457200"/>
          </a:xfrm>
          <a:prstGeom prst="rect">
            <a:avLst/>
          </a:prstGeom>
          <a:noFill/>
          <a:ln/>
        </p:spPr>
        <p:txBody>
          <a:bodyPr wrap="square" rtlCol="0" anchor="ctr"/>
          <a:lstStyle/>
          <a:p>
            <a:pPr indent="0" marL="0">
              <a:lnSpc>
                <a:spcPts val="1200"/>
              </a:lnSpc>
              <a:buNone/>
            </a:pPr>
            <a:r>
              <a:rPr lang="en-US" sz="1050" dirty="0">
                <a:solidFill>
                  <a:srgbClr val="13292E"/>
                </a:solidFill>
                <a:latin typeface="Calibri" pitchFamily="34" charset="0"/>
                <a:ea typeface="Calibri" pitchFamily="34" charset="-122"/>
                <a:cs typeface="Calibri" pitchFamily="34" charset="-120"/>
              </a:rPr>
              <a:t>gpt-oss-20b</a:t>
            </a:r>
            <a:endParaRPr lang="en-US" sz="1050" dirty="0"/>
          </a:p>
        </p:txBody>
      </p:sp>
      <p:sp>
        <p:nvSpPr>
          <p:cNvPr id="33" name="Shape 31"/>
          <p:cNvSpPr/>
          <p:nvPr/>
        </p:nvSpPr>
        <p:spPr>
          <a:xfrm>
            <a:off x="6126480" y="5257800"/>
            <a:ext cx="2651760" cy="868680"/>
          </a:xfrm>
          <a:prstGeom prst="roundRect">
            <a:avLst>
              <a:gd name="adj" fmla="val 8421"/>
            </a:avLst>
          </a:prstGeom>
          <a:solidFill>
            <a:srgbClr val="FFFFFF"/>
          </a:solidFill>
          <a:ln w="12700">
            <a:solidFill>
              <a:srgbClr val="DCEDEB"/>
            </a:solidFill>
            <a:prstDash val="solid"/>
          </a:ln>
        </p:spPr>
      </p:sp>
      <p:sp>
        <p:nvSpPr>
          <p:cNvPr id="34" name="Text 32"/>
          <p:cNvSpPr/>
          <p:nvPr/>
        </p:nvSpPr>
        <p:spPr>
          <a:xfrm>
            <a:off x="6291072" y="5349240"/>
            <a:ext cx="2331720" cy="274320"/>
          </a:xfrm>
          <a:prstGeom prst="rect">
            <a:avLst/>
          </a:prstGeom>
          <a:noFill/>
          <a:ln/>
        </p:spPr>
        <p:txBody>
          <a:bodyPr wrap="square" rtlCol="0" anchor="ctr"/>
          <a:lstStyle/>
          <a:p>
            <a:pPr indent="0" marL="0">
              <a:buNone/>
            </a:pPr>
            <a:r>
              <a:rPr lang="en-US" sz="950" b="1" dirty="0">
                <a:solidFill>
                  <a:srgbClr val="0B7285"/>
                </a:solidFill>
                <a:latin typeface="Calibri" pitchFamily="34" charset="0"/>
                <a:ea typeface="Calibri" pitchFamily="34" charset="-122"/>
                <a:cs typeface="Calibri" pitchFamily="34" charset="-120"/>
              </a:rPr>
              <a:t>embedding</a:t>
            </a:r>
            <a:endParaRPr lang="en-US" sz="950" dirty="0"/>
          </a:p>
        </p:txBody>
      </p:sp>
      <p:sp>
        <p:nvSpPr>
          <p:cNvPr id="35" name="Text 33"/>
          <p:cNvSpPr/>
          <p:nvPr/>
        </p:nvSpPr>
        <p:spPr>
          <a:xfrm>
            <a:off x="6291072" y="5623560"/>
            <a:ext cx="2331720" cy="457200"/>
          </a:xfrm>
          <a:prstGeom prst="rect">
            <a:avLst/>
          </a:prstGeom>
          <a:noFill/>
          <a:ln/>
        </p:spPr>
        <p:txBody>
          <a:bodyPr wrap="square" rtlCol="0" anchor="ctr"/>
          <a:lstStyle/>
          <a:p>
            <a:pPr indent="0" marL="0">
              <a:lnSpc>
                <a:spcPts val="1200"/>
              </a:lnSpc>
              <a:buNone/>
            </a:pPr>
            <a:r>
              <a:rPr lang="en-US" sz="1050" dirty="0">
                <a:solidFill>
                  <a:srgbClr val="13292E"/>
                </a:solidFill>
                <a:latin typeface="Calibri" pitchFamily="34" charset="0"/>
                <a:ea typeface="Calibri" pitchFamily="34" charset="-122"/>
                <a:cs typeface="Calibri" pitchFamily="34" charset="-120"/>
              </a:rPr>
              <a:t>Vietnamese_Embedding (1024d)</a:t>
            </a:r>
            <a:endParaRPr lang="en-US" sz="1050" dirty="0"/>
          </a:p>
        </p:txBody>
      </p:sp>
      <p:sp>
        <p:nvSpPr>
          <p:cNvPr id="36" name="Shape 34"/>
          <p:cNvSpPr/>
          <p:nvPr/>
        </p:nvSpPr>
        <p:spPr>
          <a:xfrm>
            <a:off x="8915400" y="5257800"/>
            <a:ext cx="2651760" cy="868680"/>
          </a:xfrm>
          <a:prstGeom prst="roundRect">
            <a:avLst>
              <a:gd name="adj" fmla="val 8421"/>
            </a:avLst>
          </a:prstGeom>
          <a:solidFill>
            <a:srgbClr val="FFFFFF"/>
          </a:solidFill>
          <a:ln w="12700">
            <a:solidFill>
              <a:srgbClr val="DCEDEB"/>
            </a:solidFill>
            <a:prstDash val="solid"/>
          </a:ln>
        </p:spPr>
      </p:sp>
      <p:sp>
        <p:nvSpPr>
          <p:cNvPr id="37" name="Text 35"/>
          <p:cNvSpPr/>
          <p:nvPr/>
        </p:nvSpPr>
        <p:spPr>
          <a:xfrm>
            <a:off x="9079992" y="5349240"/>
            <a:ext cx="2331720" cy="274320"/>
          </a:xfrm>
          <a:prstGeom prst="rect">
            <a:avLst/>
          </a:prstGeom>
          <a:noFill/>
          <a:ln/>
        </p:spPr>
        <p:txBody>
          <a:bodyPr wrap="square" rtlCol="0" anchor="ctr"/>
          <a:lstStyle/>
          <a:p>
            <a:pPr indent="0" marL="0">
              <a:buNone/>
            </a:pPr>
            <a:r>
              <a:rPr lang="en-US" sz="950" b="1" dirty="0">
                <a:solidFill>
                  <a:srgbClr val="0B7285"/>
                </a:solidFill>
                <a:latin typeface="Calibri" pitchFamily="34" charset="0"/>
                <a:ea typeface="Calibri" pitchFamily="34" charset="-122"/>
                <a:cs typeface="Calibri" pitchFamily="34" charset="-120"/>
              </a:rPr>
              <a:t>rerank</a:t>
            </a:r>
            <a:endParaRPr lang="en-US" sz="950" dirty="0"/>
          </a:p>
        </p:txBody>
      </p:sp>
      <p:sp>
        <p:nvSpPr>
          <p:cNvPr id="38" name="Text 36"/>
          <p:cNvSpPr/>
          <p:nvPr/>
        </p:nvSpPr>
        <p:spPr>
          <a:xfrm>
            <a:off x="9079992" y="5623560"/>
            <a:ext cx="2331720" cy="457200"/>
          </a:xfrm>
          <a:prstGeom prst="rect">
            <a:avLst/>
          </a:prstGeom>
          <a:noFill/>
          <a:ln/>
        </p:spPr>
        <p:txBody>
          <a:bodyPr wrap="square" rtlCol="0" anchor="ctr"/>
          <a:lstStyle/>
          <a:p>
            <a:pPr indent="0" marL="0">
              <a:lnSpc>
                <a:spcPts val="1200"/>
              </a:lnSpc>
              <a:buNone/>
            </a:pPr>
            <a:r>
              <a:rPr lang="en-US" sz="1050" dirty="0">
                <a:solidFill>
                  <a:srgbClr val="13292E"/>
                </a:solidFill>
                <a:latin typeface="Calibri" pitchFamily="34" charset="0"/>
                <a:ea typeface="Calibri" pitchFamily="34" charset="-122"/>
                <a:cs typeface="Calibri" pitchFamily="34" charset="-120"/>
              </a:rPr>
              <a:t>bge-reranker-v2-m3</a:t>
            </a:r>
            <a:endParaRPr lang="en-US" sz="1050" dirty="0"/>
          </a:p>
        </p:txBody>
      </p:sp>
      <p:sp>
        <p:nvSpPr>
          <p:cNvPr id="39" name="Text 37"/>
          <p:cNvSpPr/>
          <p:nvPr/>
        </p:nvSpPr>
        <p:spPr>
          <a:xfrm>
            <a:off x="548640" y="6263640"/>
            <a:ext cx="10881360" cy="320040"/>
          </a:xfrm>
          <a:prstGeom prst="rect">
            <a:avLst/>
          </a:prstGeom>
          <a:noFill/>
          <a:ln/>
        </p:spPr>
        <p:txBody>
          <a:bodyPr wrap="square" rtlCol="0" anchor="ctr"/>
          <a:lstStyle/>
          <a:p>
            <a:pPr indent="0" marL="0">
              <a:buNone/>
            </a:pPr>
            <a:r>
              <a:rPr lang="en-US" sz="1100" i="1" dirty="0">
                <a:solidFill>
                  <a:srgbClr val="5B7278"/>
                </a:solidFill>
                <a:latin typeface="Calibri" pitchFamily="34" charset="0"/>
                <a:ea typeface="Calibri" pitchFamily="34" charset="-122"/>
                <a:cs typeface="Calibri" pitchFamily="34" charset="-120"/>
              </a:rPr>
              <a:t>Hạ tầng: FastAPI (backend) · PostgreSQL + pgvector · Redis (cache/rate-limit/context) · Nginx · Prometheus/Grafana</a:t>
            </a:r>
            <a:endParaRPr lang="en-US" sz="1100" dirty="0"/>
          </a:p>
        </p:txBody>
      </p:sp>
      <p:sp>
        <p:nvSpPr>
          <p:cNvPr id="40" name="Text 38"/>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41" name="Text 3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08 · AN TOÀN</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Guardrail y tế, quyền riêng tư và handoff</a:t>
            </a:r>
            <a:endParaRPr lang="en-US" sz="3000" dirty="0"/>
          </a:p>
        </p:txBody>
      </p:sp>
      <p:sp>
        <p:nvSpPr>
          <p:cNvPr id="4" name="Shape 2"/>
          <p:cNvSpPr/>
          <p:nvPr/>
        </p:nvSpPr>
        <p:spPr>
          <a:xfrm>
            <a:off x="548640" y="1691640"/>
            <a:ext cx="3520440" cy="1417320"/>
          </a:xfrm>
          <a:prstGeom prst="roundRect">
            <a:avLst>
              <a:gd name="adj" fmla="val 6452"/>
            </a:avLst>
          </a:prstGeom>
          <a:solidFill>
            <a:srgbClr val="F3FAF9"/>
          </a:solidFill>
          <a:ln w="12700">
            <a:solidFill>
              <a:srgbClr val="DCEDEB"/>
            </a:solidFill>
            <a:prstDash val="solid"/>
          </a:ln>
        </p:spPr>
      </p:sp>
      <p:sp>
        <p:nvSpPr>
          <p:cNvPr id="5" name="Shape 3"/>
          <p:cNvSpPr/>
          <p:nvPr/>
        </p:nvSpPr>
        <p:spPr>
          <a:xfrm>
            <a:off x="749808" y="1947672"/>
            <a:ext cx="566928" cy="566928"/>
          </a:xfrm>
          <a:prstGeom prst="ellipse">
            <a:avLst/>
          </a:prstGeom>
          <a:solidFill>
            <a:srgbClr val="0B7285"/>
          </a:solidFill>
          <a:ln/>
        </p:spPr>
      </p:sp>
      <p:pic>
        <p:nvPicPr>
          <p:cNvPr id="6" name="Image 0" descr="/home/claude/hera_pptx/icons/shield.png">    </p:cNvPr>
          <p:cNvPicPr>
            <a:picLocks noChangeAspect="1"/>
          </p:cNvPicPr>
          <p:nvPr/>
        </p:nvPicPr>
        <p:blipFill>
          <a:blip r:embed="rId1"/>
          <a:stretch>
            <a:fillRect/>
          </a:stretch>
        </p:blipFill>
        <p:spPr>
          <a:xfrm>
            <a:off x="891540" y="2089404"/>
            <a:ext cx="283464" cy="283464"/>
          </a:xfrm>
          <a:prstGeom prst="rect">
            <a:avLst/>
          </a:prstGeom>
        </p:spPr>
      </p:pic>
      <p:sp>
        <p:nvSpPr>
          <p:cNvPr id="7" name="Text 4"/>
          <p:cNvSpPr/>
          <p:nvPr/>
        </p:nvSpPr>
        <p:spPr>
          <a:xfrm>
            <a:off x="1463040" y="18288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Input Guardrail</a:t>
            </a:r>
            <a:endParaRPr lang="en-US" sz="1300" dirty="0"/>
          </a:p>
        </p:txBody>
      </p:sp>
      <p:sp>
        <p:nvSpPr>
          <p:cNvPr id="8" name="Text 5"/>
          <p:cNvSpPr/>
          <p:nvPr/>
        </p:nvSpPr>
        <p:spPr>
          <a:xfrm>
            <a:off x="777240" y="23774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Chặn yêu cầu ngoài phạm vi hành chính, prompt injection, lạm dụng hệ thống.</a:t>
            </a:r>
            <a:endParaRPr lang="en-US" sz="1000" dirty="0"/>
          </a:p>
        </p:txBody>
      </p:sp>
      <p:sp>
        <p:nvSpPr>
          <p:cNvPr id="9" name="Shape 6"/>
          <p:cNvSpPr/>
          <p:nvPr/>
        </p:nvSpPr>
        <p:spPr>
          <a:xfrm>
            <a:off x="4251960" y="1691640"/>
            <a:ext cx="3520440" cy="1417320"/>
          </a:xfrm>
          <a:prstGeom prst="roundRect">
            <a:avLst>
              <a:gd name="adj" fmla="val 6452"/>
            </a:avLst>
          </a:prstGeom>
          <a:solidFill>
            <a:srgbClr val="F3FAF9"/>
          </a:solidFill>
          <a:ln w="12700">
            <a:solidFill>
              <a:srgbClr val="DCEDEB"/>
            </a:solidFill>
            <a:prstDash val="solid"/>
          </a:ln>
        </p:spPr>
      </p:sp>
      <p:sp>
        <p:nvSpPr>
          <p:cNvPr id="10" name="Shape 7"/>
          <p:cNvSpPr/>
          <p:nvPr/>
        </p:nvSpPr>
        <p:spPr>
          <a:xfrm>
            <a:off x="4453128" y="1947672"/>
            <a:ext cx="566928" cy="566928"/>
          </a:xfrm>
          <a:prstGeom prst="ellipse">
            <a:avLst/>
          </a:prstGeom>
          <a:solidFill>
            <a:srgbClr val="0B7285"/>
          </a:solidFill>
          <a:ln/>
        </p:spPr>
      </p:sp>
      <p:pic>
        <p:nvPicPr>
          <p:cNvPr id="11" name="Image 1" descr="/home/claude/hera_pptx/icons/checkCircle.png">    </p:cNvPr>
          <p:cNvPicPr>
            <a:picLocks noChangeAspect="1"/>
          </p:cNvPicPr>
          <p:nvPr/>
        </p:nvPicPr>
        <p:blipFill>
          <a:blip r:embed="rId2"/>
          <a:stretch>
            <a:fillRect/>
          </a:stretch>
        </p:blipFill>
        <p:spPr>
          <a:xfrm>
            <a:off x="4594860" y="2089404"/>
            <a:ext cx="283464" cy="283464"/>
          </a:xfrm>
          <a:prstGeom prst="rect">
            <a:avLst/>
          </a:prstGeom>
        </p:spPr>
      </p:pic>
      <p:sp>
        <p:nvSpPr>
          <p:cNvPr id="12" name="Text 8"/>
          <p:cNvSpPr/>
          <p:nvPr/>
        </p:nvSpPr>
        <p:spPr>
          <a:xfrm>
            <a:off x="5166360" y="18288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Output Guardrail</a:t>
            </a:r>
            <a:endParaRPr lang="en-US" sz="1300" dirty="0"/>
          </a:p>
        </p:txBody>
      </p:sp>
      <p:sp>
        <p:nvSpPr>
          <p:cNvPr id="13" name="Text 9"/>
          <p:cNvSpPr/>
          <p:nvPr/>
        </p:nvSpPr>
        <p:spPr>
          <a:xfrm>
            <a:off x="4480560" y="23774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Câu trả lời có grounding bắt buộc phải có citation, nếu không → từ chối.</a:t>
            </a:r>
            <a:endParaRPr lang="en-US" sz="1000" dirty="0"/>
          </a:p>
        </p:txBody>
      </p:sp>
      <p:sp>
        <p:nvSpPr>
          <p:cNvPr id="14" name="Shape 10"/>
          <p:cNvSpPr/>
          <p:nvPr/>
        </p:nvSpPr>
        <p:spPr>
          <a:xfrm>
            <a:off x="7955280" y="1691640"/>
            <a:ext cx="3520440" cy="1417320"/>
          </a:xfrm>
          <a:prstGeom prst="roundRect">
            <a:avLst>
              <a:gd name="adj" fmla="val 6452"/>
            </a:avLst>
          </a:prstGeom>
          <a:solidFill>
            <a:srgbClr val="F3FAF9"/>
          </a:solidFill>
          <a:ln w="12700">
            <a:solidFill>
              <a:srgbClr val="DCEDEB"/>
            </a:solidFill>
            <a:prstDash val="solid"/>
          </a:ln>
        </p:spPr>
      </p:sp>
      <p:sp>
        <p:nvSpPr>
          <p:cNvPr id="15" name="Shape 11"/>
          <p:cNvSpPr/>
          <p:nvPr/>
        </p:nvSpPr>
        <p:spPr>
          <a:xfrm>
            <a:off x="8156448" y="1947672"/>
            <a:ext cx="566928" cy="566928"/>
          </a:xfrm>
          <a:prstGeom prst="ellipse">
            <a:avLst/>
          </a:prstGeom>
          <a:solidFill>
            <a:srgbClr val="E8544E"/>
          </a:solidFill>
          <a:ln/>
        </p:spPr>
      </p:sp>
      <p:pic>
        <p:nvPicPr>
          <p:cNvPr id="16" name="Image 2" descr="/home/claude/hera_pptx/icons/ambulance.png">    </p:cNvPr>
          <p:cNvPicPr>
            <a:picLocks noChangeAspect="1"/>
          </p:cNvPicPr>
          <p:nvPr/>
        </p:nvPicPr>
        <p:blipFill>
          <a:blip r:embed="rId3"/>
          <a:stretch>
            <a:fillRect/>
          </a:stretch>
        </p:blipFill>
        <p:spPr>
          <a:xfrm>
            <a:off x="8298180" y="2089404"/>
            <a:ext cx="283464" cy="283464"/>
          </a:xfrm>
          <a:prstGeom prst="rect">
            <a:avLst/>
          </a:prstGeom>
        </p:spPr>
      </p:pic>
      <p:sp>
        <p:nvSpPr>
          <p:cNvPr id="17" name="Text 12"/>
          <p:cNvSpPr/>
          <p:nvPr/>
        </p:nvSpPr>
        <p:spPr>
          <a:xfrm>
            <a:off x="8869680" y="18288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Emergency Detector</a:t>
            </a:r>
            <a:endParaRPr lang="en-US" sz="1300" dirty="0"/>
          </a:p>
        </p:txBody>
      </p:sp>
      <p:sp>
        <p:nvSpPr>
          <p:cNvPr id="18" name="Text 13"/>
          <p:cNvSpPr/>
          <p:nvPr/>
        </p:nvSpPr>
        <p:spPr>
          <a:xfrm>
            <a:off x="8183880" y="23774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Lớp deterministic an toàn cao, có thể bổ sung bởi model routing.</a:t>
            </a:r>
            <a:endParaRPr lang="en-US" sz="1000" dirty="0"/>
          </a:p>
        </p:txBody>
      </p:sp>
      <p:sp>
        <p:nvSpPr>
          <p:cNvPr id="19" name="Shape 14"/>
          <p:cNvSpPr/>
          <p:nvPr/>
        </p:nvSpPr>
        <p:spPr>
          <a:xfrm>
            <a:off x="548640" y="3291840"/>
            <a:ext cx="3520440" cy="1417320"/>
          </a:xfrm>
          <a:prstGeom prst="roundRect">
            <a:avLst>
              <a:gd name="adj" fmla="val 6452"/>
            </a:avLst>
          </a:prstGeom>
          <a:solidFill>
            <a:srgbClr val="F3FAF9"/>
          </a:solidFill>
          <a:ln w="12700">
            <a:solidFill>
              <a:srgbClr val="DCEDEB"/>
            </a:solidFill>
            <a:prstDash val="solid"/>
          </a:ln>
        </p:spPr>
      </p:sp>
      <p:sp>
        <p:nvSpPr>
          <p:cNvPr id="20" name="Shape 15"/>
          <p:cNvSpPr/>
          <p:nvPr/>
        </p:nvSpPr>
        <p:spPr>
          <a:xfrm>
            <a:off x="749808" y="3547872"/>
            <a:ext cx="566928" cy="566928"/>
          </a:xfrm>
          <a:prstGeom prst="ellipse">
            <a:avLst/>
          </a:prstGeom>
          <a:solidFill>
            <a:srgbClr val="0B7285"/>
          </a:solidFill>
          <a:ln/>
        </p:spPr>
      </p:sp>
      <p:pic>
        <p:nvPicPr>
          <p:cNvPr id="21" name="Image 3" descr="/home/claude/hera_pptx/icons/handshake.png">    </p:cNvPr>
          <p:cNvPicPr>
            <a:picLocks noChangeAspect="1"/>
          </p:cNvPicPr>
          <p:nvPr/>
        </p:nvPicPr>
        <p:blipFill>
          <a:blip r:embed="rId4"/>
          <a:stretch>
            <a:fillRect/>
          </a:stretch>
        </p:blipFill>
        <p:spPr>
          <a:xfrm>
            <a:off x="891540" y="3689604"/>
            <a:ext cx="283464" cy="283464"/>
          </a:xfrm>
          <a:prstGeom prst="rect">
            <a:avLst/>
          </a:prstGeom>
        </p:spPr>
      </p:pic>
      <p:sp>
        <p:nvSpPr>
          <p:cNvPr id="22" name="Text 16"/>
          <p:cNvSpPr/>
          <p:nvPr/>
        </p:nvSpPr>
        <p:spPr>
          <a:xfrm>
            <a:off x="1463040" y="34290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Handoff Service</a:t>
            </a:r>
            <a:endParaRPr lang="en-US" sz="1300" dirty="0"/>
          </a:p>
        </p:txBody>
      </p:sp>
      <p:sp>
        <p:nvSpPr>
          <p:cNvPr id="23" name="Text 17"/>
          <p:cNvSpPr/>
          <p:nvPr/>
        </p:nvSpPr>
        <p:spPr>
          <a:xfrm>
            <a:off x="777240" y="39776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Đưa người dùng về kênh chính thức khi cần xác nhận nghiệp vụ.</a:t>
            </a:r>
            <a:endParaRPr lang="en-US" sz="1000" dirty="0"/>
          </a:p>
        </p:txBody>
      </p:sp>
      <p:sp>
        <p:nvSpPr>
          <p:cNvPr id="24" name="Shape 18"/>
          <p:cNvSpPr/>
          <p:nvPr/>
        </p:nvSpPr>
        <p:spPr>
          <a:xfrm>
            <a:off x="4251960" y="3291840"/>
            <a:ext cx="3520440" cy="1417320"/>
          </a:xfrm>
          <a:prstGeom prst="roundRect">
            <a:avLst>
              <a:gd name="adj" fmla="val 6452"/>
            </a:avLst>
          </a:prstGeom>
          <a:solidFill>
            <a:srgbClr val="F3FAF9"/>
          </a:solidFill>
          <a:ln w="12700">
            <a:solidFill>
              <a:srgbClr val="DCEDEB"/>
            </a:solidFill>
            <a:prstDash val="solid"/>
          </a:ln>
        </p:spPr>
      </p:sp>
      <p:sp>
        <p:nvSpPr>
          <p:cNvPr id="25" name="Shape 19"/>
          <p:cNvSpPr/>
          <p:nvPr/>
        </p:nvSpPr>
        <p:spPr>
          <a:xfrm>
            <a:off x="4453128" y="3547872"/>
            <a:ext cx="566928" cy="566928"/>
          </a:xfrm>
          <a:prstGeom prst="ellipse">
            <a:avLst/>
          </a:prstGeom>
          <a:solidFill>
            <a:srgbClr val="0B7285"/>
          </a:solidFill>
          <a:ln/>
        </p:spPr>
      </p:sp>
      <p:pic>
        <p:nvPicPr>
          <p:cNvPr id="26" name="Image 4" descr="/home/claude/hera_pptx/icons/lock.png">    </p:cNvPr>
          <p:cNvPicPr>
            <a:picLocks noChangeAspect="1"/>
          </p:cNvPicPr>
          <p:nvPr/>
        </p:nvPicPr>
        <p:blipFill>
          <a:blip r:embed="rId5"/>
          <a:stretch>
            <a:fillRect/>
          </a:stretch>
        </p:blipFill>
        <p:spPr>
          <a:xfrm>
            <a:off x="4594860" y="3689604"/>
            <a:ext cx="283464" cy="283464"/>
          </a:xfrm>
          <a:prstGeom prst="rect">
            <a:avLst/>
          </a:prstGeom>
        </p:spPr>
      </p:pic>
      <p:sp>
        <p:nvSpPr>
          <p:cNvPr id="27" name="Text 20"/>
          <p:cNvSpPr/>
          <p:nvPr/>
        </p:nvSpPr>
        <p:spPr>
          <a:xfrm>
            <a:off x="5166360" y="34290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Privacy by Design</a:t>
            </a:r>
            <a:endParaRPr lang="en-US" sz="1300" dirty="0"/>
          </a:p>
        </p:txBody>
      </p:sp>
      <p:sp>
        <p:nvSpPr>
          <p:cNvPr id="28" name="Text 21"/>
          <p:cNvSpPr/>
          <p:nvPr/>
        </p:nvSpPr>
        <p:spPr>
          <a:xfrm>
            <a:off x="4480560" y="39776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Họ tên, SĐT, CCCD, mã BHYT xử lý bằng HMAC hash — không đưa raw PII vào LLM.</a:t>
            </a:r>
            <a:endParaRPr lang="en-US" sz="1000" dirty="0"/>
          </a:p>
        </p:txBody>
      </p:sp>
      <p:sp>
        <p:nvSpPr>
          <p:cNvPr id="29" name="Shape 22"/>
          <p:cNvSpPr/>
          <p:nvPr/>
        </p:nvSpPr>
        <p:spPr>
          <a:xfrm>
            <a:off x="7955280" y="3291840"/>
            <a:ext cx="3520440" cy="1417320"/>
          </a:xfrm>
          <a:prstGeom prst="roundRect">
            <a:avLst>
              <a:gd name="adj" fmla="val 6452"/>
            </a:avLst>
          </a:prstGeom>
          <a:solidFill>
            <a:srgbClr val="F3FAF9"/>
          </a:solidFill>
          <a:ln w="12700">
            <a:solidFill>
              <a:srgbClr val="DCEDEB"/>
            </a:solidFill>
            <a:prstDash val="solid"/>
          </a:ln>
        </p:spPr>
      </p:sp>
      <p:sp>
        <p:nvSpPr>
          <p:cNvPr id="30" name="Shape 23"/>
          <p:cNvSpPr/>
          <p:nvPr/>
        </p:nvSpPr>
        <p:spPr>
          <a:xfrm>
            <a:off x="8156448" y="3547872"/>
            <a:ext cx="566928" cy="566928"/>
          </a:xfrm>
          <a:prstGeom prst="ellipse">
            <a:avLst/>
          </a:prstGeom>
          <a:solidFill>
            <a:srgbClr val="E8544E"/>
          </a:solidFill>
          <a:ln/>
        </p:spPr>
      </p:sp>
      <p:pic>
        <p:nvPicPr>
          <p:cNvPr id="31" name="Image 5" descr="/home/claude/hera_pptx/icons/userShield.png">    </p:cNvPr>
          <p:cNvPicPr>
            <a:picLocks noChangeAspect="1"/>
          </p:cNvPicPr>
          <p:nvPr/>
        </p:nvPicPr>
        <p:blipFill>
          <a:blip r:embed="rId6"/>
          <a:stretch>
            <a:fillRect/>
          </a:stretch>
        </p:blipFill>
        <p:spPr>
          <a:xfrm>
            <a:off x="8298180" y="3689604"/>
            <a:ext cx="283464" cy="283464"/>
          </a:xfrm>
          <a:prstGeom prst="rect">
            <a:avLst/>
          </a:prstGeom>
        </p:spPr>
      </p:pic>
      <p:sp>
        <p:nvSpPr>
          <p:cNvPr id="32" name="Text 24"/>
          <p:cNvSpPr/>
          <p:nvPr/>
        </p:nvSpPr>
        <p:spPr>
          <a:xfrm>
            <a:off x="8869680" y="3429000"/>
            <a:ext cx="2468880" cy="365760"/>
          </a:xfrm>
          <a:prstGeom prst="rect">
            <a:avLst/>
          </a:prstGeom>
          <a:noFill/>
          <a:ln/>
        </p:spPr>
        <p:txBody>
          <a:bodyPr wrap="square" rtlCol="0" anchor="ctr"/>
          <a:lstStyle/>
          <a:p>
            <a:pPr indent="0" marL="0">
              <a:buNone/>
            </a:pPr>
            <a:r>
              <a:rPr lang="en-US" sz="1300" b="1" dirty="0">
                <a:solidFill>
                  <a:srgbClr val="13292E"/>
                </a:solidFill>
                <a:latin typeface="Cambria" pitchFamily="34" charset="0"/>
                <a:ea typeface="Cambria" pitchFamily="34" charset="-122"/>
                <a:cs typeface="Cambria" pitchFamily="34" charset="-120"/>
              </a:rPr>
              <a:t>Safe Logging</a:t>
            </a:r>
            <a:endParaRPr lang="en-US" sz="1300" dirty="0"/>
          </a:p>
        </p:txBody>
      </p:sp>
      <p:sp>
        <p:nvSpPr>
          <p:cNvPr id="33" name="Text 25"/>
          <p:cNvSpPr/>
          <p:nvPr/>
        </p:nvSpPr>
        <p:spPr>
          <a:xfrm>
            <a:off x="8183880" y="3977640"/>
            <a:ext cx="3108960" cy="640080"/>
          </a:xfrm>
          <a:prstGeom prst="rect">
            <a:avLst/>
          </a:prstGeom>
          <a:noFill/>
          <a:ln/>
        </p:spPr>
        <p:txBody>
          <a:bodyPr wrap="square" rtlCol="0" anchor="ctr"/>
          <a:lstStyle/>
          <a:p>
            <a:pPr indent="0" marL="0">
              <a:lnSpc>
                <a:spcPts val="1300"/>
              </a:lnSpc>
              <a:buNone/>
            </a:pPr>
            <a:r>
              <a:rPr lang="en-US" sz="1000" dirty="0">
                <a:solidFill>
                  <a:srgbClr val="5B7278"/>
                </a:solidFill>
                <a:latin typeface="Calibri" pitchFamily="34" charset="0"/>
                <a:ea typeface="Calibri" pitchFamily="34" charset="-122"/>
                <a:cs typeface="Calibri" pitchFamily="34" charset="-120"/>
              </a:rPr>
              <a:t>Không log raw chat, API key, hold token; log chỉ giữ request ID, event, latency.</a:t>
            </a:r>
            <a:endParaRPr lang="en-US" sz="1000" dirty="0"/>
          </a:p>
        </p:txBody>
      </p:sp>
      <p:sp>
        <p:nvSpPr>
          <p:cNvPr id="34" name="Text 26"/>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35"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09 · BOOKING</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Booking prototype: có workflow, không vượt quy trình bệnh viện</a:t>
            </a:r>
            <a:endParaRPr lang="en-US" sz="3000" dirty="0"/>
          </a:p>
        </p:txBody>
      </p:sp>
      <p:sp>
        <p:nvSpPr>
          <p:cNvPr id="4" name="Text 2"/>
          <p:cNvSpPr/>
          <p:nvPr/>
        </p:nvSpPr>
        <p:spPr>
          <a:xfrm>
            <a:off x="548640" y="1600200"/>
            <a:ext cx="10607040" cy="411480"/>
          </a:xfrm>
          <a:prstGeom prst="rect">
            <a:avLst/>
          </a:prstGeom>
          <a:noFill/>
          <a:ln/>
        </p:spPr>
        <p:txBody>
          <a:bodyPr wrap="square" rtlCol="0" anchor="ctr"/>
          <a:lstStyle/>
          <a:p>
            <a:pPr indent="0" marL="0">
              <a:buNone/>
            </a:pPr>
            <a:r>
              <a:rPr lang="en-US" sz="1300" i="1" dirty="0">
                <a:solidFill>
                  <a:srgbClr val="5B7278"/>
                </a:solidFill>
                <a:latin typeface="Calibri" pitchFamily="34" charset="0"/>
                <a:ea typeface="Calibri" pitchFamily="34" charset="-122"/>
                <a:cs typeface="Calibri" pitchFamily="34" charset="-120"/>
              </a:rPr>
              <a:t>“Local prototype hold” mô phỏng giữ chỗ theo capacity — không tuyên bố đã đặt lịch thành công với bệnh viện.</a:t>
            </a:r>
            <a:endParaRPr lang="en-US" sz="1300" dirty="0"/>
          </a:p>
        </p:txBody>
      </p:sp>
      <p:sp>
        <p:nvSpPr>
          <p:cNvPr id="5" name="Shape 3"/>
          <p:cNvSpPr/>
          <p:nvPr/>
        </p:nvSpPr>
        <p:spPr>
          <a:xfrm>
            <a:off x="548640" y="2286000"/>
            <a:ext cx="822960" cy="822960"/>
          </a:xfrm>
          <a:prstGeom prst="ellipse">
            <a:avLst/>
          </a:prstGeom>
          <a:solidFill>
            <a:srgbClr val="0B7285"/>
          </a:solidFill>
          <a:ln/>
        </p:spPr>
      </p:sp>
      <p:pic>
        <p:nvPicPr>
          <p:cNvPr id="6" name="Image 0" descr="/home/claude/hera_pptx/icons/filter.png">    </p:cNvPr>
          <p:cNvPicPr>
            <a:picLocks noChangeAspect="1"/>
          </p:cNvPicPr>
          <p:nvPr/>
        </p:nvPicPr>
        <p:blipFill>
          <a:blip r:embed="rId1"/>
          <a:stretch>
            <a:fillRect/>
          </a:stretch>
        </p:blipFill>
        <p:spPr>
          <a:xfrm>
            <a:off x="754380" y="2491740"/>
            <a:ext cx="411480" cy="411480"/>
          </a:xfrm>
          <a:prstGeom prst="rect">
            <a:avLst/>
          </a:prstGeom>
        </p:spPr>
      </p:pic>
      <p:sp>
        <p:nvSpPr>
          <p:cNvPr id="7" name="Text 4"/>
          <p:cNvSpPr/>
          <p:nvPr/>
        </p:nvSpPr>
        <p:spPr>
          <a:xfrm>
            <a:off x="320040" y="3246120"/>
            <a:ext cx="2423160" cy="685800"/>
          </a:xfrm>
          <a:prstGeom prst="rect">
            <a:avLst/>
          </a:prstGeom>
          <a:noFill/>
          <a:ln/>
        </p:spPr>
        <p:txBody>
          <a:bodyPr wrap="square" rtlCol="0" anchor="ctr"/>
          <a:lstStyle/>
          <a:p>
            <a:pPr algn="ctr" indent="0" marL="0">
              <a:lnSpc>
                <a:spcPts val="1300"/>
              </a:lnSpc>
              <a:buNone/>
            </a:pPr>
            <a:r>
              <a:rPr lang="en-US" sz="1100" b="1" dirty="0">
                <a:solidFill>
                  <a:srgbClr val="13292E"/>
                </a:solidFill>
                <a:latin typeface="Calibri" pitchFamily="34" charset="0"/>
                <a:ea typeface="Calibri" pitchFamily="34" charset="-122"/>
                <a:cs typeface="Calibri" pitchFamily="34" charset="-120"/>
              </a:rPr>
              <a:t>Lọc bác sĩ / ngày / ca</a:t>
            </a:r>
            <a:endParaRPr lang="en-US" sz="1100" dirty="0"/>
          </a:p>
        </p:txBody>
      </p:sp>
      <p:sp>
        <p:nvSpPr>
          <p:cNvPr id="8" name="Text 5"/>
          <p:cNvSpPr/>
          <p:nvPr/>
        </p:nvSpPr>
        <p:spPr>
          <a:xfrm>
            <a:off x="1417320" y="2359152"/>
            <a:ext cx="320040" cy="640080"/>
          </a:xfrm>
          <a:prstGeom prst="rect">
            <a:avLst/>
          </a:prstGeom>
          <a:noFill/>
          <a:ln/>
        </p:spPr>
        <p:txBody>
          <a:bodyPr wrap="square" rtlCol="0" anchor="ctr"/>
          <a:lstStyle/>
          <a:p>
            <a:pPr algn="ctr" indent="0" marL="0">
              <a:buNone/>
            </a:pPr>
            <a:r>
              <a:rPr lang="en-US" sz="2000" b="1" dirty="0">
                <a:solidFill>
                  <a:srgbClr val="4CB5AE"/>
                </a:solidFill>
                <a:latin typeface="Cambria" pitchFamily="34" charset="0"/>
                <a:ea typeface="Cambria" pitchFamily="34" charset="-122"/>
                <a:cs typeface="Cambria" pitchFamily="34" charset="-120"/>
              </a:rPr>
              <a:t>→</a:t>
            </a:r>
            <a:endParaRPr lang="en-US" sz="2000" dirty="0"/>
          </a:p>
        </p:txBody>
      </p:sp>
      <p:sp>
        <p:nvSpPr>
          <p:cNvPr id="9" name="Shape 6"/>
          <p:cNvSpPr/>
          <p:nvPr/>
        </p:nvSpPr>
        <p:spPr>
          <a:xfrm>
            <a:off x="2651760" y="2286000"/>
            <a:ext cx="822960" cy="822960"/>
          </a:xfrm>
          <a:prstGeom prst="ellipse">
            <a:avLst/>
          </a:prstGeom>
          <a:solidFill>
            <a:srgbClr val="0B7285"/>
          </a:solidFill>
          <a:ln/>
        </p:spPr>
      </p:sp>
      <p:pic>
        <p:nvPicPr>
          <p:cNvPr id="10" name="Image 1" descr="/home/claude/hera_pptx/icons/calendar.png">    </p:cNvPr>
          <p:cNvPicPr>
            <a:picLocks noChangeAspect="1"/>
          </p:cNvPicPr>
          <p:nvPr/>
        </p:nvPicPr>
        <p:blipFill>
          <a:blip r:embed="rId2"/>
          <a:stretch>
            <a:fillRect/>
          </a:stretch>
        </p:blipFill>
        <p:spPr>
          <a:xfrm>
            <a:off x="2857500" y="2491740"/>
            <a:ext cx="411480" cy="411480"/>
          </a:xfrm>
          <a:prstGeom prst="rect">
            <a:avLst/>
          </a:prstGeom>
        </p:spPr>
      </p:pic>
      <p:sp>
        <p:nvSpPr>
          <p:cNvPr id="11" name="Text 7"/>
          <p:cNvSpPr/>
          <p:nvPr/>
        </p:nvSpPr>
        <p:spPr>
          <a:xfrm>
            <a:off x="2423160" y="3246120"/>
            <a:ext cx="2423160" cy="685800"/>
          </a:xfrm>
          <a:prstGeom prst="rect">
            <a:avLst/>
          </a:prstGeom>
          <a:noFill/>
          <a:ln/>
        </p:spPr>
        <p:txBody>
          <a:bodyPr wrap="square" rtlCol="0" anchor="ctr"/>
          <a:lstStyle/>
          <a:p>
            <a:pPr algn="ctr" indent="0" marL="0">
              <a:lnSpc>
                <a:spcPts val="1300"/>
              </a:lnSpc>
              <a:buNone/>
            </a:pPr>
            <a:r>
              <a:rPr lang="en-US" sz="1100" b="1" dirty="0">
                <a:solidFill>
                  <a:srgbClr val="13292E"/>
                </a:solidFill>
                <a:latin typeface="Calibri" pitchFamily="34" charset="0"/>
                <a:ea typeface="Calibri" pitchFamily="34" charset="-122"/>
                <a:cs typeface="Calibri" pitchFamily="34" charset="-120"/>
              </a:rPr>
              <a:t>Chọn ca còn chỗ</a:t>
            </a:r>
            <a:endParaRPr lang="en-US" sz="1100" dirty="0"/>
          </a:p>
        </p:txBody>
      </p:sp>
      <p:sp>
        <p:nvSpPr>
          <p:cNvPr id="12" name="Text 8"/>
          <p:cNvSpPr/>
          <p:nvPr/>
        </p:nvSpPr>
        <p:spPr>
          <a:xfrm>
            <a:off x="3520440" y="2359152"/>
            <a:ext cx="320040" cy="640080"/>
          </a:xfrm>
          <a:prstGeom prst="rect">
            <a:avLst/>
          </a:prstGeom>
          <a:noFill/>
          <a:ln/>
        </p:spPr>
        <p:txBody>
          <a:bodyPr wrap="square" rtlCol="0" anchor="ctr"/>
          <a:lstStyle/>
          <a:p>
            <a:pPr algn="ctr" indent="0" marL="0">
              <a:buNone/>
            </a:pPr>
            <a:r>
              <a:rPr lang="en-US" sz="2000" b="1" dirty="0">
                <a:solidFill>
                  <a:srgbClr val="4CB5AE"/>
                </a:solidFill>
                <a:latin typeface="Cambria" pitchFamily="34" charset="0"/>
                <a:ea typeface="Cambria" pitchFamily="34" charset="-122"/>
                <a:cs typeface="Cambria" pitchFamily="34" charset="-120"/>
              </a:rPr>
              <a:t>→</a:t>
            </a:r>
            <a:endParaRPr lang="en-US" sz="2000" dirty="0"/>
          </a:p>
        </p:txBody>
      </p:sp>
      <p:sp>
        <p:nvSpPr>
          <p:cNvPr id="13" name="Shape 9"/>
          <p:cNvSpPr/>
          <p:nvPr/>
        </p:nvSpPr>
        <p:spPr>
          <a:xfrm>
            <a:off x="4754880" y="2286000"/>
            <a:ext cx="822960" cy="822960"/>
          </a:xfrm>
          <a:prstGeom prst="ellipse">
            <a:avLst/>
          </a:prstGeom>
          <a:solidFill>
            <a:srgbClr val="0B7285"/>
          </a:solidFill>
          <a:ln/>
        </p:spPr>
      </p:sp>
      <p:pic>
        <p:nvPicPr>
          <p:cNvPr id="14" name="Image 2" descr="/home/claude/hera_pptx/icons/clipboard.png">    </p:cNvPr>
          <p:cNvPicPr>
            <a:picLocks noChangeAspect="1"/>
          </p:cNvPicPr>
          <p:nvPr/>
        </p:nvPicPr>
        <p:blipFill>
          <a:blip r:embed="rId3"/>
          <a:stretch>
            <a:fillRect/>
          </a:stretch>
        </p:blipFill>
        <p:spPr>
          <a:xfrm>
            <a:off x="4960620" y="2491740"/>
            <a:ext cx="411480" cy="411480"/>
          </a:xfrm>
          <a:prstGeom prst="rect">
            <a:avLst/>
          </a:prstGeom>
        </p:spPr>
      </p:pic>
      <p:sp>
        <p:nvSpPr>
          <p:cNvPr id="15" name="Text 10"/>
          <p:cNvSpPr/>
          <p:nvPr/>
        </p:nvSpPr>
        <p:spPr>
          <a:xfrm>
            <a:off x="4526280" y="3246120"/>
            <a:ext cx="2423160" cy="685800"/>
          </a:xfrm>
          <a:prstGeom prst="rect">
            <a:avLst/>
          </a:prstGeom>
          <a:noFill/>
          <a:ln/>
        </p:spPr>
        <p:txBody>
          <a:bodyPr wrap="square" rtlCol="0" anchor="ctr"/>
          <a:lstStyle/>
          <a:p>
            <a:pPr algn="ctr" indent="0" marL="0">
              <a:lnSpc>
                <a:spcPts val="1300"/>
              </a:lnSpc>
              <a:buNone/>
            </a:pPr>
            <a:r>
              <a:rPr lang="en-US" sz="1100" b="1" dirty="0">
                <a:solidFill>
                  <a:srgbClr val="13292E"/>
                </a:solidFill>
                <a:latin typeface="Calibri" pitchFamily="34" charset="0"/>
                <a:ea typeface="Calibri" pitchFamily="34" charset="-122"/>
                <a:cs typeface="Calibri" pitchFamily="34" charset="-120"/>
              </a:rPr>
              <a:t>Nhập thông tin tối thiểu</a:t>
            </a:r>
            <a:endParaRPr lang="en-US" sz="1100" dirty="0"/>
          </a:p>
        </p:txBody>
      </p:sp>
      <p:sp>
        <p:nvSpPr>
          <p:cNvPr id="16" name="Text 11"/>
          <p:cNvSpPr/>
          <p:nvPr/>
        </p:nvSpPr>
        <p:spPr>
          <a:xfrm>
            <a:off x="5623560" y="2359152"/>
            <a:ext cx="320040" cy="640080"/>
          </a:xfrm>
          <a:prstGeom prst="rect">
            <a:avLst/>
          </a:prstGeom>
          <a:noFill/>
          <a:ln/>
        </p:spPr>
        <p:txBody>
          <a:bodyPr wrap="square" rtlCol="0" anchor="ctr"/>
          <a:lstStyle/>
          <a:p>
            <a:pPr algn="ctr" indent="0" marL="0">
              <a:buNone/>
            </a:pPr>
            <a:r>
              <a:rPr lang="en-US" sz="2000" b="1" dirty="0">
                <a:solidFill>
                  <a:srgbClr val="4CB5AE"/>
                </a:solidFill>
                <a:latin typeface="Cambria" pitchFamily="34" charset="0"/>
                <a:ea typeface="Cambria" pitchFamily="34" charset="-122"/>
                <a:cs typeface="Cambria" pitchFamily="34" charset="-120"/>
              </a:rPr>
              <a:t>→</a:t>
            </a:r>
            <a:endParaRPr lang="en-US" sz="2000" dirty="0"/>
          </a:p>
        </p:txBody>
      </p:sp>
      <p:sp>
        <p:nvSpPr>
          <p:cNvPr id="17" name="Shape 12"/>
          <p:cNvSpPr/>
          <p:nvPr/>
        </p:nvSpPr>
        <p:spPr>
          <a:xfrm>
            <a:off x="6858000" y="2286000"/>
            <a:ext cx="822960" cy="822960"/>
          </a:xfrm>
          <a:prstGeom prst="ellipse">
            <a:avLst/>
          </a:prstGeom>
          <a:solidFill>
            <a:srgbClr val="0B7285"/>
          </a:solidFill>
          <a:ln/>
        </p:spPr>
      </p:sp>
      <p:pic>
        <p:nvPicPr>
          <p:cNvPr id="18" name="Image 3" descr="/home/claude/hera_pptx/icons/hourglass.png">    </p:cNvPr>
          <p:cNvPicPr>
            <a:picLocks noChangeAspect="1"/>
          </p:cNvPicPr>
          <p:nvPr/>
        </p:nvPicPr>
        <p:blipFill>
          <a:blip r:embed="rId4"/>
          <a:stretch>
            <a:fillRect/>
          </a:stretch>
        </p:blipFill>
        <p:spPr>
          <a:xfrm>
            <a:off x="7063740" y="2491740"/>
            <a:ext cx="411480" cy="411480"/>
          </a:xfrm>
          <a:prstGeom prst="rect">
            <a:avLst/>
          </a:prstGeom>
        </p:spPr>
      </p:pic>
      <p:sp>
        <p:nvSpPr>
          <p:cNvPr id="19" name="Text 13"/>
          <p:cNvSpPr/>
          <p:nvPr/>
        </p:nvSpPr>
        <p:spPr>
          <a:xfrm>
            <a:off x="6629400" y="3246120"/>
            <a:ext cx="2423160" cy="685800"/>
          </a:xfrm>
          <a:prstGeom prst="rect">
            <a:avLst/>
          </a:prstGeom>
          <a:noFill/>
          <a:ln/>
        </p:spPr>
        <p:txBody>
          <a:bodyPr wrap="square" rtlCol="0" anchor="ctr"/>
          <a:lstStyle/>
          <a:p>
            <a:pPr algn="ctr" indent="0" marL="0">
              <a:lnSpc>
                <a:spcPts val="1300"/>
              </a:lnSpc>
              <a:buNone/>
            </a:pPr>
            <a:r>
              <a:rPr lang="en-US" sz="1100" b="1" dirty="0">
                <a:solidFill>
                  <a:srgbClr val="13292E"/>
                </a:solidFill>
                <a:latin typeface="Calibri" pitchFamily="34" charset="0"/>
                <a:ea typeface="Calibri" pitchFamily="34" charset="-122"/>
                <a:cs typeface="Calibri" pitchFamily="34" charset="-120"/>
              </a:rPr>
              <a:t>Giữ chỗ tạm (TTL)</a:t>
            </a:r>
            <a:endParaRPr lang="en-US" sz="1100" dirty="0"/>
          </a:p>
        </p:txBody>
      </p:sp>
      <p:sp>
        <p:nvSpPr>
          <p:cNvPr id="20" name="Text 14"/>
          <p:cNvSpPr/>
          <p:nvPr/>
        </p:nvSpPr>
        <p:spPr>
          <a:xfrm>
            <a:off x="7726680" y="2359152"/>
            <a:ext cx="320040" cy="640080"/>
          </a:xfrm>
          <a:prstGeom prst="rect">
            <a:avLst/>
          </a:prstGeom>
          <a:noFill/>
          <a:ln/>
        </p:spPr>
        <p:txBody>
          <a:bodyPr wrap="square" rtlCol="0" anchor="ctr"/>
          <a:lstStyle/>
          <a:p>
            <a:pPr algn="ctr" indent="0" marL="0">
              <a:buNone/>
            </a:pPr>
            <a:r>
              <a:rPr lang="en-US" sz="2000" b="1" dirty="0">
                <a:solidFill>
                  <a:srgbClr val="4CB5AE"/>
                </a:solidFill>
                <a:latin typeface="Cambria" pitchFamily="34" charset="0"/>
                <a:ea typeface="Cambria" pitchFamily="34" charset="-122"/>
                <a:cs typeface="Cambria" pitchFamily="34" charset="-120"/>
              </a:rPr>
              <a:t>→</a:t>
            </a:r>
            <a:endParaRPr lang="en-US" sz="2000" dirty="0"/>
          </a:p>
        </p:txBody>
      </p:sp>
      <p:sp>
        <p:nvSpPr>
          <p:cNvPr id="21" name="Shape 15"/>
          <p:cNvSpPr/>
          <p:nvPr/>
        </p:nvSpPr>
        <p:spPr>
          <a:xfrm>
            <a:off x="8961120" y="2286000"/>
            <a:ext cx="822960" cy="822960"/>
          </a:xfrm>
          <a:prstGeom prst="ellipse">
            <a:avLst/>
          </a:prstGeom>
          <a:solidFill>
            <a:srgbClr val="E8544E"/>
          </a:solidFill>
          <a:ln/>
        </p:spPr>
      </p:sp>
      <p:pic>
        <p:nvPicPr>
          <p:cNvPr id="22" name="Image 4" descr="/home/claude/hera_pptx/icons/warning.png">    </p:cNvPr>
          <p:cNvPicPr>
            <a:picLocks noChangeAspect="1"/>
          </p:cNvPicPr>
          <p:nvPr/>
        </p:nvPicPr>
        <p:blipFill>
          <a:blip r:embed="rId5"/>
          <a:stretch>
            <a:fillRect/>
          </a:stretch>
        </p:blipFill>
        <p:spPr>
          <a:xfrm>
            <a:off x="9166860" y="2491740"/>
            <a:ext cx="411480" cy="411480"/>
          </a:xfrm>
          <a:prstGeom prst="rect">
            <a:avLst/>
          </a:prstGeom>
        </p:spPr>
      </p:pic>
      <p:sp>
        <p:nvSpPr>
          <p:cNvPr id="23" name="Text 16"/>
          <p:cNvSpPr/>
          <p:nvPr/>
        </p:nvSpPr>
        <p:spPr>
          <a:xfrm>
            <a:off x="8732520" y="3246120"/>
            <a:ext cx="2423160" cy="685800"/>
          </a:xfrm>
          <a:prstGeom prst="rect">
            <a:avLst/>
          </a:prstGeom>
          <a:noFill/>
          <a:ln/>
        </p:spPr>
        <p:txBody>
          <a:bodyPr wrap="square" rtlCol="0" anchor="ctr"/>
          <a:lstStyle/>
          <a:p>
            <a:pPr algn="ctr" indent="0" marL="0">
              <a:lnSpc>
                <a:spcPts val="1300"/>
              </a:lnSpc>
              <a:buNone/>
            </a:pPr>
            <a:r>
              <a:rPr lang="en-US" sz="1100" b="1" dirty="0">
                <a:solidFill>
                  <a:srgbClr val="13292E"/>
                </a:solidFill>
                <a:latin typeface="Calibri" pitchFamily="34" charset="0"/>
                <a:ea typeface="Calibri" pitchFamily="34" charset="-122"/>
                <a:cs typeface="Calibri" pitchFamily="34" charset="-120"/>
              </a:rPr>
              <a:t>Cảnh báo "chưa là lịch hẹn chính thức"</a:t>
            </a:r>
            <a:endParaRPr lang="en-US" sz="1100" dirty="0"/>
          </a:p>
        </p:txBody>
      </p:sp>
      <p:sp>
        <p:nvSpPr>
          <p:cNvPr id="24" name="Text 17"/>
          <p:cNvSpPr/>
          <p:nvPr/>
        </p:nvSpPr>
        <p:spPr>
          <a:xfrm>
            <a:off x="548640" y="4297680"/>
            <a:ext cx="7315200" cy="365760"/>
          </a:xfrm>
          <a:prstGeom prst="rect">
            <a:avLst/>
          </a:prstGeom>
          <a:noFill/>
          <a:ln/>
        </p:spPr>
        <p:txBody>
          <a:bodyPr wrap="square" rtlCol="0" anchor="ctr"/>
          <a:lstStyle/>
          <a:p>
            <a:pPr indent="0" marL="0">
              <a:buNone/>
            </a:pPr>
            <a:r>
              <a:rPr lang="en-US" sz="1500" b="1" dirty="0">
                <a:solidFill>
                  <a:srgbClr val="13292E"/>
                </a:solidFill>
                <a:latin typeface="Cambria" pitchFamily="34" charset="0"/>
                <a:ea typeface="Cambria" pitchFamily="34" charset="-122"/>
                <a:cs typeface="Cambria" pitchFamily="34" charset="-120"/>
              </a:rPr>
              <a:t>Bảo vệ kỹ thuật cho từng lượt giữ chỗ</a:t>
            </a:r>
            <a:endParaRPr lang="en-US" sz="1500" dirty="0"/>
          </a:p>
        </p:txBody>
      </p:sp>
      <p:sp>
        <p:nvSpPr>
          <p:cNvPr id="25" name="Shape 18"/>
          <p:cNvSpPr/>
          <p:nvPr/>
        </p:nvSpPr>
        <p:spPr>
          <a:xfrm>
            <a:off x="548640" y="4754880"/>
            <a:ext cx="1847088" cy="457200"/>
          </a:xfrm>
          <a:prstGeom prst="roundRect">
            <a:avLst>
              <a:gd name="adj" fmla="val 50000"/>
            </a:avLst>
          </a:prstGeom>
          <a:solidFill>
            <a:srgbClr val="FFFFFF"/>
          </a:solidFill>
          <a:ln w="12700">
            <a:solidFill>
              <a:srgbClr val="0B7285"/>
            </a:solidFill>
            <a:prstDash val="solid"/>
          </a:ln>
        </p:spPr>
      </p:sp>
      <p:sp>
        <p:nvSpPr>
          <p:cNvPr id="26" name="Text 19"/>
          <p:cNvSpPr/>
          <p:nvPr/>
        </p:nvSpPr>
        <p:spPr>
          <a:xfrm>
            <a:off x="548640" y="4754880"/>
            <a:ext cx="1847088" cy="457200"/>
          </a:xfrm>
          <a:prstGeom prst="rect">
            <a:avLst/>
          </a:prstGeom>
          <a:noFill/>
          <a:ln/>
        </p:spPr>
        <p:txBody>
          <a:bodyPr wrap="square" rtlCol="0" anchor="ctr"/>
          <a:lstStyle/>
          <a:p>
            <a:pPr algn="ctr" indent="0" marL="0">
              <a:buNone/>
            </a:pPr>
            <a:r>
              <a:rPr lang="en-US" sz="1050" b="1" dirty="0">
                <a:solidFill>
                  <a:srgbClr val="0B7285"/>
                </a:solidFill>
                <a:latin typeface="Calibri" pitchFamily="34" charset="0"/>
                <a:ea typeface="Calibri" pitchFamily="34" charset="-122"/>
                <a:cs typeface="Calibri" pitchFamily="34" charset="-120"/>
              </a:rPr>
              <a:t>TTL tự hết hạn</a:t>
            </a:r>
            <a:endParaRPr lang="en-US" sz="1050" dirty="0"/>
          </a:p>
        </p:txBody>
      </p:sp>
      <p:sp>
        <p:nvSpPr>
          <p:cNvPr id="27" name="Shape 20"/>
          <p:cNvSpPr/>
          <p:nvPr/>
        </p:nvSpPr>
        <p:spPr>
          <a:xfrm>
            <a:off x="2578608" y="4754880"/>
            <a:ext cx="2327148" cy="457200"/>
          </a:xfrm>
          <a:prstGeom prst="roundRect">
            <a:avLst>
              <a:gd name="adj" fmla="val 50000"/>
            </a:avLst>
          </a:prstGeom>
          <a:solidFill>
            <a:srgbClr val="FFFFFF"/>
          </a:solidFill>
          <a:ln w="12700">
            <a:solidFill>
              <a:srgbClr val="0B7285"/>
            </a:solidFill>
            <a:prstDash val="solid"/>
          </a:ln>
        </p:spPr>
      </p:sp>
      <p:sp>
        <p:nvSpPr>
          <p:cNvPr id="28" name="Text 21"/>
          <p:cNvSpPr/>
          <p:nvPr/>
        </p:nvSpPr>
        <p:spPr>
          <a:xfrm>
            <a:off x="2578608" y="4754880"/>
            <a:ext cx="2327148" cy="457200"/>
          </a:xfrm>
          <a:prstGeom prst="rect">
            <a:avLst/>
          </a:prstGeom>
          <a:noFill/>
          <a:ln/>
        </p:spPr>
        <p:txBody>
          <a:bodyPr wrap="square" rtlCol="0" anchor="ctr"/>
          <a:lstStyle/>
          <a:p>
            <a:pPr algn="ctr" indent="0" marL="0">
              <a:buNone/>
            </a:pPr>
            <a:r>
              <a:rPr lang="en-US" sz="1050" b="1" dirty="0">
                <a:solidFill>
                  <a:srgbClr val="0B7285"/>
                </a:solidFill>
                <a:latin typeface="Calibri" pitchFamily="34" charset="0"/>
                <a:ea typeface="Calibri" pitchFamily="34" charset="-122"/>
                <a:cs typeface="Calibri" pitchFamily="34" charset="-120"/>
              </a:rPr>
              <a:t>HMAC hash thông tin</a:t>
            </a:r>
            <a:endParaRPr lang="en-US" sz="1050" dirty="0"/>
          </a:p>
        </p:txBody>
      </p:sp>
      <p:sp>
        <p:nvSpPr>
          <p:cNvPr id="29" name="Shape 22"/>
          <p:cNvSpPr/>
          <p:nvPr/>
        </p:nvSpPr>
        <p:spPr>
          <a:xfrm>
            <a:off x="5088636" y="4754880"/>
            <a:ext cx="1943100" cy="457200"/>
          </a:xfrm>
          <a:prstGeom prst="roundRect">
            <a:avLst>
              <a:gd name="adj" fmla="val 50000"/>
            </a:avLst>
          </a:prstGeom>
          <a:solidFill>
            <a:srgbClr val="FFFFFF"/>
          </a:solidFill>
          <a:ln w="12700">
            <a:solidFill>
              <a:srgbClr val="0B7285"/>
            </a:solidFill>
            <a:prstDash val="solid"/>
          </a:ln>
        </p:spPr>
      </p:sp>
      <p:sp>
        <p:nvSpPr>
          <p:cNvPr id="30" name="Text 23"/>
          <p:cNvSpPr/>
          <p:nvPr/>
        </p:nvSpPr>
        <p:spPr>
          <a:xfrm>
            <a:off x="5088636" y="4754880"/>
            <a:ext cx="1943100" cy="457200"/>
          </a:xfrm>
          <a:prstGeom prst="rect">
            <a:avLst/>
          </a:prstGeom>
          <a:noFill/>
          <a:ln/>
        </p:spPr>
        <p:txBody>
          <a:bodyPr wrap="square" rtlCol="0" anchor="ctr"/>
          <a:lstStyle/>
          <a:p>
            <a:pPr algn="ctr" indent="0" marL="0">
              <a:buNone/>
            </a:pPr>
            <a:r>
              <a:rPr lang="en-US" sz="1050" b="1" dirty="0">
                <a:solidFill>
                  <a:srgbClr val="0B7285"/>
                </a:solidFill>
                <a:latin typeface="Calibri" pitchFamily="34" charset="0"/>
                <a:ea typeface="Calibri" pitchFamily="34" charset="-122"/>
                <a:cs typeface="Calibri" pitchFamily="34" charset="-120"/>
              </a:rPr>
              <a:t>Idempotency key</a:t>
            </a:r>
            <a:endParaRPr lang="en-US" sz="1050" dirty="0"/>
          </a:p>
        </p:txBody>
      </p:sp>
      <p:sp>
        <p:nvSpPr>
          <p:cNvPr id="31" name="Shape 24"/>
          <p:cNvSpPr/>
          <p:nvPr/>
        </p:nvSpPr>
        <p:spPr>
          <a:xfrm>
            <a:off x="7214616" y="4754880"/>
            <a:ext cx="1943100" cy="457200"/>
          </a:xfrm>
          <a:prstGeom prst="roundRect">
            <a:avLst>
              <a:gd name="adj" fmla="val 50000"/>
            </a:avLst>
          </a:prstGeom>
          <a:solidFill>
            <a:srgbClr val="FFFFFF"/>
          </a:solidFill>
          <a:ln w="12700">
            <a:solidFill>
              <a:srgbClr val="0B7285"/>
            </a:solidFill>
            <a:prstDash val="solid"/>
          </a:ln>
        </p:spPr>
      </p:sp>
      <p:sp>
        <p:nvSpPr>
          <p:cNvPr id="32" name="Text 25"/>
          <p:cNvSpPr/>
          <p:nvPr/>
        </p:nvSpPr>
        <p:spPr>
          <a:xfrm>
            <a:off x="7214616" y="4754880"/>
            <a:ext cx="1943100" cy="457200"/>
          </a:xfrm>
          <a:prstGeom prst="rect">
            <a:avLst/>
          </a:prstGeom>
          <a:noFill/>
          <a:ln/>
        </p:spPr>
        <p:txBody>
          <a:bodyPr wrap="square" rtlCol="0" anchor="ctr"/>
          <a:lstStyle/>
          <a:p>
            <a:pPr algn="ctr" indent="0" marL="0">
              <a:buNone/>
            </a:pPr>
            <a:r>
              <a:rPr lang="en-US" sz="1050" b="1" dirty="0">
                <a:solidFill>
                  <a:srgbClr val="0B7285"/>
                </a:solidFill>
                <a:latin typeface="Calibri" pitchFamily="34" charset="0"/>
                <a:ea typeface="Calibri" pitchFamily="34" charset="-122"/>
                <a:cs typeface="Calibri" pitchFamily="34" charset="-120"/>
              </a:rPr>
              <a:t>Quota / session</a:t>
            </a:r>
            <a:endParaRPr lang="en-US" sz="1050" dirty="0"/>
          </a:p>
        </p:txBody>
      </p:sp>
      <p:sp>
        <p:nvSpPr>
          <p:cNvPr id="33" name="Shape 26"/>
          <p:cNvSpPr/>
          <p:nvPr/>
        </p:nvSpPr>
        <p:spPr>
          <a:xfrm>
            <a:off x="9340596" y="4754880"/>
            <a:ext cx="3383280" cy="457200"/>
          </a:xfrm>
          <a:prstGeom prst="roundRect">
            <a:avLst>
              <a:gd name="adj" fmla="val 50000"/>
            </a:avLst>
          </a:prstGeom>
          <a:solidFill>
            <a:srgbClr val="FFFFFF"/>
          </a:solidFill>
          <a:ln w="12700">
            <a:solidFill>
              <a:srgbClr val="0B7285"/>
            </a:solidFill>
            <a:prstDash val="solid"/>
          </a:ln>
        </p:spPr>
      </p:sp>
      <p:sp>
        <p:nvSpPr>
          <p:cNvPr id="34" name="Text 27"/>
          <p:cNvSpPr/>
          <p:nvPr/>
        </p:nvSpPr>
        <p:spPr>
          <a:xfrm>
            <a:off x="9340596" y="4754880"/>
            <a:ext cx="3383280" cy="457200"/>
          </a:xfrm>
          <a:prstGeom prst="rect">
            <a:avLst/>
          </a:prstGeom>
          <a:noFill/>
          <a:ln/>
        </p:spPr>
        <p:txBody>
          <a:bodyPr wrap="square" rtlCol="0" anchor="ctr"/>
          <a:lstStyle/>
          <a:p>
            <a:pPr algn="ctr" indent="0" marL="0">
              <a:buNone/>
            </a:pPr>
            <a:r>
              <a:rPr lang="en-US" sz="1050" b="1" dirty="0">
                <a:solidFill>
                  <a:srgbClr val="0B7285"/>
                </a:solidFill>
                <a:latin typeface="Calibri" pitchFamily="34" charset="0"/>
                <a:ea typeface="Calibri" pitchFamily="34" charset="-122"/>
                <a:cs typeface="Calibri" pitchFamily="34" charset="-120"/>
              </a:rPr>
              <a:t>Transaction kiểm soát capacity</a:t>
            </a:r>
            <a:endParaRPr lang="en-US" sz="1050" dirty="0"/>
          </a:p>
        </p:txBody>
      </p:sp>
      <p:sp>
        <p:nvSpPr>
          <p:cNvPr id="35" name="Shape 28"/>
          <p:cNvSpPr/>
          <p:nvPr/>
        </p:nvSpPr>
        <p:spPr>
          <a:xfrm>
            <a:off x="548640" y="5532120"/>
            <a:ext cx="10881360" cy="868680"/>
          </a:xfrm>
          <a:prstGeom prst="roundRect">
            <a:avLst>
              <a:gd name="adj" fmla="val 8421"/>
            </a:avLst>
          </a:prstGeom>
          <a:solidFill>
            <a:srgbClr val="E8544E"/>
          </a:solidFill>
          <a:ln/>
        </p:spPr>
      </p:sp>
      <p:sp>
        <p:nvSpPr>
          <p:cNvPr id="36" name="Text 29"/>
          <p:cNvSpPr/>
          <p:nvPr/>
        </p:nvSpPr>
        <p:spPr>
          <a:xfrm>
            <a:off x="868680" y="5532120"/>
            <a:ext cx="10241280" cy="868680"/>
          </a:xfrm>
          <a:prstGeom prst="rect">
            <a:avLst/>
          </a:prstGeom>
          <a:noFill/>
          <a:ln/>
        </p:spPr>
        <p:txBody>
          <a:bodyPr wrap="square" rtlCol="0" anchor="ctr"/>
          <a:lstStyle/>
          <a:p>
            <a:pPr indent="0" marL="0">
              <a:lnSpc>
                <a:spcPts val="1600"/>
              </a:lnSpc>
              <a:buNone/>
            </a:pPr>
            <a:r>
              <a:rPr lang="en-US" sz="1250" b="1" i="1" dirty="0">
                <a:solidFill>
                  <a:srgbClr val="FFFFFF"/>
                </a:solidFill>
                <a:latin typeface="Calibri" pitchFamily="34" charset="0"/>
                <a:ea typeface="Calibri" pitchFamily="34" charset="-122"/>
                <a:cs typeface="Calibri" pitchFamily="34" charset="-120"/>
              </a:rPr>
              <a:t>Website bệnh viện nêu rõ: đặt hẹn chỉ có giá trị sau khi bệnh viện xác nhận. HERA tôn trọng điều đó — mọi điểm nhạy cảm trên giao diện đều có cảnh báo "bản demo".</a:t>
            </a:r>
            <a:endParaRPr lang="en-US" sz="1250" dirty="0"/>
          </a:p>
        </p:txBody>
      </p:sp>
      <p:sp>
        <p:nvSpPr>
          <p:cNvPr id="37" name="Text 30"/>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38" name="Text 3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10 · VẬN HÀNH</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Khả năng scale và triển khai thực tế</a:t>
            </a:r>
            <a:endParaRPr lang="en-US" sz="3000" dirty="0"/>
          </a:p>
        </p:txBody>
      </p:sp>
      <p:sp>
        <p:nvSpPr>
          <p:cNvPr id="4" name="Shape 2"/>
          <p:cNvSpPr/>
          <p:nvPr/>
        </p:nvSpPr>
        <p:spPr>
          <a:xfrm>
            <a:off x="548640" y="1737360"/>
            <a:ext cx="5257800" cy="1417320"/>
          </a:xfrm>
          <a:prstGeom prst="roundRect">
            <a:avLst>
              <a:gd name="adj" fmla="val 6452"/>
            </a:avLst>
          </a:prstGeom>
          <a:solidFill>
            <a:srgbClr val="F3FAF9"/>
          </a:solidFill>
          <a:ln w="12700">
            <a:solidFill>
              <a:srgbClr val="DCEDEB"/>
            </a:solidFill>
            <a:prstDash val="solid"/>
          </a:ln>
        </p:spPr>
      </p:sp>
      <p:sp>
        <p:nvSpPr>
          <p:cNvPr id="5" name="Shape 3"/>
          <p:cNvSpPr/>
          <p:nvPr/>
        </p:nvSpPr>
        <p:spPr>
          <a:xfrm>
            <a:off x="777240" y="2103120"/>
            <a:ext cx="685800" cy="685800"/>
          </a:xfrm>
          <a:prstGeom prst="ellipse">
            <a:avLst/>
          </a:prstGeom>
          <a:solidFill>
            <a:srgbClr val="0B7285"/>
          </a:solidFill>
          <a:ln/>
        </p:spPr>
      </p:sp>
      <p:pic>
        <p:nvPicPr>
          <p:cNvPr id="6" name="Image 0" descr="/home/claude/hera_pptx/icons/server.png">    </p:cNvPr>
          <p:cNvPicPr>
            <a:picLocks noChangeAspect="1"/>
          </p:cNvPicPr>
          <p:nvPr/>
        </p:nvPicPr>
        <p:blipFill>
          <a:blip r:embed="rId1"/>
          <a:stretch>
            <a:fillRect/>
          </a:stretch>
        </p:blipFill>
        <p:spPr>
          <a:xfrm>
            <a:off x="948690" y="2274570"/>
            <a:ext cx="342900" cy="342900"/>
          </a:xfrm>
          <a:prstGeom prst="rect">
            <a:avLst/>
          </a:prstGeom>
        </p:spPr>
      </p:pic>
      <p:sp>
        <p:nvSpPr>
          <p:cNvPr id="7" name="Text 4"/>
          <p:cNvSpPr/>
          <p:nvPr/>
        </p:nvSpPr>
        <p:spPr>
          <a:xfrm>
            <a:off x="1645920" y="1901952"/>
            <a:ext cx="3931920" cy="365760"/>
          </a:xfrm>
          <a:prstGeom prst="rect">
            <a:avLst/>
          </a:prstGeom>
          <a:noFill/>
          <a:ln/>
        </p:spPr>
        <p:txBody>
          <a:bodyPr wrap="square" rtlCol="0" anchor="ctr"/>
          <a:lstStyle/>
          <a:p>
            <a:pPr indent="0" marL="0">
              <a:buNone/>
            </a:pPr>
            <a:r>
              <a:rPr lang="en-US" sz="1400" b="1" dirty="0">
                <a:solidFill>
                  <a:srgbClr val="13292E"/>
                </a:solidFill>
                <a:latin typeface="Cambria" pitchFamily="34" charset="0"/>
                <a:ea typeface="Cambria" pitchFamily="34" charset="-122"/>
                <a:cs typeface="Cambria" pitchFamily="34" charset="-120"/>
              </a:rPr>
              <a:t>FastAPI × N replica</a:t>
            </a:r>
            <a:endParaRPr lang="en-US" sz="1400" dirty="0"/>
          </a:p>
        </p:txBody>
      </p:sp>
      <p:sp>
        <p:nvSpPr>
          <p:cNvPr id="8" name="Text 5"/>
          <p:cNvSpPr/>
          <p:nvPr/>
        </p:nvSpPr>
        <p:spPr>
          <a:xfrm>
            <a:off x="1645920" y="2286000"/>
            <a:ext cx="397764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State nằm ở PostgreSQL/Redis, backend scale ngang tự do.</a:t>
            </a:r>
            <a:endParaRPr lang="en-US" sz="1050" dirty="0"/>
          </a:p>
        </p:txBody>
      </p:sp>
      <p:sp>
        <p:nvSpPr>
          <p:cNvPr id="9" name="Shape 6"/>
          <p:cNvSpPr/>
          <p:nvPr/>
        </p:nvSpPr>
        <p:spPr>
          <a:xfrm>
            <a:off x="6035040" y="1737360"/>
            <a:ext cx="5257800" cy="1417320"/>
          </a:xfrm>
          <a:prstGeom prst="roundRect">
            <a:avLst>
              <a:gd name="adj" fmla="val 6452"/>
            </a:avLst>
          </a:prstGeom>
          <a:solidFill>
            <a:srgbClr val="F3FAF9"/>
          </a:solidFill>
          <a:ln w="12700">
            <a:solidFill>
              <a:srgbClr val="DCEDEB"/>
            </a:solidFill>
            <a:prstDash val="solid"/>
          </a:ln>
        </p:spPr>
      </p:sp>
      <p:sp>
        <p:nvSpPr>
          <p:cNvPr id="10" name="Shape 7"/>
          <p:cNvSpPr/>
          <p:nvPr/>
        </p:nvSpPr>
        <p:spPr>
          <a:xfrm>
            <a:off x="6263640" y="2103120"/>
            <a:ext cx="685800" cy="685800"/>
          </a:xfrm>
          <a:prstGeom prst="ellipse">
            <a:avLst/>
          </a:prstGeom>
          <a:solidFill>
            <a:srgbClr val="0B7285"/>
          </a:solidFill>
          <a:ln/>
        </p:spPr>
      </p:sp>
      <p:pic>
        <p:nvPicPr>
          <p:cNvPr id="11" name="Image 1" descr="/home/claude/hera_pptx/icons/database.png">    </p:cNvPr>
          <p:cNvPicPr>
            <a:picLocks noChangeAspect="1"/>
          </p:cNvPicPr>
          <p:nvPr/>
        </p:nvPicPr>
        <p:blipFill>
          <a:blip r:embed="rId2"/>
          <a:stretch>
            <a:fillRect/>
          </a:stretch>
        </p:blipFill>
        <p:spPr>
          <a:xfrm>
            <a:off x="6435090" y="2274570"/>
            <a:ext cx="342900" cy="342900"/>
          </a:xfrm>
          <a:prstGeom prst="rect">
            <a:avLst/>
          </a:prstGeom>
        </p:spPr>
      </p:pic>
      <p:sp>
        <p:nvSpPr>
          <p:cNvPr id="12" name="Text 8"/>
          <p:cNvSpPr/>
          <p:nvPr/>
        </p:nvSpPr>
        <p:spPr>
          <a:xfrm>
            <a:off x="7132320" y="1901952"/>
            <a:ext cx="3931920" cy="365760"/>
          </a:xfrm>
          <a:prstGeom prst="rect">
            <a:avLst/>
          </a:prstGeom>
          <a:noFill/>
          <a:ln/>
        </p:spPr>
        <p:txBody>
          <a:bodyPr wrap="square" rtlCol="0" anchor="ctr"/>
          <a:lstStyle/>
          <a:p>
            <a:pPr indent="0" marL="0">
              <a:buNone/>
            </a:pPr>
            <a:r>
              <a:rPr lang="en-US" sz="1400" b="1" dirty="0">
                <a:solidFill>
                  <a:srgbClr val="13292E"/>
                </a:solidFill>
                <a:latin typeface="Cambria" pitchFamily="34" charset="0"/>
                <a:ea typeface="Cambria" pitchFamily="34" charset="-122"/>
                <a:cs typeface="Cambria" pitchFamily="34" charset="-120"/>
              </a:rPr>
              <a:t>PostgreSQL + pgvector</a:t>
            </a:r>
            <a:endParaRPr lang="en-US" sz="1400" dirty="0"/>
          </a:p>
        </p:txBody>
      </p:sp>
      <p:sp>
        <p:nvSpPr>
          <p:cNvPr id="13" name="Text 9"/>
          <p:cNvSpPr/>
          <p:nvPr/>
        </p:nvSpPr>
        <p:spPr>
          <a:xfrm>
            <a:off x="7132320" y="2286000"/>
            <a:ext cx="397764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Dữ liệu chuẩn, vector knowledge, booking state.</a:t>
            </a:r>
            <a:endParaRPr lang="en-US" sz="1050" dirty="0"/>
          </a:p>
        </p:txBody>
      </p:sp>
      <p:sp>
        <p:nvSpPr>
          <p:cNvPr id="14" name="Shape 10"/>
          <p:cNvSpPr/>
          <p:nvPr/>
        </p:nvSpPr>
        <p:spPr>
          <a:xfrm>
            <a:off x="548640" y="3337560"/>
            <a:ext cx="5257800" cy="1417320"/>
          </a:xfrm>
          <a:prstGeom prst="roundRect">
            <a:avLst>
              <a:gd name="adj" fmla="val 6452"/>
            </a:avLst>
          </a:prstGeom>
          <a:solidFill>
            <a:srgbClr val="F3FAF9"/>
          </a:solidFill>
          <a:ln w="12700">
            <a:solidFill>
              <a:srgbClr val="DCEDEB"/>
            </a:solidFill>
            <a:prstDash val="solid"/>
          </a:ln>
        </p:spPr>
      </p:sp>
      <p:sp>
        <p:nvSpPr>
          <p:cNvPr id="15" name="Shape 11"/>
          <p:cNvSpPr/>
          <p:nvPr/>
        </p:nvSpPr>
        <p:spPr>
          <a:xfrm>
            <a:off x="777240" y="3703320"/>
            <a:ext cx="685800" cy="685800"/>
          </a:xfrm>
          <a:prstGeom prst="ellipse">
            <a:avLst/>
          </a:prstGeom>
          <a:solidFill>
            <a:srgbClr val="0B7285"/>
          </a:solidFill>
          <a:ln/>
        </p:spPr>
      </p:sp>
      <p:pic>
        <p:nvPicPr>
          <p:cNvPr id="16" name="Image 2" descr="/home/claude/hera_pptx/icons/sync.png">    </p:cNvPr>
          <p:cNvPicPr>
            <a:picLocks noChangeAspect="1"/>
          </p:cNvPicPr>
          <p:nvPr/>
        </p:nvPicPr>
        <p:blipFill>
          <a:blip r:embed="rId3"/>
          <a:stretch>
            <a:fillRect/>
          </a:stretch>
        </p:blipFill>
        <p:spPr>
          <a:xfrm>
            <a:off x="948690" y="3874770"/>
            <a:ext cx="342900" cy="342900"/>
          </a:xfrm>
          <a:prstGeom prst="rect">
            <a:avLst/>
          </a:prstGeom>
        </p:spPr>
      </p:pic>
      <p:sp>
        <p:nvSpPr>
          <p:cNvPr id="17" name="Text 12"/>
          <p:cNvSpPr/>
          <p:nvPr/>
        </p:nvSpPr>
        <p:spPr>
          <a:xfrm>
            <a:off x="1645920" y="3502152"/>
            <a:ext cx="3931920" cy="365760"/>
          </a:xfrm>
          <a:prstGeom prst="rect">
            <a:avLst/>
          </a:prstGeom>
          <a:noFill/>
          <a:ln/>
        </p:spPr>
        <p:txBody>
          <a:bodyPr wrap="square" rtlCol="0" anchor="ctr"/>
          <a:lstStyle/>
          <a:p>
            <a:pPr indent="0" marL="0">
              <a:buNone/>
            </a:pPr>
            <a:r>
              <a:rPr lang="en-US" sz="1400" b="1" dirty="0">
                <a:solidFill>
                  <a:srgbClr val="13292E"/>
                </a:solidFill>
                <a:latin typeface="Cambria" pitchFamily="34" charset="0"/>
                <a:ea typeface="Cambria" pitchFamily="34" charset="-122"/>
                <a:cs typeface="Cambria" pitchFamily="34" charset="-120"/>
              </a:rPr>
              <a:t>Redis</a:t>
            </a:r>
            <a:endParaRPr lang="en-US" sz="1400" dirty="0"/>
          </a:p>
        </p:txBody>
      </p:sp>
      <p:sp>
        <p:nvSpPr>
          <p:cNvPr id="18" name="Text 13"/>
          <p:cNvSpPr/>
          <p:nvPr/>
        </p:nvSpPr>
        <p:spPr>
          <a:xfrm>
            <a:off x="1645920" y="3886200"/>
            <a:ext cx="397764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Cache, rate-limit, ngữ cảnh hội thoại ngắn hạn dùng chung.</a:t>
            </a:r>
            <a:endParaRPr lang="en-US" sz="1050" dirty="0"/>
          </a:p>
        </p:txBody>
      </p:sp>
      <p:sp>
        <p:nvSpPr>
          <p:cNvPr id="19" name="Shape 14"/>
          <p:cNvSpPr/>
          <p:nvPr/>
        </p:nvSpPr>
        <p:spPr>
          <a:xfrm>
            <a:off x="6035040" y="3337560"/>
            <a:ext cx="5257800" cy="1417320"/>
          </a:xfrm>
          <a:prstGeom prst="roundRect">
            <a:avLst>
              <a:gd name="adj" fmla="val 6452"/>
            </a:avLst>
          </a:prstGeom>
          <a:solidFill>
            <a:srgbClr val="F3FAF9"/>
          </a:solidFill>
          <a:ln w="12700">
            <a:solidFill>
              <a:srgbClr val="DCEDEB"/>
            </a:solidFill>
            <a:prstDash val="solid"/>
          </a:ln>
        </p:spPr>
      </p:sp>
      <p:sp>
        <p:nvSpPr>
          <p:cNvPr id="20" name="Shape 15"/>
          <p:cNvSpPr/>
          <p:nvPr/>
        </p:nvSpPr>
        <p:spPr>
          <a:xfrm>
            <a:off x="6263640" y="3703320"/>
            <a:ext cx="685800" cy="685800"/>
          </a:xfrm>
          <a:prstGeom prst="ellipse">
            <a:avLst/>
          </a:prstGeom>
          <a:solidFill>
            <a:srgbClr val="0B7285"/>
          </a:solidFill>
          <a:ln/>
        </p:spPr>
      </p:sp>
      <p:pic>
        <p:nvPicPr>
          <p:cNvPr id="21" name="Image 3" descr="/home/claude/hera_pptx/icons/network.png">    </p:cNvPr>
          <p:cNvPicPr>
            <a:picLocks noChangeAspect="1"/>
          </p:cNvPicPr>
          <p:nvPr/>
        </p:nvPicPr>
        <p:blipFill>
          <a:blip r:embed="rId4"/>
          <a:stretch>
            <a:fillRect/>
          </a:stretch>
        </p:blipFill>
        <p:spPr>
          <a:xfrm>
            <a:off x="6435090" y="3874770"/>
            <a:ext cx="342900" cy="342900"/>
          </a:xfrm>
          <a:prstGeom prst="rect">
            <a:avLst/>
          </a:prstGeom>
        </p:spPr>
      </p:pic>
      <p:sp>
        <p:nvSpPr>
          <p:cNvPr id="22" name="Text 16"/>
          <p:cNvSpPr/>
          <p:nvPr/>
        </p:nvSpPr>
        <p:spPr>
          <a:xfrm>
            <a:off x="7132320" y="3502152"/>
            <a:ext cx="3931920" cy="365760"/>
          </a:xfrm>
          <a:prstGeom prst="rect">
            <a:avLst/>
          </a:prstGeom>
          <a:noFill/>
          <a:ln/>
        </p:spPr>
        <p:txBody>
          <a:bodyPr wrap="square" rtlCol="0" anchor="ctr"/>
          <a:lstStyle/>
          <a:p>
            <a:pPr indent="0" marL="0">
              <a:buNone/>
            </a:pPr>
            <a:r>
              <a:rPr lang="en-US" sz="1400" b="1" dirty="0">
                <a:solidFill>
                  <a:srgbClr val="13292E"/>
                </a:solidFill>
                <a:latin typeface="Cambria" pitchFamily="34" charset="0"/>
                <a:ea typeface="Cambria" pitchFamily="34" charset="-122"/>
                <a:cs typeface="Cambria" pitchFamily="34" charset="-120"/>
              </a:rPr>
              <a:t>Nginx → /readyz</a:t>
            </a:r>
            <a:endParaRPr lang="en-US" sz="1400" dirty="0"/>
          </a:p>
        </p:txBody>
      </p:sp>
      <p:sp>
        <p:nvSpPr>
          <p:cNvPr id="23" name="Text 17"/>
          <p:cNvSpPr/>
          <p:nvPr/>
        </p:nvSpPr>
        <p:spPr>
          <a:xfrm>
            <a:off x="7132320" y="3886200"/>
            <a:ext cx="397764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Chỉ route traffic tới instance vượt readiness (không chỉ /healthz).</a:t>
            </a:r>
            <a:endParaRPr lang="en-US" sz="1050" dirty="0"/>
          </a:p>
        </p:txBody>
      </p:sp>
      <p:sp>
        <p:nvSpPr>
          <p:cNvPr id="24" name="Text 18"/>
          <p:cNvSpPr/>
          <p:nvPr/>
        </p:nvSpPr>
        <p:spPr>
          <a:xfrm>
            <a:off x="548640" y="5029200"/>
            <a:ext cx="10881360" cy="502920"/>
          </a:xfrm>
          <a:prstGeom prst="rect">
            <a:avLst/>
          </a:prstGeom>
          <a:noFill/>
          <a:ln/>
        </p:spPr>
        <p:txBody>
          <a:bodyPr wrap="square" rtlCol="0" anchor="ctr"/>
          <a:lstStyle/>
          <a:p>
            <a:pPr indent="0" marL="0">
              <a:lnSpc>
                <a:spcPts val="1400"/>
              </a:lnSpc>
              <a:buNone/>
            </a:pPr>
            <a:r>
              <a:rPr lang="en-US" sz="1150" i="1" dirty="0">
                <a:solidFill>
                  <a:srgbClr val="5B7278"/>
                </a:solidFill>
                <a:latin typeface="Calibri" pitchFamily="34" charset="0"/>
                <a:ea typeface="Calibri" pitchFamily="34" charset="-122"/>
                <a:cs typeface="Calibri" pitchFamily="34" charset="-120"/>
              </a:rPr>
              <a:t>Readiness gate kiểm tra: PostgreSQL · Redis · Alembic revision · checksum dữ liệu · model/embedding config · lịch · emergency template · booking capacity.</a:t>
            </a:r>
            <a:endParaRPr lang="en-US" sz="1150" dirty="0"/>
          </a:p>
        </p:txBody>
      </p:sp>
      <p:sp>
        <p:nvSpPr>
          <p:cNvPr id="25" name="Shape 19"/>
          <p:cNvSpPr/>
          <p:nvPr/>
        </p:nvSpPr>
        <p:spPr>
          <a:xfrm>
            <a:off x="548640" y="5623560"/>
            <a:ext cx="10881360" cy="777240"/>
          </a:xfrm>
          <a:prstGeom prst="roundRect">
            <a:avLst>
              <a:gd name="adj" fmla="val 9412"/>
            </a:avLst>
          </a:prstGeom>
          <a:solidFill>
            <a:srgbClr val="0B7285"/>
          </a:solidFill>
          <a:ln/>
        </p:spPr>
      </p:sp>
      <p:sp>
        <p:nvSpPr>
          <p:cNvPr id="26" name="Text 20"/>
          <p:cNvSpPr/>
          <p:nvPr/>
        </p:nvSpPr>
        <p:spPr>
          <a:xfrm>
            <a:off x="822960" y="5623560"/>
            <a:ext cx="10332720" cy="777240"/>
          </a:xfrm>
          <a:prstGeom prst="rect">
            <a:avLst/>
          </a:prstGeom>
          <a:noFill/>
          <a:ln/>
        </p:spPr>
        <p:txBody>
          <a:bodyPr wrap="square"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Docker Compose · Alembic migration · seed archive · Makefile · deploy script · smoke test · stress test · backup/restore/rollback · monitoring stack.</a:t>
            </a:r>
            <a:endParaRPr lang="en-US" sz="1150" dirty="0"/>
          </a:p>
        </p:txBody>
      </p:sp>
      <p:sp>
        <p:nvSpPr>
          <p:cNvPr id="27" name="Text 21"/>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BFE3DF"/>
                </a:solidFill>
                <a:latin typeface="Calibri" pitchFamily="34" charset="0"/>
                <a:ea typeface="Calibri" pitchFamily="34" charset="-122"/>
                <a:cs typeface="Calibri" pitchFamily="34" charset="-120"/>
              </a:rPr>
              <a:t>HERA · Bệnh viện Tim Hà Nội</a:t>
            </a:r>
            <a:endParaRPr lang="en-US" sz="1000" dirty="0"/>
          </a:p>
        </p:txBody>
      </p:sp>
      <p:sp>
        <p:nvSpPr>
          <p:cNvPr id="28" name="Text 2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11 · ĐỐI CHIẾU</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Phần nào đã đáp ứng đề bài PROJECT_CHECK.md</a:t>
            </a:r>
            <a:endParaRPr lang="en-US" sz="3000" dirty="0"/>
          </a:p>
        </p:txBody>
      </p:sp>
      <p:sp>
        <p:nvSpPr>
          <p:cNvPr id="4" name="Shape 2"/>
          <p:cNvSpPr/>
          <p:nvPr/>
        </p:nvSpPr>
        <p:spPr>
          <a:xfrm>
            <a:off x="548640" y="1691640"/>
            <a:ext cx="10881360" cy="621792"/>
          </a:xfrm>
          <a:prstGeom prst="roundRect">
            <a:avLst>
              <a:gd name="adj" fmla="val 10294"/>
            </a:avLst>
          </a:prstGeom>
          <a:solidFill>
            <a:srgbClr val="FFFFFF"/>
          </a:solidFill>
          <a:ln w="9525">
            <a:solidFill>
              <a:srgbClr val="DCEDEB"/>
            </a:solidFill>
            <a:prstDash val="solid"/>
          </a:ln>
        </p:spPr>
      </p:sp>
      <p:sp>
        <p:nvSpPr>
          <p:cNvPr id="5" name="Text 3"/>
          <p:cNvSpPr/>
          <p:nvPr/>
        </p:nvSpPr>
        <p:spPr>
          <a:xfrm>
            <a:off x="777240" y="1691640"/>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Knowledge-based Q&amp;A</a:t>
            </a:r>
            <a:endParaRPr lang="en-US" sz="1200" dirty="0"/>
          </a:p>
        </p:txBody>
      </p:sp>
      <p:sp>
        <p:nvSpPr>
          <p:cNvPr id="6" name="Text 4"/>
          <p:cNvSpPr/>
          <p:nvPr/>
        </p:nvSpPr>
        <p:spPr>
          <a:xfrm>
            <a:off x="3520440" y="1691640"/>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RAG grounded + structured lookup cho giá / BHYT / lịch</a:t>
            </a:r>
            <a:endParaRPr lang="en-US" sz="1075" dirty="0"/>
          </a:p>
        </p:txBody>
      </p:sp>
      <p:sp>
        <p:nvSpPr>
          <p:cNvPr id="7" name="Shape 5"/>
          <p:cNvSpPr/>
          <p:nvPr/>
        </p:nvSpPr>
        <p:spPr>
          <a:xfrm>
            <a:off x="9281160" y="1783080"/>
            <a:ext cx="438912" cy="438912"/>
          </a:xfrm>
          <a:prstGeom prst="ellipse">
            <a:avLst/>
          </a:prstGeom>
          <a:solidFill>
            <a:srgbClr val="4CB5AE"/>
          </a:solidFill>
          <a:ln/>
        </p:spPr>
      </p:sp>
      <p:pic>
        <p:nvPicPr>
          <p:cNvPr id="8" name="Image 0" descr="/home/claude/hera_pptx/icons/checkCircle.png">    </p:cNvPr>
          <p:cNvPicPr>
            <a:picLocks noChangeAspect="1"/>
          </p:cNvPicPr>
          <p:nvPr/>
        </p:nvPicPr>
        <p:blipFill>
          <a:blip r:embed="rId1"/>
          <a:stretch>
            <a:fillRect/>
          </a:stretch>
        </p:blipFill>
        <p:spPr>
          <a:xfrm>
            <a:off x="9379915" y="1881835"/>
            <a:ext cx="241402" cy="241402"/>
          </a:xfrm>
          <a:prstGeom prst="rect">
            <a:avLst/>
          </a:prstGeom>
        </p:spPr>
      </p:pic>
      <p:sp>
        <p:nvSpPr>
          <p:cNvPr id="9" name="Text 6"/>
          <p:cNvSpPr/>
          <p:nvPr/>
        </p:nvSpPr>
        <p:spPr>
          <a:xfrm>
            <a:off x="9802368" y="1691640"/>
            <a:ext cx="1554480" cy="621792"/>
          </a:xfrm>
          <a:prstGeom prst="rect">
            <a:avLst/>
          </a:prstGeom>
          <a:noFill/>
          <a:ln/>
        </p:spPr>
        <p:txBody>
          <a:bodyPr wrap="square" rtlCol="0" anchor="ctr"/>
          <a:lstStyle/>
          <a:p>
            <a:pPr indent="0" marL="0">
              <a:buNone/>
            </a:pPr>
            <a:r>
              <a:rPr lang="en-US" sz="1000" b="1" dirty="0">
                <a:solidFill>
                  <a:srgbClr val="4CB5AE"/>
                </a:solidFill>
                <a:latin typeface="Calibri" pitchFamily="34" charset="0"/>
                <a:ea typeface="Calibri" pitchFamily="34" charset="-122"/>
                <a:cs typeface="Calibri" pitchFamily="34" charset="-120"/>
              </a:rPr>
              <a:t>Đã đạt</a:t>
            </a:r>
            <a:endParaRPr lang="en-US" sz="1000" dirty="0"/>
          </a:p>
        </p:txBody>
      </p:sp>
      <p:sp>
        <p:nvSpPr>
          <p:cNvPr id="10" name="Shape 7"/>
          <p:cNvSpPr/>
          <p:nvPr/>
        </p:nvSpPr>
        <p:spPr>
          <a:xfrm>
            <a:off x="548640" y="2386584"/>
            <a:ext cx="10881360" cy="621792"/>
          </a:xfrm>
          <a:prstGeom prst="roundRect">
            <a:avLst>
              <a:gd name="adj" fmla="val 10294"/>
            </a:avLst>
          </a:prstGeom>
          <a:solidFill>
            <a:srgbClr val="FFFFFF"/>
          </a:solidFill>
          <a:ln w="9525">
            <a:solidFill>
              <a:srgbClr val="DCEDEB"/>
            </a:solidFill>
            <a:prstDash val="solid"/>
          </a:ln>
        </p:spPr>
      </p:sp>
      <p:sp>
        <p:nvSpPr>
          <p:cNvPr id="11" name="Text 8"/>
          <p:cNvSpPr/>
          <p:nvPr/>
        </p:nvSpPr>
        <p:spPr>
          <a:xfrm>
            <a:off x="777240" y="2386584"/>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Hospital system integration</a:t>
            </a:r>
            <a:endParaRPr lang="en-US" sz="1200" dirty="0"/>
          </a:p>
        </p:txBody>
      </p:sp>
      <p:sp>
        <p:nvSpPr>
          <p:cNvPr id="12" name="Text 9"/>
          <p:cNvSpPr/>
          <p:nvPr/>
        </p:nvSpPr>
        <p:spPr>
          <a:xfrm>
            <a:off x="3520440" y="2386584"/>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Kiến trúc tách provider booking, sẵn sàng nối HIS thật</a:t>
            </a:r>
            <a:endParaRPr lang="en-US" sz="1075" dirty="0"/>
          </a:p>
        </p:txBody>
      </p:sp>
      <p:sp>
        <p:nvSpPr>
          <p:cNvPr id="13" name="Shape 10"/>
          <p:cNvSpPr/>
          <p:nvPr/>
        </p:nvSpPr>
        <p:spPr>
          <a:xfrm>
            <a:off x="9281160" y="2478024"/>
            <a:ext cx="438912" cy="438912"/>
          </a:xfrm>
          <a:prstGeom prst="ellipse">
            <a:avLst/>
          </a:prstGeom>
          <a:solidFill>
            <a:srgbClr val="0B7285"/>
          </a:solidFill>
          <a:ln/>
        </p:spPr>
      </p:sp>
      <p:pic>
        <p:nvPicPr>
          <p:cNvPr id="14" name="Image 1" descr="/home/claude/hera_pptx/icons/sync.png">    </p:cNvPr>
          <p:cNvPicPr>
            <a:picLocks noChangeAspect="1"/>
          </p:cNvPicPr>
          <p:nvPr/>
        </p:nvPicPr>
        <p:blipFill>
          <a:blip r:embed="rId2"/>
          <a:stretch>
            <a:fillRect/>
          </a:stretch>
        </p:blipFill>
        <p:spPr>
          <a:xfrm>
            <a:off x="9379915" y="2576779"/>
            <a:ext cx="241402" cy="241402"/>
          </a:xfrm>
          <a:prstGeom prst="rect">
            <a:avLst/>
          </a:prstGeom>
        </p:spPr>
      </p:pic>
      <p:sp>
        <p:nvSpPr>
          <p:cNvPr id="15" name="Text 11"/>
          <p:cNvSpPr/>
          <p:nvPr/>
        </p:nvSpPr>
        <p:spPr>
          <a:xfrm>
            <a:off x="9802368" y="2386584"/>
            <a:ext cx="1554480" cy="621792"/>
          </a:xfrm>
          <a:prstGeom prst="rect">
            <a:avLst/>
          </a:prstGeom>
          <a:noFill/>
          <a:ln/>
        </p:spPr>
        <p:txBody>
          <a:bodyPr wrap="square"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Kiến trúc sẵn sàng</a:t>
            </a:r>
            <a:endParaRPr lang="en-US" sz="1000" dirty="0"/>
          </a:p>
        </p:txBody>
      </p:sp>
      <p:sp>
        <p:nvSpPr>
          <p:cNvPr id="16" name="Shape 12"/>
          <p:cNvSpPr/>
          <p:nvPr/>
        </p:nvSpPr>
        <p:spPr>
          <a:xfrm>
            <a:off x="548640" y="3081528"/>
            <a:ext cx="10881360" cy="621792"/>
          </a:xfrm>
          <a:prstGeom prst="roundRect">
            <a:avLst>
              <a:gd name="adj" fmla="val 10294"/>
            </a:avLst>
          </a:prstGeom>
          <a:solidFill>
            <a:srgbClr val="FFFFFF"/>
          </a:solidFill>
          <a:ln w="9525">
            <a:solidFill>
              <a:srgbClr val="DCEDEB"/>
            </a:solidFill>
            <a:prstDash val="solid"/>
          </a:ln>
        </p:spPr>
      </p:sp>
      <p:sp>
        <p:nvSpPr>
          <p:cNvPr id="17" name="Text 13"/>
          <p:cNvSpPr/>
          <p:nvPr/>
        </p:nvSpPr>
        <p:spPr>
          <a:xfrm>
            <a:off x="777240" y="3081528"/>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Conversational experience</a:t>
            </a:r>
            <a:endParaRPr lang="en-US" sz="1200" dirty="0"/>
          </a:p>
        </p:txBody>
      </p:sp>
      <p:sp>
        <p:nvSpPr>
          <p:cNvPr id="18" name="Text 14"/>
          <p:cNvSpPr/>
          <p:nvPr/>
        </p:nvSpPr>
        <p:spPr>
          <a:xfrm>
            <a:off x="3520440" y="3081528"/>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Chat tiếng Việt, câu hỏi gợi ý, ngữ cảnh ngắn hạn, card</a:t>
            </a:r>
            <a:endParaRPr lang="en-US" sz="1075" dirty="0"/>
          </a:p>
        </p:txBody>
      </p:sp>
      <p:sp>
        <p:nvSpPr>
          <p:cNvPr id="19" name="Shape 15"/>
          <p:cNvSpPr/>
          <p:nvPr/>
        </p:nvSpPr>
        <p:spPr>
          <a:xfrm>
            <a:off x="9281160" y="3172968"/>
            <a:ext cx="438912" cy="438912"/>
          </a:xfrm>
          <a:prstGeom prst="ellipse">
            <a:avLst/>
          </a:prstGeom>
          <a:solidFill>
            <a:srgbClr val="4CB5AE"/>
          </a:solidFill>
          <a:ln/>
        </p:spPr>
      </p:sp>
      <p:pic>
        <p:nvPicPr>
          <p:cNvPr id="20" name="Image 2" descr="/home/claude/hera_pptx/icons/checkCircle.png">    </p:cNvPr>
          <p:cNvPicPr>
            <a:picLocks noChangeAspect="1"/>
          </p:cNvPicPr>
          <p:nvPr/>
        </p:nvPicPr>
        <p:blipFill>
          <a:blip r:embed="rId3"/>
          <a:stretch>
            <a:fillRect/>
          </a:stretch>
        </p:blipFill>
        <p:spPr>
          <a:xfrm>
            <a:off x="9379915" y="3271723"/>
            <a:ext cx="241402" cy="241402"/>
          </a:xfrm>
          <a:prstGeom prst="rect">
            <a:avLst/>
          </a:prstGeom>
        </p:spPr>
      </p:pic>
      <p:sp>
        <p:nvSpPr>
          <p:cNvPr id="21" name="Text 16"/>
          <p:cNvSpPr/>
          <p:nvPr/>
        </p:nvSpPr>
        <p:spPr>
          <a:xfrm>
            <a:off x="9802368" y="3081528"/>
            <a:ext cx="1554480" cy="621792"/>
          </a:xfrm>
          <a:prstGeom prst="rect">
            <a:avLst/>
          </a:prstGeom>
          <a:noFill/>
          <a:ln/>
        </p:spPr>
        <p:txBody>
          <a:bodyPr wrap="square" rtlCol="0" anchor="ctr"/>
          <a:lstStyle/>
          <a:p>
            <a:pPr indent="0" marL="0">
              <a:buNone/>
            </a:pPr>
            <a:r>
              <a:rPr lang="en-US" sz="1000" b="1" dirty="0">
                <a:solidFill>
                  <a:srgbClr val="4CB5AE"/>
                </a:solidFill>
                <a:latin typeface="Calibri" pitchFamily="34" charset="0"/>
                <a:ea typeface="Calibri" pitchFamily="34" charset="-122"/>
                <a:cs typeface="Calibri" pitchFamily="34" charset="-120"/>
              </a:rPr>
              <a:t>Đã đạt</a:t>
            </a:r>
            <a:endParaRPr lang="en-US" sz="1000" dirty="0"/>
          </a:p>
        </p:txBody>
      </p:sp>
      <p:sp>
        <p:nvSpPr>
          <p:cNvPr id="22" name="Shape 17"/>
          <p:cNvSpPr/>
          <p:nvPr/>
        </p:nvSpPr>
        <p:spPr>
          <a:xfrm>
            <a:off x="548640" y="3776472"/>
            <a:ext cx="10881360" cy="621792"/>
          </a:xfrm>
          <a:prstGeom prst="roundRect">
            <a:avLst>
              <a:gd name="adj" fmla="val 10294"/>
            </a:avLst>
          </a:prstGeom>
          <a:solidFill>
            <a:srgbClr val="FFFFFF"/>
          </a:solidFill>
          <a:ln w="9525">
            <a:solidFill>
              <a:srgbClr val="DCEDEB"/>
            </a:solidFill>
            <a:prstDash val="solid"/>
          </a:ln>
        </p:spPr>
      </p:sp>
      <p:sp>
        <p:nvSpPr>
          <p:cNvPr id="23" name="Text 18"/>
          <p:cNvSpPr/>
          <p:nvPr/>
        </p:nvSpPr>
        <p:spPr>
          <a:xfrm>
            <a:off x="777240" y="3776472"/>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Trustworthy AI responses</a:t>
            </a:r>
            <a:endParaRPr lang="en-US" sz="1200" dirty="0"/>
          </a:p>
        </p:txBody>
      </p:sp>
      <p:sp>
        <p:nvSpPr>
          <p:cNvPr id="24" name="Text 19"/>
          <p:cNvSpPr/>
          <p:nvPr/>
        </p:nvSpPr>
        <p:spPr>
          <a:xfrm>
            <a:off x="3520440" y="3776472"/>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Citation, evidence validation, deterministic fallback</a:t>
            </a:r>
            <a:endParaRPr lang="en-US" sz="1075" dirty="0"/>
          </a:p>
        </p:txBody>
      </p:sp>
      <p:sp>
        <p:nvSpPr>
          <p:cNvPr id="25" name="Shape 20"/>
          <p:cNvSpPr/>
          <p:nvPr/>
        </p:nvSpPr>
        <p:spPr>
          <a:xfrm>
            <a:off x="9281160" y="3867912"/>
            <a:ext cx="438912" cy="438912"/>
          </a:xfrm>
          <a:prstGeom prst="ellipse">
            <a:avLst/>
          </a:prstGeom>
          <a:solidFill>
            <a:srgbClr val="4CB5AE"/>
          </a:solidFill>
          <a:ln/>
        </p:spPr>
      </p:sp>
      <p:pic>
        <p:nvPicPr>
          <p:cNvPr id="26" name="Image 3" descr="/home/claude/hera_pptx/icons/checkCircle.png">    </p:cNvPr>
          <p:cNvPicPr>
            <a:picLocks noChangeAspect="1"/>
          </p:cNvPicPr>
          <p:nvPr/>
        </p:nvPicPr>
        <p:blipFill>
          <a:blip r:embed="rId4"/>
          <a:stretch>
            <a:fillRect/>
          </a:stretch>
        </p:blipFill>
        <p:spPr>
          <a:xfrm>
            <a:off x="9379915" y="3966667"/>
            <a:ext cx="241402" cy="241402"/>
          </a:xfrm>
          <a:prstGeom prst="rect">
            <a:avLst/>
          </a:prstGeom>
        </p:spPr>
      </p:pic>
      <p:sp>
        <p:nvSpPr>
          <p:cNvPr id="27" name="Text 21"/>
          <p:cNvSpPr/>
          <p:nvPr/>
        </p:nvSpPr>
        <p:spPr>
          <a:xfrm>
            <a:off x="9802368" y="3776472"/>
            <a:ext cx="1554480" cy="621792"/>
          </a:xfrm>
          <a:prstGeom prst="rect">
            <a:avLst/>
          </a:prstGeom>
          <a:noFill/>
          <a:ln/>
        </p:spPr>
        <p:txBody>
          <a:bodyPr wrap="square" rtlCol="0" anchor="ctr"/>
          <a:lstStyle/>
          <a:p>
            <a:pPr indent="0" marL="0">
              <a:buNone/>
            </a:pPr>
            <a:r>
              <a:rPr lang="en-US" sz="1000" b="1" dirty="0">
                <a:solidFill>
                  <a:srgbClr val="4CB5AE"/>
                </a:solidFill>
                <a:latin typeface="Calibri" pitchFamily="34" charset="0"/>
                <a:ea typeface="Calibri" pitchFamily="34" charset="-122"/>
                <a:cs typeface="Calibri" pitchFamily="34" charset="-120"/>
              </a:rPr>
              <a:t>Đã đạt</a:t>
            </a:r>
            <a:endParaRPr lang="en-US" sz="1000" dirty="0"/>
          </a:p>
        </p:txBody>
      </p:sp>
      <p:sp>
        <p:nvSpPr>
          <p:cNvPr id="28" name="Shape 22"/>
          <p:cNvSpPr/>
          <p:nvPr/>
        </p:nvSpPr>
        <p:spPr>
          <a:xfrm>
            <a:off x="548640" y="4471416"/>
            <a:ext cx="10881360" cy="621792"/>
          </a:xfrm>
          <a:prstGeom prst="roundRect">
            <a:avLst>
              <a:gd name="adj" fmla="val 10294"/>
            </a:avLst>
          </a:prstGeom>
          <a:solidFill>
            <a:srgbClr val="FFFFFF"/>
          </a:solidFill>
          <a:ln w="9525">
            <a:solidFill>
              <a:srgbClr val="DCEDEB"/>
            </a:solidFill>
            <a:prstDash val="solid"/>
          </a:ln>
        </p:spPr>
      </p:sp>
      <p:sp>
        <p:nvSpPr>
          <p:cNvPr id="29" name="Text 23"/>
          <p:cNvSpPr/>
          <p:nvPr/>
        </p:nvSpPr>
        <p:spPr>
          <a:xfrm>
            <a:off x="777240" y="4471416"/>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Emergency handling</a:t>
            </a:r>
            <a:endParaRPr lang="en-US" sz="1200" dirty="0"/>
          </a:p>
        </p:txBody>
      </p:sp>
      <p:sp>
        <p:nvSpPr>
          <p:cNvPr id="30" name="Text 24"/>
          <p:cNvSpPr/>
          <p:nvPr/>
        </p:nvSpPr>
        <p:spPr>
          <a:xfrm>
            <a:off x="3520440" y="4471416"/>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Phát hiện tín hiệu cấp cứu → emergency handoff</a:t>
            </a:r>
            <a:endParaRPr lang="en-US" sz="1075" dirty="0"/>
          </a:p>
        </p:txBody>
      </p:sp>
      <p:sp>
        <p:nvSpPr>
          <p:cNvPr id="31" name="Shape 25"/>
          <p:cNvSpPr/>
          <p:nvPr/>
        </p:nvSpPr>
        <p:spPr>
          <a:xfrm>
            <a:off x="9281160" y="4562856"/>
            <a:ext cx="438912" cy="438912"/>
          </a:xfrm>
          <a:prstGeom prst="ellipse">
            <a:avLst/>
          </a:prstGeom>
          <a:solidFill>
            <a:srgbClr val="4CB5AE"/>
          </a:solidFill>
          <a:ln/>
        </p:spPr>
      </p:sp>
      <p:pic>
        <p:nvPicPr>
          <p:cNvPr id="32" name="Image 4" descr="/home/claude/hera_pptx/icons/checkCircle.png">    </p:cNvPr>
          <p:cNvPicPr>
            <a:picLocks noChangeAspect="1"/>
          </p:cNvPicPr>
          <p:nvPr/>
        </p:nvPicPr>
        <p:blipFill>
          <a:blip r:embed="rId5"/>
          <a:stretch>
            <a:fillRect/>
          </a:stretch>
        </p:blipFill>
        <p:spPr>
          <a:xfrm>
            <a:off x="9379915" y="4661611"/>
            <a:ext cx="241402" cy="241402"/>
          </a:xfrm>
          <a:prstGeom prst="rect">
            <a:avLst/>
          </a:prstGeom>
        </p:spPr>
      </p:pic>
      <p:sp>
        <p:nvSpPr>
          <p:cNvPr id="33" name="Text 26"/>
          <p:cNvSpPr/>
          <p:nvPr/>
        </p:nvSpPr>
        <p:spPr>
          <a:xfrm>
            <a:off x="9802368" y="4471416"/>
            <a:ext cx="1554480" cy="621792"/>
          </a:xfrm>
          <a:prstGeom prst="rect">
            <a:avLst/>
          </a:prstGeom>
          <a:noFill/>
          <a:ln/>
        </p:spPr>
        <p:txBody>
          <a:bodyPr wrap="square" rtlCol="0" anchor="ctr"/>
          <a:lstStyle/>
          <a:p>
            <a:pPr indent="0" marL="0">
              <a:buNone/>
            </a:pPr>
            <a:r>
              <a:rPr lang="en-US" sz="1000" b="1" dirty="0">
                <a:solidFill>
                  <a:srgbClr val="4CB5AE"/>
                </a:solidFill>
                <a:latin typeface="Calibri" pitchFamily="34" charset="0"/>
                <a:ea typeface="Calibri" pitchFamily="34" charset="-122"/>
                <a:cs typeface="Calibri" pitchFamily="34" charset="-120"/>
              </a:rPr>
              <a:t>Đã đạt</a:t>
            </a:r>
            <a:endParaRPr lang="en-US" sz="1000" dirty="0"/>
          </a:p>
        </p:txBody>
      </p:sp>
      <p:sp>
        <p:nvSpPr>
          <p:cNvPr id="34" name="Shape 27"/>
          <p:cNvSpPr/>
          <p:nvPr/>
        </p:nvSpPr>
        <p:spPr>
          <a:xfrm>
            <a:off x="548640" y="5166360"/>
            <a:ext cx="10881360" cy="621792"/>
          </a:xfrm>
          <a:prstGeom prst="roundRect">
            <a:avLst>
              <a:gd name="adj" fmla="val 10294"/>
            </a:avLst>
          </a:prstGeom>
          <a:solidFill>
            <a:srgbClr val="FFFFFF"/>
          </a:solidFill>
          <a:ln w="9525">
            <a:solidFill>
              <a:srgbClr val="DCEDEB"/>
            </a:solidFill>
            <a:prstDash val="solid"/>
          </a:ln>
        </p:spPr>
      </p:sp>
      <p:sp>
        <p:nvSpPr>
          <p:cNvPr id="35" name="Text 28"/>
          <p:cNvSpPr/>
          <p:nvPr/>
        </p:nvSpPr>
        <p:spPr>
          <a:xfrm>
            <a:off x="777240" y="5166360"/>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Deployment readiness</a:t>
            </a:r>
            <a:endParaRPr lang="en-US" sz="1200" dirty="0"/>
          </a:p>
        </p:txBody>
      </p:sp>
      <p:sp>
        <p:nvSpPr>
          <p:cNvPr id="36" name="Text 29"/>
          <p:cNvSpPr/>
          <p:nvPr/>
        </p:nvSpPr>
        <p:spPr>
          <a:xfrm>
            <a:off x="3520440" y="5166360"/>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Docker Compose, migration, readiness gate, monitoring</a:t>
            </a:r>
            <a:endParaRPr lang="en-US" sz="1075" dirty="0"/>
          </a:p>
        </p:txBody>
      </p:sp>
      <p:sp>
        <p:nvSpPr>
          <p:cNvPr id="37" name="Shape 30"/>
          <p:cNvSpPr/>
          <p:nvPr/>
        </p:nvSpPr>
        <p:spPr>
          <a:xfrm>
            <a:off x="9281160" y="5257800"/>
            <a:ext cx="438912" cy="438912"/>
          </a:xfrm>
          <a:prstGeom prst="ellipse">
            <a:avLst/>
          </a:prstGeom>
          <a:solidFill>
            <a:srgbClr val="4CB5AE"/>
          </a:solidFill>
          <a:ln/>
        </p:spPr>
      </p:sp>
      <p:pic>
        <p:nvPicPr>
          <p:cNvPr id="38" name="Image 5" descr="/home/claude/hera_pptx/icons/checkCircle.png">    </p:cNvPr>
          <p:cNvPicPr>
            <a:picLocks noChangeAspect="1"/>
          </p:cNvPicPr>
          <p:nvPr/>
        </p:nvPicPr>
        <p:blipFill>
          <a:blip r:embed="rId6"/>
          <a:stretch>
            <a:fillRect/>
          </a:stretch>
        </p:blipFill>
        <p:spPr>
          <a:xfrm>
            <a:off x="9379915" y="5356555"/>
            <a:ext cx="241402" cy="241402"/>
          </a:xfrm>
          <a:prstGeom prst="rect">
            <a:avLst/>
          </a:prstGeom>
        </p:spPr>
      </p:pic>
      <p:sp>
        <p:nvSpPr>
          <p:cNvPr id="39" name="Text 31"/>
          <p:cNvSpPr/>
          <p:nvPr/>
        </p:nvSpPr>
        <p:spPr>
          <a:xfrm>
            <a:off x="9802368" y="5166360"/>
            <a:ext cx="1554480" cy="621792"/>
          </a:xfrm>
          <a:prstGeom prst="rect">
            <a:avLst/>
          </a:prstGeom>
          <a:noFill/>
          <a:ln/>
        </p:spPr>
        <p:txBody>
          <a:bodyPr wrap="square" rtlCol="0" anchor="ctr"/>
          <a:lstStyle/>
          <a:p>
            <a:pPr indent="0" marL="0">
              <a:buNone/>
            </a:pPr>
            <a:r>
              <a:rPr lang="en-US" sz="1000" b="1" dirty="0">
                <a:solidFill>
                  <a:srgbClr val="4CB5AE"/>
                </a:solidFill>
                <a:latin typeface="Calibri" pitchFamily="34" charset="0"/>
                <a:ea typeface="Calibri" pitchFamily="34" charset="-122"/>
                <a:cs typeface="Calibri" pitchFamily="34" charset="-120"/>
              </a:rPr>
              <a:t>Đã đạt</a:t>
            </a:r>
            <a:endParaRPr lang="en-US" sz="1000" dirty="0"/>
          </a:p>
        </p:txBody>
      </p:sp>
      <p:sp>
        <p:nvSpPr>
          <p:cNvPr id="40" name="Shape 32"/>
          <p:cNvSpPr/>
          <p:nvPr/>
        </p:nvSpPr>
        <p:spPr>
          <a:xfrm>
            <a:off x="548640" y="5861304"/>
            <a:ext cx="10881360" cy="621792"/>
          </a:xfrm>
          <a:prstGeom prst="roundRect">
            <a:avLst>
              <a:gd name="adj" fmla="val 10294"/>
            </a:avLst>
          </a:prstGeom>
          <a:solidFill>
            <a:srgbClr val="FFFFFF"/>
          </a:solidFill>
          <a:ln w="9525">
            <a:solidFill>
              <a:srgbClr val="DCEDEB"/>
            </a:solidFill>
            <a:prstDash val="solid"/>
          </a:ln>
        </p:spPr>
      </p:sp>
      <p:sp>
        <p:nvSpPr>
          <p:cNvPr id="41" name="Text 33"/>
          <p:cNvSpPr/>
          <p:nvPr/>
        </p:nvSpPr>
        <p:spPr>
          <a:xfrm>
            <a:off x="777240" y="5861304"/>
            <a:ext cx="2651760" cy="621792"/>
          </a:xfrm>
          <a:prstGeom prst="rect">
            <a:avLst/>
          </a:prstGeom>
          <a:noFill/>
          <a:ln/>
        </p:spPr>
        <p:txBody>
          <a:bodyPr wrap="square" rtlCol="0" anchor="ctr"/>
          <a:lstStyle/>
          <a:p>
            <a:pPr indent="0" marL="0">
              <a:buNone/>
            </a:pPr>
            <a:r>
              <a:rPr lang="en-US" sz="1200" b="1" dirty="0">
                <a:solidFill>
                  <a:srgbClr val="13292E"/>
                </a:solidFill>
                <a:latin typeface="Calibri" pitchFamily="34" charset="0"/>
                <a:ea typeface="Calibri" pitchFamily="34" charset="-122"/>
                <a:cs typeface="Calibri" pitchFamily="34" charset="-120"/>
              </a:rPr>
              <a:t>ASR / TTS (giọng nói)</a:t>
            </a:r>
            <a:endParaRPr lang="en-US" sz="1200" dirty="0"/>
          </a:p>
        </p:txBody>
      </p:sp>
      <p:sp>
        <p:nvSpPr>
          <p:cNvPr id="42" name="Text 34"/>
          <p:cNvSpPr/>
          <p:nvPr/>
        </p:nvSpPr>
        <p:spPr>
          <a:xfrm>
            <a:off x="3520440" y="5861304"/>
            <a:ext cx="5623560" cy="621792"/>
          </a:xfrm>
          <a:prstGeom prst="rect">
            <a:avLst/>
          </a:prstGeom>
          <a:noFill/>
          <a:ln/>
        </p:spPr>
        <p:txBody>
          <a:bodyPr wrap="square" rtlCol="0" anchor="ctr"/>
          <a:lstStyle/>
          <a:p>
            <a:pPr indent="0" marL="0">
              <a:lnSpc>
                <a:spcPts val="1300"/>
              </a:lnSpc>
              <a:buNone/>
            </a:pPr>
            <a:r>
              <a:rPr lang="en-US" sz="1075" dirty="0">
                <a:solidFill>
                  <a:srgbClr val="5B7278"/>
                </a:solidFill>
                <a:latin typeface="Calibri" pitchFamily="34" charset="0"/>
                <a:ea typeface="Calibri" pitchFamily="34" charset="-122"/>
                <a:cs typeface="Calibri" pitchFamily="34" charset="-120"/>
              </a:rPr>
              <a:t>Chưa có — là hướng mở rộng, không phải tính năng hiện tại</a:t>
            </a:r>
            <a:endParaRPr lang="en-US" sz="1075" dirty="0"/>
          </a:p>
        </p:txBody>
      </p:sp>
      <p:sp>
        <p:nvSpPr>
          <p:cNvPr id="43" name="Shape 35"/>
          <p:cNvSpPr/>
          <p:nvPr/>
        </p:nvSpPr>
        <p:spPr>
          <a:xfrm>
            <a:off x="9281160" y="5952744"/>
            <a:ext cx="438912" cy="438912"/>
          </a:xfrm>
          <a:prstGeom prst="ellipse">
            <a:avLst/>
          </a:prstGeom>
          <a:solidFill>
            <a:srgbClr val="E8544E"/>
          </a:solidFill>
          <a:ln/>
        </p:spPr>
      </p:sp>
      <p:pic>
        <p:nvPicPr>
          <p:cNvPr id="44" name="Image 6" descr="/home/claude/hera_pptx/icons/warning.png">    </p:cNvPr>
          <p:cNvPicPr>
            <a:picLocks noChangeAspect="1"/>
          </p:cNvPicPr>
          <p:nvPr/>
        </p:nvPicPr>
        <p:blipFill>
          <a:blip r:embed="rId7"/>
          <a:stretch>
            <a:fillRect/>
          </a:stretch>
        </p:blipFill>
        <p:spPr>
          <a:xfrm>
            <a:off x="9379915" y="6051499"/>
            <a:ext cx="241402" cy="241402"/>
          </a:xfrm>
          <a:prstGeom prst="rect">
            <a:avLst/>
          </a:prstGeom>
        </p:spPr>
      </p:pic>
      <p:sp>
        <p:nvSpPr>
          <p:cNvPr id="45" name="Text 36"/>
          <p:cNvSpPr/>
          <p:nvPr/>
        </p:nvSpPr>
        <p:spPr>
          <a:xfrm>
            <a:off x="9802368" y="5861304"/>
            <a:ext cx="1554480" cy="621792"/>
          </a:xfrm>
          <a:prstGeom prst="rect">
            <a:avLst/>
          </a:prstGeom>
          <a:noFill/>
          <a:ln/>
        </p:spPr>
        <p:txBody>
          <a:bodyPr wrap="square" rtlCol="0" anchor="ctr"/>
          <a:lstStyle/>
          <a:p>
            <a:pPr indent="0" marL="0">
              <a:buNone/>
            </a:pPr>
            <a:r>
              <a:rPr lang="en-US" sz="1000" b="1" dirty="0">
                <a:solidFill>
                  <a:srgbClr val="E8544E"/>
                </a:solidFill>
                <a:latin typeface="Calibri" pitchFamily="34" charset="0"/>
                <a:ea typeface="Calibri" pitchFamily="34" charset="-122"/>
                <a:cs typeface="Calibri" pitchFamily="34" charset="-120"/>
              </a:rPr>
              <a:t>Hướng mở rộng</a:t>
            </a:r>
            <a:endParaRPr lang="en-US" sz="1000" dirty="0"/>
          </a:p>
        </p:txBody>
      </p:sp>
      <p:sp>
        <p:nvSpPr>
          <p:cNvPr id="46" name="Text 37"/>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47" name="Text 3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12 · LỘ TRÌNH</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Những điểm còn thiếu để trở thành production thật</a:t>
            </a:r>
            <a:endParaRPr lang="en-US" sz="3000" dirty="0"/>
          </a:p>
        </p:txBody>
      </p:sp>
      <p:sp>
        <p:nvSpPr>
          <p:cNvPr id="4" name="Shape 2"/>
          <p:cNvSpPr/>
          <p:nvPr/>
        </p:nvSpPr>
        <p:spPr>
          <a:xfrm>
            <a:off x="548640" y="1645920"/>
            <a:ext cx="2651760" cy="1097280"/>
          </a:xfrm>
          <a:prstGeom prst="roundRect">
            <a:avLst>
              <a:gd name="adj" fmla="val 7500"/>
            </a:avLst>
          </a:prstGeom>
          <a:solidFill>
            <a:srgbClr val="F3FAF9"/>
          </a:solidFill>
          <a:ln w="12700">
            <a:solidFill>
              <a:srgbClr val="DCEDEB"/>
            </a:solidFill>
            <a:prstDash val="solid"/>
          </a:ln>
        </p:spPr>
      </p:sp>
      <p:sp>
        <p:nvSpPr>
          <p:cNvPr id="5" name="Shape 3"/>
          <p:cNvSpPr/>
          <p:nvPr/>
        </p:nvSpPr>
        <p:spPr>
          <a:xfrm>
            <a:off x="713232" y="1810512"/>
            <a:ext cx="457200" cy="457200"/>
          </a:xfrm>
          <a:prstGeom prst="ellipse">
            <a:avLst/>
          </a:prstGeom>
          <a:solidFill>
            <a:srgbClr val="0B7285"/>
          </a:solidFill>
          <a:ln/>
        </p:spPr>
      </p:sp>
      <p:pic>
        <p:nvPicPr>
          <p:cNvPr id="6" name="Image 0" descr="/home/claude/hera_pptx/icons/sync.png">    </p:cNvPr>
          <p:cNvPicPr>
            <a:picLocks noChangeAspect="1"/>
          </p:cNvPicPr>
          <p:nvPr/>
        </p:nvPicPr>
        <p:blipFill>
          <a:blip r:embed="rId1"/>
          <a:stretch>
            <a:fillRect/>
          </a:stretch>
        </p:blipFill>
        <p:spPr>
          <a:xfrm>
            <a:off x="827532" y="1924812"/>
            <a:ext cx="228600" cy="228600"/>
          </a:xfrm>
          <a:prstGeom prst="rect">
            <a:avLst/>
          </a:prstGeom>
        </p:spPr>
      </p:pic>
      <p:sp>
        <p:nvSpPr>
          <p:cNvPr id="7" name="Text 4"/>
          <p:cNvSpPr/>
          <p:nvPr/>
        </p:nvSpPr>
        <p:spPr>
          <a:xfrm>
            <a:off x="685800" y="221284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Đồng bộ HIS real-time</a:t>
            </a:r>
            <a:endParaRPr lang="en-US" sz="1025" dirty="0"/>
          </a:p>
        </p:txBody>
      </p:sp>
      <p:sp>
        <p:nvSpPr>
          <p:cNvPr id="8" name="Text 5"/>
          <p:cNvSpPr/>
          <p:nvPr/>
        </p:nvSpPr>
        <p:spPr>
          <a:xfrm>
            <a:off x="685800" y="248716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Xác thực bệnh án, mã BHYT, tránh ghost booking</a:t>
            </a:r>
            <a:endParaRPr lang="en-US" sz="800" dirty="0"/>
          </a:p>
        </p:txBody>
      </p:sp>
      <p:sp>
        <p:nvSpPr>
          <p:cNvPr id="9" name="Shape 6"/>
          <p:cNvSpPr/>
          <p:nvPr/>
        </p:nvSpPr>
        <p:spPr>
          <a:xfrm>
            <a:off x="3364992" y="1645920"/>
            <a:ext cx="2651760" cy="1097280"/>
          </a:xfrm>
          <a:prstGeom prst="roundRect">
            <a:avLst>
              <a:gd name="adj" fmla="val 7500"/>
            </a:avLst>
          </a:prstGeom>
          <a:solidFill>
            <a:srgbClr val="F3FAF9"/>
          </a:solidFill>
          <a:ln w="12700">
            <a:solidFill>
              <a:srgbClr val="DCEDEB"/>
            </a:solidFill>
            <a:prstDash val="solid"/>
          </a:ln>
        </p:spPr>
      </p:sp>
      <p:sp>
        <p:nvSpPr>
          <p:cNvPr id="10" name="Shape 7"/>
          <p:cNvSpPr/>
          <p:nvPr/>
        </p:nvSpPr>
        <p:spPr>
          <a:xfrm>
            <a:off x="3529584" y="1810512"/>
            <a:ext cx="457200" cy="457200"/>
          </a:xfrm>
          <a:prstGeom prst="ellipse">
            <a:avLst/>
          </a:prstGeom>
          <a:solidFill>
            <a:srgbClr val="0B7285"/>
          </a:solidFill>
          <a:ln/>
        </p:spPr>
      </p:sp>
      <p:pic>
        <p:nvPicPr>
          <p:cNvPr id="11" name="Image 1" descr="/home/claude/hera_pptx/icons/ban.png">    </p:cNvPr>
          <p:cNvPicPr>
            <a:picLocks noChangeAspect="1"/>
          </p:cNvPicPr>
          <p:nvPr/>
        </p:nvPicPr>
        <p:blipFill>
          <a:blip r:embed="rId2"/>
          <a:stretch>
            <a:fillRect/>
          </a:stretch>
        </p:blipFill>
        <p:spPr>
          <a:xfrm>
            <a:off x="3643884" y="1924812"/>
            <a:ext cx="228600" cy="228600"/>
          </a:xfrm>
          <a:prstGeom prst="rect">
            <a:avLst/>
          </a:prstGeom>
        </p:spPr>
      </p:pic>
      <p:sp>
        <p:nvSpPr>
          <p:cNvPr id="12" name="Text 8"/>
          <p:cNvSpPr/>
          <p:nvPr/>
        </p:nvSpPr>
        <p:spPr>
          <a:xfrm>
            <a:off x="3502152" y="221284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Giao dịch bán phần</a:t>
            </a:r>
            <a:endParaRPr lang="en-US" sz="1025" dirty="0"/>
          </a:p>
        </p:txBody>
      </p:sp>
      <p:sp>
        <p:nvSpPr>
          <p:cNvPr id="13" name="Text 9"/>
          <p:cNvSpPr/>
          <p:nvPr/>
        </p:nvSpPr>
        <p:spPr>
          <a:xfrm>
            <a:off x="3502152" y="248716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Outbox pattern, retry queue, compensation transaction</a:t>
            </a:r>
            <a:endParaRPr lang="en-US" sz="800" dirty="0"/>
          </a:p>
        </p:txBody>
      </p:sp>
      <p:sp>
        <p:nvSpPr>
          <p:cNvPr id="14" name="Shape 10"/>
          <p:cNvSpPr/>
          <p:nvPr/>
        </p:nvSpPr>
        <p:spPr>
          <a:xfrm>
            <a:off x="6181344" y="1645920"/>
            <a:ext cx="2651760" cy="1097280"/>
          </a:xfrm>
          <a:prstGeom prst="roundRect">
            <a:avLst>
              <a:gd name="adj" fmla="val 7500"/>
            </a:avLst>
          </a:prstGeom>
          <a:solidFill>
            <a:srgbClr val="F3FAF9"/>
          </a:solidFill>
          <a:ln w="12700">
            <a:solidFill>
              <a:srgbClr val="DCEDEB"/>
            </a:solidFill>
            <a:prstDash val="solid"/>
          </a:ln>
        </p:spPr>
      </p:sp>
      <p:sp>
        <p:nvSpPr>
          <p:cNvPr id="15" name="Shape 11"/>
          <p:cNvSpPr/>
          <p:nvPr/>
        </p:nvSpPr>
        <p:spPr>
          <a:xfrm>
            <a:off x="6345936" y="1810512"/>
            <a:ext cx="457200" cy="457200"/>
          </a:xfrm>
          <a:prstGeom prst="ellipse">
            <a:avLst/>
          </a:prstGeom>
          <a:solidFill>
            <a:srgbClr val="0B7285"/>
          </a:solidFill>
          <a:ln/>
        </p:spPr>
      </p:sp>
      <p:pic>
        <p:nvPicPr>
          <p:cNvPr id="16" name="Image 2" descr="/home/claude/hera_pptx/icons/gavel.png">    </p:cNvPr>
          <p:cNvPicPr>
            <a:picLocks noChangeAspect="1"/>
          </p:cNvPicPr>
          <p:nvPr/>
        </p:nvPicPr>
        <p:blipFill>
          <a:blip r:embed="rId3"/>
          <a:stretch>
            <a:fillRect/>
          </a:stretch>
        </p:blipFill>
        <p:spPr>
          <a:xfrm>
            <a:off x="6460236" y="1924812"/>
            <a:ext cx="228600" cy="228600"/>
          </a:xfrm>
          <a:prstGeom prst="rect">
            <a:avLst/>
          </a:prstGeom>
        </p:spPr>
      </p:pic>
      <p:sp>
        <p:nvSpPr>
          <p:cNvPr id="17" name="Text 12"/>
          <p:cNvSpPr/>
          <p:nvPr/>
        </p:nvSpPr>
        <p:spPr>
          <a:xfrm>
            <a:off x="6318504" y="221284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Chính sách đổi / hủy / ưu tiên</a:t>
            </a:r>
            <a:endParaRPr lang="en-US" sz="1025" dirty="0"/>
          </a:p>
        </p:txBody>
      </p:sp>
      <p:sp>
        <p:nvSpPr>
          <p:cNvPr id="18" name="Text 13"/>
          <p:cNvSpPr/>
          <p:nvPr/>
        </p:nvSpPr>
        <p:spPr>
          <a:xfrm>
            <a:off x="6318504" y="248716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Reschedule, cut-off time, xác thực chủ sở hữu</a:t>
            </a:r>
            <a:endParaRPr lang="en-US" sz="800" dirty="0"/>
          </a:p>
        </p:txBody>
      </p:sp>
      <p:sp>
        <p:nvSpPr>
          <p:cNvPr id="19" name="Shape 14"/>
          <p:cNvSpPr/>
          <p:nvPr/>
        </p:nvSpPr>
        <p:spPr>
          <a:xfrm>
            <a:off x="8997696" y="1645920"/>
            <a:ext cx="2651760" cy="1097280"/>
          </a:xfrm>
          <a:prstGeom prst="roundRect">
            <a:avLst>
              <a:gd name="adj" fmla="val 7500"/>
            </a:avLst>
          </a:prstGeom>
          <a:solidFill>
            <a:srgbClr val="F3FAF9"/>
          </a:solidFill>
          <a:ln w="12700">
            <a:solidFill>
              <a:srgbClr val="DCEDEB"/>
            </a:solidFill>
            <a:prstDash val="solid"/>
          </a:ln>
        </p:spPr>
      </p:sp>
      <p:sp>
        <p:nvSpPr>
          <p:cNvPr id="20" name="Shape 15"/>
          <p:cNvSpPr/>
          <p:nvPr/>
        </p:nvSpPr>
        <p:spPr>
          <a:xfrm>
            <a:off x="9162288" y="1810512"/>
            <a:ext cx="457200" cy="457200"/>
          </a:xfrm>
          <a:prstGeom prst="ellipse">
            <a:avLst/>
          </a:prstGeom>
          <a:solidFill>
            <a:srgbClr val="0B7285"/>
          </a:solidFill>
          <a:ln/>
        </p:spPr>
      </p:sp>
      <p:pic>
        <p:nvPicPr>
          <p:cNvPr id="21" name="Image 3" descr="/home/claude/hera_pptx/icons/clipboard.png">    </p:cNvPr>
          <p:cNvPicPr>
            <a:picLocks noChangeAspect="1"/>
          </p:cNvPicPr>
          <p:nvPr/>
        </p:nvPicPr>
        <p:blipFill>
          <a:blip r:embed="rId4"/>
          <a:stretch>
            <a:fillRect/>
          </a:stretch>
        </p:blipFill>
        <p:spPr>
          <a:xfrm>
            <a:off x="9276588" y="1924812"/>
            <a:ext cx="228600" cy="228600"/>
          </a:xfrm>
          <a:prstGeom prst="rect">
            <a:avLst/>
          </a:prstGeom>
        </p:spPr>
      </p:pic>
      <p:sp>
        <p:nvSpPr>
          <p:cNvPr id="22" name="Text 16"/>
          <p:cNvSpPr/>
          <p:nvPr/>
        </p:nvSpPr>
        <p:spPr>
          <a:xfrm>
            <a:off x="9134856" y="221284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Audit trail y tế</a:t>
            </a:r>
            <a:endParaRPr lang="en-US" sz="1025" dirty="0"/>
          </a:p>
        </p:txBody>
      </p:sp>
      <p:sp>
        <p:nvSpPr>
          <p:cNvPr id="23" name="Text 17"/>
          <p:cNvSpPr/>
          <p:nvPr/>
        </p:nvSpPr>
        <p:spPr>
          <a:xfrm>
            <a:off x="9134856" y="248716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Bảng audit riêng cho hành động có giá trị pháp lý</a:t>
            </a:r>
            <a:endParaRPr lang="en-US" sz="800" dirty="0"/>
          </a:p>
        </p:txBody>
      </p:sp>
      <p:sp>
        <p:nvSpPr>
          <p:cNvPr id="24" name="Shape 18"/>
          <p:cNvSpPr/>
          <p:nvPr/>
        </p:nvSpPr>
        <p:spPr>
          <a:xfrm>
            <a:off x="548640" y="2880360"/>
            <a:ext cx="2651760" cy="1097280"/>
          </a:xfrm>
          <a:prstGeom prst="roundRect">
            <a:avLst>
              <a:gd name="adj" fmla="val 7500"/>
            </a:avLst>
          </a:prstGeom>
          <a:solidFill>
            <a:srgbClr val="F3FAF9"/>
          </a:solidFill>
          <a:ln w="12700">
            <a:solidFill>
              <a:srgbClr val="DCEDEB"/>
            </a:solidFill>
            <a:prstDash val="solid"/>
          </a:ln>
        </p:spPr>
      </p:sp>
      <p:sp>
        <p:nvSpPr>
          <p:cNvPr id="25" name="Shape 19"/>
          <p:cNvSpPr/>
          <p:nvPr/>
        </p:nvSpPr>
        <p:spPr>
          <a:xfrm>
            <a:off x="713232" y="3044952"/>
            <a:ext cx="457200" cy="457200"/>
          </a:xfrm>
          <a:prstGeom prst="ellipse">
            <a:avLst/>
          </a:prstGeom>
          <a:solidFill>
            <a:srgbClr val="0B7285"/>
          </a:solidFill>
          <a:ln/>
        </p:spPr>
      </p:sp>
      <p:pic>
        <p:nvPicPr>
          <p:cNvPr id="26" name="Image 4" descr="/home/claude/hera_pptx/icons/calendar.png">    </p:cNvPr>
          <p:cNvPicPr>
            <a:picLocks noChangeAspect="1"/>
          </p:cNvPicPr>
          <p:nvPr/>
        </p:nvPicPr>
        <p:blipFill>
          <a:blip r:embed="rId5"/>
          <a:stretch>
            <a:fillRect/>
          </a:stretch>
        </p:blipFill>
        <p:spPr>
          <a:xfrm>
            <a:off x="827532" y="3159252"/>
            <a:ext cx="228600" cy="228600"/>
          </a:xfrm>
          <a:prstGeom prst="rect">
            <a:avLst/>
          </a:prstGeom>
        </p:spPr>
      </p:pic>
      <p:sp>
        <p:nvSpPr>
          <p:cNvPr id="27" name="Text 20"/>
          <p:cNvSpPr/>
          <p:nvPr/>
        </p:nvSpPr>
        <p:spPr>
          <a:xfrm>
            <a:off x="685800" y="344728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Effective date cho dữ liệu</a:t>
            </a:r>
            <a:endParaRPr lang="en-US" sz="1025" dirty="0"/>
          </a:p>
        </p:txBody>
      </p:sp>
      <p:sp>
        <p:nvSpPr>
          <p:cNvPr id="28" name="Text 21"/>
          <p:cNvSpPr/>
          <p:nvPr/>
        </p:nvSpPr>
        <p:spPr>
          <a:xfrm>
            <a:off x="685800" y="372160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Versioning theo ngày hiệu lực / hết hiệu lực</a:t>
            </a:r>
            <a:endParaRPr lang="en-US" sz="800" dirty="0"/>
          </a:p>
        </p:txBody>
      </p:sp>
      <p:sp>
        <p:nvSpPr>
          <p:cNvPr id="29" name="Shape 22"/>
          <p:cNvSpPr/>
          <p:nvPr/>
        </p:nvSpPr>
        <p:spPr>
          <a:xfrm>
            <a:off x="3364992" y="2880360"/>
            <a:ext cx="2651760" cy="1097280"/>
          </a:xfrm>
          <a:prstGeom prst="roundRect">
            <a:avLst>
              <a:gd name="adj" fmla="val 7500"/>
            </a:avLst>
          </a:prstGeom>
          <a:solidFill>
            <a:srgbClr val="F3FAF9"/>
          </a:solidFill>
          <a:ln w="12700">
            <a:solidFill>
              <a:srgbClr val="DCEDEB"/>
            </a:solidFill>
            <a:prstDash val="solid"/>
          </a:ln>
        </p:spPr>
      </p:sp>
      <p:sp>
        <p:nvSpPr>
          <p:cNvPr id="30" name="Shape 23"/>
          <p:cNvSpPr/>
          <p:nvPr/>
        </p:nvSpPr>
        <p:spPr>
          <a:xfrm>
            <a:off x="3529584" y="3044952"/>
            <a:ext cx="457200" cy="457200"/>
          </a:xfrm>
          <a:prstGeom prst="ellipse">
            <a:avLst/>
          </a:prstGeom>
          <a:solidFill>
            <a:srgbClr val="0B7285"/>
          </a:solidFill>
          <a:ln/>
        </p:spPr>
      </p:sp>
      <p:pic>
        <p:nvPicPr>
          <p:cNvPr id="31" name="Image 5" descr="/home/claude/hera_pptx/icons/database.png">    </p:cNvPr>
          <p:cNvPicPr>
            <a:picLocks noChangeAspect="1"/>
          </p:cNvPicPr>
          <p:nvPr/>
        </p:nvPicPr>
        <p:blipFill>
          <a:blip r:embed="rId6"/>
          <a:stretch>
            <a:fillRect/>
          </a:stretch>
        </p:blipFill>
        <p:spPr>
          <a:xfrm>
            <a:off x="3643884" y="3159252"/>
            <a:ext cx="228600" cy="228600"/>
          </a:xfrm>
          <a:prstGeom prst="rect">
            <a:avLst/>
          </a:prstGeom>
        </p:spPr>
      </p:pic>
      <p:sp>
        <p:nvSpPr>
          <p:cNvPr id="32" name="Text 24"/>
          <p:cNvSpPr/>
          <p:nvPr/>
        </p:nvSpPr>
        <p:spPr>
          <a:xfrm>
            <a:off x="3502152" y="344728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Quản trị vòng đời dữ liệu RAG</a:t>
            </a:r>
            <a:endParaRPr lang="en-US" sz="1025" dirty="0"/>
          </a:p>
        </p:txBody>
      </p:sp>
      <p:sp>
        <p:nvSpPr>
          <p:cNvPr id="33" name="Text 25"/>
          <p:cNvSpPr/>
          <p:nvPr/>
        </p:nvSpPr>
        <p:spPr>
          <a:xfrm>
            <a:off x="3502152" y="372160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Nguồn, người chịu trách nhiệm, approval, rollback</a:t>
            </a:r>
            <a:endParaRPr lang="en-US" sz="800" dirty="0"/>
          </a:p>
        </p:txBody>
      </p:sp>
      <p:sp>
        <p:nvSpPr>
          <p:cNvPr id="34" name="Shape 26"/>
          <p:cNvSpPr/>
          <p:nvPr/>
        </p:nvSpPr>
        <p:spPr>
          <a:xfrm>
            <a:off x="6181344" y="2880360"/>
            <a:ext cx="2651760" cy="1097280"/>
          </a:xfrm>
          <a:prstGeom prst="roundRect">
            <a:avLst>
              <a:gd name="adj" fmla="val 7500"/>
            </a:avLst>
          </a:prstGeom>
          <a:solidFill>
            <a:srgbClr val="F3FAF9"/>
          </a:solidFill>
          <a:ln w="12700">
            <a:solidFill>
              <a:srgbClr val="DCEDEB"/>
            </a:solidFill>
            <a:prstDash val="solid"/>
          </a:ln>
        </p:spPr>
      </p:sp>
      <p:sp>
        <p:nvSpPr>
          <p:cNvPr id="35" name="Shape 27"/>
          <p:cNvSpPr/>
          <p:nvPr/>
        </p:nvSpPr>
        <p:spPr>
          <a:xfrm>
            <a:off x="6345936" y="3044952"/>
            <a:ext cx="457200" cy="457200"/>
          </a:xfrm>
          <a:prstGeom prst="ellipse">
            <a:avLst/>
          </a:prstGeom>
          <a:solidFill>
            <a:srgbClr val="0B7285"/>
          </a:solidFill>
          <a:ln/>
        </p:spPr>
      </p:sp>
      <p:pic>
        <p:nvPicPr>
          <p:cNvPr id="36" name="Image 6" descr="/home/claude/hera_pptx/icons/search.png">    </p:cNvPr>
          <p:cNvPicPr>
            <a:picLocks noChangeAspect="1"/>
          </p:cNvPicPr>
          <p:nvPr/>
        </p:nvPicPr>
        <p:blipFill>
          <a:blip r:embed="rId7"/>
          <a:stretch>
            <a:fillRect/>
          </a:stretch>
        </p:blipFill>
        <p:spPr>
          <a:xfrm>
            <a:off x="6460236" y="3159252"/>
            <a:ext cx="228600" cy="228600"/>
          </a:xfrm>
          <a:prstGeom prst="rect">
            <a:avLst/>
          </a:prstGeom>
        </p:spPr>
      </p:pic>
      <p:sp>
        <p:nvSpPr>
          <p:cNvPr id="37" name="Text 28"/>
          <p:cNvSpPr/>
          <p:nvPr/>
        </p:nvSpPr>
        <p:spPr>
          <a:xfrm>
            <a:off x="6318504" y="344728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OCR &amp; tài liệu động</a:t>
            </a:r>
            <a:endParaRPr lang="en-US" sz="1025" dirty="0"/>
          </a:p>
        </p:txBody>
      </p:sp>
      <p:sp>
        <p:nvSpPr>
          <p:cNvPr id="38" name="Text 29"/>
          <p:cNvSpPr/>
          <p:nvPr/>
        </p:nvSpPr>
        <p:spPr>
          <a:xfrm>
            <a:off x="6318504" y="372160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Pipeline riêng, human-in-the-loop approval</a:t>
            </a:r>
            <a:endParaRPr lang="en-US" sz="800" dirty="0"/>
          </a:p>
        </p:txBody>
      </p:sp>
      <p:sp>
        <p:nvSpPr>
          <p:cNvPr id="39" name="Shape 30"/>
          <p:cNvSpPr/>
          <p:nvPr/>
        </p:nvSpPr>
        <p:spPr>
          <a:xfrm>
            <a:off x="8997696" y="2880360"/>
            <a:ext cx="2651760" cy="1097280"/>
          </a:xfrm>
          <a:prstGeom prst="roundRect">
            <a:avLst>
              <a:gd name="adj" fmla="val 7500"/>
            </a:avLst>
          </a:prstGeom>
          <a:solidFill>
            <a:srgbClr val="F3FAF9"/>
          </a:solidFill>
          <a:ln w="12700">
            <a:solidFill>
              <a:srgbClr val="DCEDEB"/>
            </a:solidFill>
            <a:prstDash val="solid"/>
          </a:ln>
        </p:spPr>
      </p:sp>
      <p:sp>
        <p:nvSpPr>
          <p:cNvPr id="40" name="Shape 31"/>
          <p:cNvSpPr/>
          <p:nvPr/>
        </p:nvSpPr>
        <p:spPr>
          <a:xfrm>
            <a:off x="9162288" y="3044952"/>
            <a:ext cx="457200" cy="457200"/>
          </a:xfrm>
          <a:prstGeom prst="ellipse">
            <a:avLst/>
          </a:prstGeom>
          <a:solidFill>
            <a:srgbClr val="0B7285"/>
          </a:solidFill>
          <a:ln/>
        </p:spPr>
      </p:sp>
      <p:pic>
        <p:nvPicPr>
          <p:cNvPr id="41" name="Image 7" descr="/home/claude/hera_pptx/icons/userShield.png">    </p:cNvPr>
          <p:cNvPicPr>
            <a:picLocks noChangeAspect="1"/>
          </p:cNvPicPr>
          <p:nvPr/>
        </p:nvPicPr>
        <p:blipFill>
          <a:blip r:embed="rId8"/>
          <a:stretch>
            <a:fillRect/>
          </a:stretch>
        </p:blipFill>
        <p:spPr>
          <a:xfrm>
            <a:off x="9276588" y="3159252"/>
            <a:ext cx="228600" cy="228600"/>
          </a:xfrm>
          <a:prstGeom prst="rect">
            <a:avLst/>
          </a:prstGeom>
        </p:spPr>
      </p:pic>
      <p:sp>
        <p:nvSpPr>
          <p:cNvPr id="42" name="Text 32"/>
          <p:cNvSpPr/>
          <p:nvPr/>
        </p:nvSpPr>
        <p:spPr>
          <a:xfrm>
            <a:off x="9134856" y="3447288"/>
            <a:ext cx="2377440" cy="292608"/>
          </a:xfrm>
          <a:prstGeom prst="rect">
            <a:avLst/>
          </a:prstGeom>
          <a:noFill/>
          <a:ln/>
        </p:spPr>
        <p:txBody>
          <a:bodyPr wrap="square" rtlCol="0" anchor="ctr"/>
          <a:lstStyle/>
          <a:p>
            <a:pPr indent="0" marL="0">
              <a:lnSpc>
                <a:spcPts val="1100"/>
              </a:lnSpc>
              <a:buNone/>
            </a:pPr>
            <a:r>
              <a:rPr lang="en-US" sz="1025" b="1" dirty="0">
                <a:solidFill>
                  <a:srgbClr val="13292E"/>
                </a:solidFill>
                <a:latin typeface="Calibri" pitchFamily="34" charset="0"/>
                <a:ea typeface="Calibri" pitchFamily="34" charset="-122"/>
                <a:cs typeface="Calibri" pitchFamily="34" charset="-120"/>
              </a:rPr>
              <a:t>Phân quyền vận hành</a:t>
            </a:r>
            <a:endParaRPr lang="en-US" sz="1025" dirty="0"/>
          </a:p>
        </p:txBody>
      </p:sp>
      <p:sp>
        <p:nvSpPr>
          <p:cNvPr id="43" name="Text 33"/>
          <p:cNvSpPr/>
          <p:nvPr/>
        </p:nvSpPr>
        <p:spPr>
          <a:xfrm>
            <a:off x="9134856" y="3721608"/>
            <a:ext cx="2377440" cy="256032"/>
          </a:xfrm>
          <a:prstGeom prst="rect">
            <a:avLst/>
          </a:prstGeom>
          <a:noFill/>
          <a:ln/>
        </p:spPr>
        <p:txBody>
          <a:bodyPr wrap="square" rtlCol="0" anchor="ctr"/>
          <a:lstStyle/>
          <a:p>
            <a:pPr indent="0" marL="0">
              <a:lnSpc>
                <a:spcPts val="900"/>
              </a:lnSpc>
              <a:buNone/>
            </a:pPr>
            <a:r>
              <a:rPr lang="en-US" sz="800" dirty="0">
                <a:solidFill>
                  <a:srgbClr val="5B7278"/>
                </a:solidFill>
                <a:latin typeface="Calibri" pitchFamily="34" charset="0"/>
                <a:ea typeface="Calibri" pitchFamily="34" charset="-122"/>
                <a:cs typeface="Calibri" pitchFamily="34" charset="-120"/>
              </a:rPr>
              <a:t>Vai trò CSKH, dữ liệu, duyệt nghiệp vụ, auditor</a:t>
            </a:r>
            <a:endParaRPr lang="en-US" sz="800" dirty="0"/>
          </a:p>
        </p:txBody>
      </p:sp>
      <p:sp>
        <p:nvSpPr>
          <p:cNvPr id="44" name="Text 34"/>
          <p:cNvSpPr/>
          <p:nvPr/>
        </p:nvSpPr>
        <p:spPr>
          <a:xfrm>
            <a:off x="548640" y="6080760"/>
            <a:ext cx="10881360" cy="365760"/>
          </a:xfrm>
          <a:prstGeom prst="rect">
            <a:avLst/>
          </a:prstGeom>
          <a:noFill/>
          <a:ln/>
        </p:spPr>
        <p:txBody>
          <a:bodyPr wrap="square" rtlCol="0" anchor="ctr"/>
          <a:lstStyle/>
          <a:p>
            <a:pPr indent="0" marL="0">
              <a:buNone/>
            </a:pPr>
            <a:r>
              <a:rPr lang="en-US" sz="1200" b="1" i="1" dirty="0">
                <a:solidFill>
                  <a:srgbClr val="0B7285"/>
                </a:solidFill>
                <a:latin typeface="Calibri" pitchFamily="34" charset="0"/>
                <a:ea typeface="Calibri" pitchFamily="34" charset="-122"/>
                <a:cs typeface="Calibri" pitchFamily="34" charset="-120"/>
              </a:rPr>
              <a:t>“RAG tốt không cứu được dữ liệu sai” — DataOps là điều kiện sống còn cho một trợ lý y tế đáng tin.</a:t>
            </a:r>
            <a:endParaRPr lang="en-US" sz="1200" dirty="0"/>
          </a:p>
        </p:txBody>
      </p:sp>
      <p:sp>
        <p:nvSpPr>
          <p:cNvPr id="45" name="Text 35"/>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46" name="Text 3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B7285"/>
                </a:solidFill>
                <a:latin typeface="Calibri" pitchFamily="34" charset="0"/>
                <a:ea typeface="Calibri" pitchFamily="34" charset="-122"/>
                <a:cs typeface="Calibri" pitchFamily="34" charset="-120"/>
              </a:rPr>
              <a:t>13 · RÀO CẢN</a:t>
            </a:r>
            <a:endParaRPr lang="en-US" sz="1200" dirty="0"/>
          </a:p>
        </p:txBody>
      </p:sp>
      <p:sp>
        <p:nvSpPr>
          <p:cNvPr id="3" name="Text 1"/>
          <p:cNvSpPr/>
          <p:nvPr/>
        </p:nvSpPr>
        <p:spPr>
          <a:xfrm>
            <a:off x="548640" y="749808"/>
            <a:ext cx="10607040" cy="777240"/>
          </a:xfrm>
          <a:prstGeom prst="rect">
            <a:avLst/>
          </a:prstGeom>
          <a:noFill/>
          <a:ln/>
        </p:spPr>
        <p:txBody>
          <a:bodyPr wrap="square" rtlCol="0" anchor="ctr"/>
          <a:lstStyle/>
          <a:p>
            <a:pPr indent="0" marL="0">
              <a:buNone/>
            </a:pPr>
            <a:r>
              <a:rPr lang="en-US" sz="3000" b="1" dirty="0">
                <a:solidFill>
                  <a:srgbClr val="13292E"/>
                </a:solidFill>
                <a:latin typeface="Cambria" pitchFamily="34" charset="0"/>
                <a:ea typeface="Cambria" pitchFamily="34" charset="-122"/>
                <a:cs typeface="Cambria" pitchFamily="34" charset="-120"/>
              </a:rPr>
              <a:t>Rào cản lớn nhất khi ra mắt không chỉ là thuật toán</a:t>
            </a:r>
            <a:endParaRPr lang="en-US" sz="3000" dirty="0"/>
          </a:p>
        </p:txBody>
      </p:sp>
      <p:sp>
        <p:nvSpPr>
          <p:cNvPr id="4" name="Text 2"/>
          <p:cNvSpPr/>
          <p:nvPr/>
        </p:nvSpPr>
        <p:spPr>
          <a:xfrm>
            <a:off x="548640" y="1600200"/>
            <a:ext cx="10607040" cy="457200"/>
          </a:xfrm>
          <a:prstGeom prst="rect">
            <a:avLst/>
          </a:prstGeom>
          <a:noFill/>
          <a:ln/>
        </p:spPr>
        <p:txBody>
          <a:bodyPr wrap="square" rtlCol="0" anchor="ctr"/>
          <a:lstStyle/>
          <a:p>
            <a:pPr indent="0" marL="0">
              <a:buNone/>
            </a:pPr>
            <a:r>
              <a:rPr lang="en-US" sz="1300" i="1" dirty="0">
                <a:solidFill>
                  <a:srgbClr val="5B7278"/>
                </a:solidFill>
                <a:latin typeface="Calibri" pitchFamily="34" charset="0"/>
                <a:ea typeface="Calibri" pitchFamily="34" charset="-122"/>
                <a:cs typeface="Calibri" pitchFamily="34" charset="-120"/>
              </a:rPr>
              <a:t>HERA đã có nền kỹ thuật tốt, nhưng một hệ thống trả lời cho bệnh viện cần được phê duyệt, vận hành, cập nhật và chịu trách nhiệm.</a:t>
            </a:r>
            <a:endParaRPr lang="en-US" sz="1300" dirty="0"/>
          </a:p>
        </p:txBody>
      </p:sp>
      <p:sp>
        <p:nvSpPr>
          <p:cNvPr id="5" name="Shape 3"/>
          <p:cNvSpPr/>
          <p:nvPr/>
        </p:nvSpPr>
        <p:spPr>
          <a:xfrm>
            <a:off x="548640" y="2286000"/>
            <a:ext cx="5257800" cy="1508760"/>
          </a:xfrm>
          <a:prstGeom prst="roundRect">
            <a:avLst>
              <a:gd name="adj" fmla="val 6061"/>
            </a:avLst>
          </a:prstGeom>
          <a:solidFill>
            <a:srgbClr val="FFFFFF"/>
          </a:solidFill>
          <a:ln w="12700">
            <a:solidFill>
              <a:srgbClr val="DCEDEB"/>
            </a:solidFill>
            <a:prstDash val="solid"/>
          </a:ln>
          <a:effectLst>
            <a:outerShdw sx="100000" sy="100000" kx="0" ky="0" algn="bl" rotWithShape="0" blurRad="76200" dist="25400" dir="5400000">
              <a:srgbClr val="0B7285">
                <a:alpha val="10000"/>
              </a:srgbClr>
            </a:outerShdw>
          </a:effectLst>
        </p:spPr>
      </p:sp>
      <p:sp>
        <p:nvSpPr>
          <p:cNvPr id="6" name="Shape 4"/>
          <p:cNvSpPr/>
          <p:nvPr/>
        </p:nvSpPr>
        <p:spPr>
          <a:xfrm>
            <a:off x="777240" y="2606040"/>
            <a:ext cx="777240" cy="777240"/>
          </a:xfrm>
          <a:prstGeom prst="ellipse">
            <a:avLst/>
          </a:prstGeom>
          <a:solidFill>
            <a:srgbClr val="E8544E"/>
          </a:solidFill>
          <a:ln/>
        </p:spPr>
      </p:sp>
      <p:pic>
        <p:nvPicPr>
          <p:cNvPr id="7" name="Image 0" descr="/home/claude/hera_pptx/icons/gavel.png">    </p:cNvPr>
          <p:cNvPicPr>
            <a:picLocks noChangeAspect="1"/>
          </p:cNvPicPr>
          <p:nvPr/>
        </p:nvPicPr>
        <p:blipFill>
          <a:blip r:embed="rId1"/>
          <a:stretch>
            <a:fillRect/>
          </a:stretch>
        </p:blipFill>
        <p:spPr>
          <a:xfrm>
            <a:off x="971550" y="2800350"/>
            <a:ext cx="388620" cy="388620"/>
          </a:xfrm>
          <a:prstGeom prst="rect">
            <a:avLst/>
          </a:prstGeom>
        </p:spPr>
      </p:pic>
      <p:sp>
        <p:nvSpPr>
          <p:cNvPr id="8" name="Text 5"/>
          <p:cNvSpPr/>
          <p:nvPr/>
        </p:nvSpPr>
        <p:spPr>
          <a:xfrm>
            <a:off x="1737360" y="2423160"/>
            <a:ext cx="3886200" cy="457200"/>
          </a:xfrm>
          <a:prstGeom prst="rect">
            <a:avLst/>
          </a:prstGeom>
          <a:noFill/>
          <a:ln/>
        </p:spPr>
        <p:txBody>
          <a:bodyPr wrap="square" rtlCol="0" anchor="ctr"/>
          <a:lstStyle/>
          <a:p>
            <a:pPr indent="0" marL="0">
              <a:lnSpc>
                <a:spcPts val="1600"/>
              </a:lnSpc>
              <a:buNone/>
            </a:pPr>
            <a:r>
              <a:rPr lang="en-US" sz="1400" b="1" dirty="0">
                <a:solidFill>
                  <a:srgbClr val="13292E"/>
                </a:solidFill>
                <a:latin typeface="Cambria" pitchFamily="34" charset="0"/>
                <a:ea typeface="Cambria" pitchFamily="34" charset="-122"/>
                <a:cs typeface="Cambria" pitchFamily="34" charset="-120"/>
              </a:rPr>
              <a:t>Pháp lý &amp; trách nhiệm y tế</a:t>
            </a:r>
            <a:endParaRPr lang="en-US" sz="1400" dirty="0"/>
          </a:p>
        </p:txBody>
      </p:sp>
      <p:sp>
        <p:nvSpPr>
          <p:cNvPr id="9" name="Text 6"/>
          <p:cNvSpPr/>
          <p:nvPr/>
        </p:nvSpPr>
        <p:spPr>
          <a:xfrm>
            <a:off x="1737360" y="2907792"/>
            <a:ext cx="388620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Phạm vi trả lời, khi nào bắt buộc chuyển hotline, ai chịu trách nhiệm khi dữ liệu sai.</a:t>
            </a:r>
            <a:endParaRPr lang="en-US" sz="1050" dirty="0"/>
          </a:p>
        </p:txBody>
      </p:sp>
      <p:sp>
        <p:nvSpPr>
          <p:cNvPr id="10" name="Shape 7"/>
          <p:cNvSpPr/>
          <p:nvPr/>
        </p:nvSpPr>
        <p:spPr>
          <a:xfrm>
            <a:off x="6035040" y="2286000"/>
            <a:ext cx="5257800" cy="1508760"/>
          </a:xfrm>
          <a:prstGeom prst="roundRect">
            <a:avLst>
              <a:gd name="adj" fmla="val 6061"/>
            </a:avLst>
          </a:prstGeom>
          <a:solidFill>
            <a:srgbClr val="FFFFFF"/>
          </a:solidFill>
          <a:ln w="12700">
            <a:solidFill>
              <a:srgbClr val="DCEDEB"/>
            </a:solidFill>
            <a:prstDash val="solid"/>
          </a:ln>
          <a:effectLst>
            <a:outerShdw sx="100000" sy="100000" kx="0" ky="0" algn="bl" rotWithShape="0" blurRad="76200" dist="25400" dir="5400000">
              <a:srgbClr val="0B7285">
                <a:alpha val="10000"/>
              </a:srgbClr>
            </a:outerShdw>
          </a:effectLst>
        </p:spPr>
      </p:sp>
      <p:sp>
        <p:nvSpPr>
          <p:cNvPr id="11" name="Shape 8"/>
          <p:cNvSpPr/>
          <p:nvPr/>
        </p:nvSpPr>
        <p:spPr>
          <a:xfrm>
            <a:off x="6263640" y="2606040"/>
            <a:ext cx="777240" cy="777240"/>
          </a:xfrm>
          <a:prstGeom prst="ellipse">
            <a:avLst/>
          </a:prstGeom>
          <a:solidFill>
            <a:srgbClr val="E8544E"/>
          </a:solidFill>
          <a:ln/>
        </p:spPr>
      </p:sp>
      <p:pic>
        <p:nvPicPr>
          <p:cNvPr id="12" name="Image 1" descr="/home/claude/hera_pptx/icons/database.png">    </p:cNvPr>
          <p:cNvPicPr>
            <a:picLocks noChangeAspect="1"/>
          </p:cNvPicPr>
          <p:nvPr/>
        </p:nvPicPr>
        <p:blipFill>
          <a:blip r:embed="rId2"/>
          <a:stretch>
            <a:fillRect/>
          </a:stretch>
        </p:blipFill>
        <p:spPr>
          <a:xfrm>
            <a:off x="6457950" y="2800350"/>
            <a:ext cx="388620" cy="388620"/>
          </a:xfrm>
          <a:prstGeom prst="rect">
            <a:avLst/>
          </a:prstGeom>
        </p:spPr>
      </p:pic>
      <p:sp>
        <p:nvSpPr>
          <p:cNvPr id="13" name="Text 9"/>
          <p:cNvSpPr/>
          <p:nvPr/>
        </p:nvSpPr>
        <p:spPr>
          <a:xfrm>
            <a:off x="7223760" y="2423160"/>
            <a:ext cx="3886200" cy="457200"/>
          </a:xfrm>
          <a:prstGeom prst="rect">
            <a:avLst/>
          </a:prstGeom>
          <a:noFill/>
          <a:ln/>
        </p:spPr>
        <p:txBody>
          <a:bodyPr wrap="square" rtlCol="0" anchor="ctr"/>
          <a:lstStyle/>
          <a:p>
            <a:pPr indent="0" marL="0">
              <a:lnSpc>
                <a:spcPts val="1600"/>
              </a:lnSpc>
              <a:buNone/>
            </a:pPr>
            <a:r>
              <a:rPr lang="en-US" sz="1400" b="1" dirty="0">
                <a:solidFill>
                  <a:srgbClr val="13292E"/>
                </a:solidFill>
                <a:latin typeface="Cambria" pitchFamily="34" charset="0"/>
                <a:ea typeface="Cambria" pitchFamily="34" charset="-122"/>
                <a:cs typeface="Cambria" pitchFamily="34" charset="-120"/>
              </a:rPr>
              <a:t>Độ tin cậy dữ liệu động</a:t>
            </a:r>
            <a:endParaRPr lang="en-US" sz="1400" dirty="0"/>
          </a:p>
        </p:txBody>
      </p:sp>
      <p:sp>
        <p:nvSpPr>
          <p:cNvPr id="14" name="Text 10"/>
          <p:cNvSpPr/>
          <p:nvPr/>
        </p:nvSpPr>
        <p:spPr>
          <a:xfrm>
            <a:off x="7223760" y="2907792"/>
            <a:ext cx="388620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Lịch, giá, BHYT thay đổi liên tục — cần quy trình DataOps: nhập, kiểm, duyệt, publish, rollback.</a:t>
            </a:r>
            <a:endParaRPr lang="en-US" sz="1050" dirty="0"/>
          </a:p>
        </p:txBody>
      </p:sp>
      <p:sp>
        <p:nvSpPr>
          <p:cNvPr id="15" name="Shape 11"/>
          <p:cNvSpPr/>
          <p:nvPr/>
        </p:nvSpPr>
        <p:spPr>
          <a:xfrm>
            <a:off x="548640" y="3977640"/>
            <a:ext cx="5257800" cy="1508760"/>
          </a:xfrm>
          <a:prstGeom prst="roundRect">
            <a:avLst>
              <a:gd name="adj" fmla="val 6061"/>
            </a:avLst>
          </a:prstGeom>
          <a:solidFill>
            <a:srgbClr val="FFFFFF"/>
          </a:solidFill>
          <a:ln w="12700">
            <a:solidFill>
              <a:srgbClr val="DCEDEB"/>
            </a:solidFill>
            <a:prstDash val="solid"/>
          </a:ln>
          <a:effectLst>
            <a:outerShdw sx="100000" sy="100000" kx="0" ky="0" algn="bl" rotWithShape="0" blurRad="76200" dist="25400" dir="5400000">
              <a:srgbClr val="0B7285">
                <a:alpha val="10000"/>
              </a:srgbClr>
            </a:outerShdw>
          </a:effectLst>
        </p:spPr>
      </p:sp>
      <p:sp>
        <p:nvSpPr>
          <p:cNvPr id="16" name="Shape 12"/>
          <p:cNvSpPr/>
          <p:nvPr/>
        </p:nvSpPr>
        <p:spPr>
          <a:xfrm>
            <a:off x="777240" y="4297680"/>
            <a:ext cx="777240" cy="777240"/>
          </a:xfrm>
          <a:prstGeom prst="ellipse">
            <a:avLst/>
          </a:prstGeom>
          <a:solidFill>
            <a:srgbClr val="E8544E"/>
          </a:solidFill>
          <a:ln/>
        </p:spPr>
      </p:sp>
      <p:pic>
        <p:nvPicPr>
          <p:cNvPr id="17" name="Image 2" descr="/home/claude/hera_pptx/icons/handshake.png">    </p:cNvPr>
          <p:cNvPicPr>
            <a:picLocks noChangeAspect="1"/>
          </p:cNvPicPr>
          <p:nvPr/>
        </p:nvPicPr>
        <p:blipFill>
          <a:blip r:embed="rId3"/>
          <a:stretch>
            <a:fillRect/>
          </a:stretch>
        </p:blipFill>
        <p:spPr>
          <a:xfrm>
            <a:off x="971550" y="4491990"/>
            <a:ext cx="388620" cy="388620"/>
          </a:xfrm>
          <a:prstGeom prst="rect">
            <a:avLst/>
          </a:prstGeom>
        </p:spPr>
      </p:pic>
      <p:sp>
        <p:nvSpPr>
          <p:cNvPr id="18" name="Text 13"/>
          <p:cNvSpPr/>
          <p:nvPr/>
        </p:nvSpPr>
        <p:spPr>
          <a:xfrm>
            <a:off x="1737360" y="4114800"/>
            <a:ext cx="3886200" cy="457200"/>
          </a:xfrm>
          <a:prstGeom prst="rect">
            <a:avLst/>
          </a:prstGeom>
          <a:noFill/>
          <a:ln/>
        </p:spPr>
        <p:txBody>
          <a:bodyPr wrap="square" rtlCol="0" anchor="ctr"/>
          <a:lstStyle/>
          <a:p>
            <a:pPr indent="0" marL="0">
              <a:lnSpc>
                <a:spcPts val="1600"/>
              </a:lnSpc>
              <a:buNone/>
            </a:pPr>
            <a:r>
              <a:rPr lang="en-US" sz="1400" b="1" dirty="0">
                <a:solidFill>
                  <a:srgbClr val="13292E"/>
                </a:solidFill>
                <a:latin typeface="Cambria" pitchFamily="34" charset="0"/>
                <a:ea typeface="Cambria" pitchFamily="34" charset="-122"/>
                <a:cs typeface="Cambria" pitchFamily="34" charset="-120"/>
              </a:rPr>
              <a:t>Niềm tin vận hành</a:t>
            </a:r>
            <a:endParaRPr lang="en-US" sz="1400" dirty="0"/>
          </a:p>
        </p:txBody>
      </p:sp>
      <p:sp>
        <p:nvSpPr>
          <p:cNvPr id="19" name="Text 14"/>
          <p:cNvSpPr/>
          <p:nvPr/>
        </p:nvSpPr>
        <p:spPr>
          <a:xfrm>
            <a:off x="1737360" y="4599432"/>
            <a:ext cx="388620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Nhân viên lo đối soát thêm việc; người bệnh vẫn gọi hotline xác nhận — cần ra mắt mềm, đào tạo, đo chỉ số.</a:t>
            </a:r>
            <a:endParaRPr lang="en-US" sz="1050" dirty="0"/>
          </a:p>
        </p:txBody>
      </p:sp>
      <p:sp>
        <p:nvSpPr>
          <p:cNvPr id="20" name="Shape 15"/>
          <p:cNvSpPr/>
          <p:nvPr/>
        </p:nvSpPr>
        <p:spPr>
          <a:xfrm>
            <a:off x="6035040" y="3977640"/>
            <a:ext cx="5257800" cy="1508760"/>
          </a:xfrm>
          <a:prstGeom prst="roundRect">
            <a:avLst>
              <a:gd name="adj" fmla="val 6061"/>
            </a:avLst>
          </a:prstGeom>
          <a:solidFill>
            <a:srgbClr val="FFFFFF"/>
          </a:solidFill>
          <a:ln w="12700">
            <a:solidFill>
              <a:srgbClr val="DCEDEB"/>
            </a:solidFill>
            <a:prstDash val="solid"/>
          </a:ln>
          <a:effectLst>
            <a:outerShdw sx="100000" sy="100000" kx="0" ky="0" algn="bl" rotWithShape="0" blurRad="76200" dist="25400" dir="5400000">
              <a:srgbClr val="0B7285">
                <a:alpha val="10000"/>
              </a:srgbClr>
            </a:outerShdw>
          </a:effectLst>
        </p:spPr>
      </p:sp>
      <p:sp>
        <p:nvSpPr>
          <p:cNvPr id="21" name="Shape 16"/>
          <p:cNvSpPr/>
          <p:nvPr/>
        </p:nvSpPr>
        <p:spPr>
          <a:xfrm>
            <a:off x="6263640" y="4297680"/>
            <a:ext cx="777240" cy="777240"/>
          </a:xfrm>
          <a:prstGeom prst="ellipse">
            <a:avLst/>
          </a:prstGeom>
          <a:solidFill>
            <a:srgbClr val="E8544E"/>
          </a:solidFill>
          <a:ln/>
        </p:spPr>
      </p:sp>
      <p:pic>
        <p:nvPicPr>
          <p:cNvPr id="22" name="Image 3" descr="/home/claude/hera_pptx/icons/key.png">    </p:cNvPr>
          <p:cNvPicPr>
            <a:picLocks noChangeAspect="1"/>
          </p:cNvPicPr>
          <p:nvPr/>
        </p:nvPicPr>
        <p:blipFill>
          <a:blip r:embed="rId4"/>
          <a:stretch>
            <a:fillRect/>
          </a:stretch>
        </p:blipFill>
        <p:spPr>
          <a:xfrm>
            <a:off x="6457950" y="4491990"/>
            <a:ext cx="388620" cy="388620"/>
          </a:xfrm>
          <a:prstGeom prst="rect">
            <a:avLst/>
          </a:prstGeom>
        </p:spPr>
      </p:pic>
      <p:sp>
        <p:nvSpPr>
          <p:cNvPr id="23" name="Text 17"/>
          <p:cNvSpPr/>
          <p:nvPr/>
        </p:nvSpPr>
        <p:spPr>
          <a:xfrm>
            <a:off x="7223760" y="4114800"/>
            <a:ext cx="3886200" cy="457200"/>
          </a:xfrm>
          <a:prstGeom prst="rect">
            <a:avLst/>
          </a:prstGeom>
          <a:noFill/>
          <a:ln/>
        </p:spPr>
        <p:txBody>
          <a:bodyPr wrap="square" rtlCol="0" anchor="ctr"/>
          <a:lstStyle/>
          <a:p>
            <a:pPr indent="0" marL="0">
              <a:lnSpc>
                <a:spcPts val="1600"/>
              </a:lnSpc>
              <a:buNone/>
            </a:pPr>
            <a:r>
              <a:rPr lang="en-US" sz="1400" b="1" dirty="0">
                <a:solidFill>
                  <a:srgbClr val="13292E"/>
                </a:solidFill>
                <a:latin typeface="Cambria" pitchFamily="34" charset="0"/>
                <a:ea typeface="Cambria" pitchFamily="34" charset="-122"/>
                <a:cs typeface="Cambria" pitchFamily="34" charset="-120"/>
              </a:rPr>
              <a:t>Phụ thuộc model gateway</a:t>
            </a:r>
            <a:endParaRPr lang="en-US" sz="1400" dirty="0"/>
          </a:p>
        </p:txBody>
      </p:sp>
      <p:sp>
        <p:nvSpPr>
          <p:cNvPr id="24" name="Text 18"/>
          <p:cNvSpPr/>
          <p:nvPr/>
        </p:nvSpPr>
        <p:spPr>
          <a:xfrm>
            <a:off x="7223760" y="4599432"/>
            <a:ext cx="3886200" cy="777240"/>
          </a:xfrm>
          <a:prstGeom prst="rect">
            <a:avLst/>
          </a:prstGeom>
          <a:noFill/>
          <a:ln/>
        </p:spPr>
        <p:txBody>
          <a:bodyPr wrap="square" rtlCol="0" anchor="ctr"/>
          <a:lstStyle/>
          <a:p>
            <a:pPr indent="0" marL="0">
              <a:lnSpc>
                <a:spcPts val="1300"/>
              </a:lnSpc>
              <a:buNone/>
            </a:pPr>
            <a:r>
              <a:rPr lang="en-US" sz="1050" dirty="0">
                <a:solidFill>
                  <a:srgbClr val="5B7278"/>
                </a:solidFill>
                <a:latin typeface="Calibri" pitchFamily="34" charset="0"/>
                <a:ea typeface="Calibri" pitchFamily="34" charset="-122"/>
                <a:cs typeface="Calibri" pitchFamily="34" charset="-120"/>
              </a:rPr>
              <a:t>Đang dùng provider tương thích OpenAI qua FPT — cần quyết định rõ nếu yêu cầu không phụ thuộc bên thứ ba.</a:t>
            </a:r>
            <a:endParaRPr lang="en-US" sz="1050" dirty="0"/>
          </a:p>
        </p:txBody>
      </p:sp>
      <p:sp>
        <p:nvSpPr>
          <p:cNvPr id="25" name="Text 19"/>
          <p:cNvSpPr/>
          <p:nvPr/>
        </p:nvSpPr>
        <p:spPr>
          <a:xfrm>
            <a:off x="548640" y="6473952"/>
            <a:ext cx="4572000" cy="274320"/>
          </a:xfrm>
          <a:prstGeom prst="rect">
            <a:avLst/>
          </a:prstGeom>
          <a:noFill/>
          <a:ln/>
        </p:spPr>
        <p:txBody>
          <a:bodyPr wrap="square" rtlCol="0" anchor="ctr"/>
          <a:lstStyle/>
          <a:p>
            <a:pPr indent="0" marL="0">
              <a:buNone/>
            </a:pPr>
            <a:r>
              <a:rPr lang="en-US" sz="1000" dirty="0">
                <a:solidFill>
                  <a:srgbClr val="5B7278"/>
                </a:solidFill>
                <a:latin typeface="Calibri" pitchFamily="34" charset="0"/>
                <a:ea typeface="Calibri" pitchFamily="34" charset="-122"/>
                <a:cs typeface="Calibri" pitchFamily="34" charset="-120"/>
              </a:rPr>
              <a:t>HERA · Bệnh viện Tim Hà Nội</a:t>
            </a:r>
            <a:endParaRPr lang="en-US" sz="1000" dirty="0"/>
          </a:p>
        </p:txBody>
      </p:sp>
      <p:sp>
        <p:nvSpPr>
          <p:cNvPr id="26"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3F49"/>
        </a:solidFill>
      </p:bgPr>
    </p:bg>
    <p:spTree>
      <p:nvGrpSpPr>
        <p:cNvPr id="1" name=""/>
        <p:cNvGrpSpPr/>
        <p:nvPr/>
      </p:nvGrpSpPr>
      <p:grpSpPr>
        <a:xfrm>
          <a:off x="0" y="0"/>
          <a:ext cx="0" cy="0"/>
          <a:chOff x="0" y="0"/>
          <a:chExt cx="0" cy="0"/>
        </a:xfrm>
      </p:grpSpPr>
      <p:sp>
        <p:nvSpPr>
          <p:cNvPr id="2" name="Shape 0"/>
          <p:cNvSpPr/>
          <p:nvPr/>
        </p:nvSpPr>
        <p:spPr>
          <a:xfrm>
            <a:off x="-1828800" y="-2286000"/>
            <a:ext cx="5943600" cy="5943600"/>
          </a:xfrm>
          <a:prstGeom prst="ellipse">
            <a:avLst/>
          </a:prstGeom>
          <a:solidFill>
            <a:srgbClr val="0B7285">
              <a:alpha val="60000"/>
            </a:srgbClr>
          </a:solidFill>
          <a:ln/>
        </p:spPr>
      </p:sp>
      <p:sp>
        <p:nvSpPr>
          <p:cNvPr id="3" name="Shape 1"/>
          <p:cNvSpPr/>
          <p:nvPr/>
        </p:nvSpPr>
        <p:spPr>
          <a:xfrm>
            <a:off x="9144000" y="3840480"/>
            <a:ext cx="5029200" cy="5029200"/>
          </a:xfrm>
          <a:prstGeom prst="ellipse">
            <a:avLst/>
          </a:prstGeom>
          <a:solidFill>
            <a:srgbClr val="E8544E">
              <a:alpha val="22000"/>
            </a:srgbClr>
          </a:solidFill>
          <a:ln/>
        </p:spPr>
      </p:sp>
      <p:sp>
        <p:nvSpPr>
          <p:cNvPr id="4" name="Text 2"/>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4CB5AE"/>
                </a:solidFill>
                <a:latin typeface="Calibri" pitchFamily="34" charset="0"/>
                <a:ea typeface="Calibri" pitchFamily="34" charset="-122"/>
                <a:cs typeface="Calibri" pitchFamily="34" charset="-120"/>
              </a:rPr>
              <a:t>14 · KẾT LUẬN</a:t>
            </a:r>
            <a:endParaRPr lang="en-US" sz="1200" dirty="0"/>
          </a:p>
        </p:txBody>
      </p:sp>
      <p:sp>
        <p:nvSpPr>
          <p:cNvPr id="5" name="Text 3"/>
          <p:cNvSpPr/>
          <p:nvPr/>
        </p:nvSpPr>
        <p:spPr>
          <a:xfrm>
            <a:off x="548640" y="749808"/>
            <a:ext cx="10607040" cy="7772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HERA biết giới hạn — và chính điều đó làm nó đáng tin</a:t>
            </a:r>
            <a:endParaRPr lang="en-US" sz="2700" dirty="0"/>
          </a:p>
        </p:txBody>
      </p:sp>
      <p:sp>
        <p:nvSpPr>
          <p:cNvPr id="6" name="Text 4"/>
          <p:cNvSpPr/>
          <p:nvPr/>
        </p:nvSpPr>
        <p:spPr>
          <a:xfrm>
            <a:off x="548640" y="1691640"/>
            <a:ext cx="6583680" cy="822960"/>
          </a:xfrm>
          <a:prstGeom prst="rect">
            <a:avLst/>
          </a:prstGeom>
          <a:noFill/>
          <a:ln/>
        </p:spPr>
        <p:txBody>
          <a:bodyPr wrap="square" rtlCol="0" anchor="ctr"/>
          <a:lstStyle/>
          <a:p>
            <a:pPr indent="0" marL="0">
              <a:lnSpc>
                <a:spcPts val="1800"/>
              </a:lnSpc>
              <a:buNone/>
            </a:pPr>
            <a:r>
              <a:rPr lang="en-US" sz="1350" dirty="0">
                <a:solidFill>
                  <a:srgbClr val="E7F5F3"/>
                </a:solidFill>
                <a:latin typeface="Calibri" pitchFamily="34" charset="0"/>
                <a:ea typeface="Calibri" pitchFamily="34" charset="-122"/>
                <a:cs typeface="Calibri" pitchFamily="34" charset="-120"/>
              </a:rPr>
              <a:t>HERA xuất phát từ đúng hành trình người bệnh: tìm lịch, hỏi giá, hỏi BHYT, hỏi thủ tục, đặt lịch, cần hỗ trợ khẩn cấp và cần câu trả lời có nguồn.</a:t>
            </a:r>
            <a:endParaRPr lang="en-US" sz="1350" dirty="0"/>
          </a:p>
        </p:txBody>
      </p:sp>
      <p:sp>
        <p:nvSpPr>
          <p:cNvPr id="7" name="Shape 5"/>
          <p:cNvSpPr/>
          <p:nvPr/>
        </p:nvSpPr>
        <p:spPr>
          <a:xfrm>
            <a:off x="548640" y="2651760"/>
            <a:ext cx="384048" cy="384048"/>
          </a:xfrm>
          <a:prstGeom prst="ellipse">
            <a:avLst/>
          </a:prstGeom>
          <a:solidFill>
            <a:srgbClr val="E8544E"/>
          </a:solidFill>
          <a:ln/>
        </p:spPr>
      </p:sp>
      <p:pic>
        <p:nvPicPr>
          <p:cNvPr id="8" name="Image 0" descr="/home/claude/hera_pptx/icons/ban.png">    </p:cNvPr>
          <p:cNvPicPr>
            <a:picLocks noChangeAspect="1"/>
          </p:cNvPicPr>
          <p:nvPr/>
        </p:nvPicPr>
        <p:blipFill>
          <a:blip r:embed="rId1"/>
          <a:stretch>
            <a:fillRect/>
          </a:stretch>
        </p:blipFill>
        <p:spPr>
          <a:xfrm>
            <a:off x="635051" y="2738171"/>
            <a:ext cx="211226" cy="211226"/>
          </a:xfrm>
          <a:prstGeom prst="rect">
            <a:avLst/>
          </a:prstGeom>
        </p:spPr>
      </p:pic>
      <p:sp>
        <p:nvSpPr>
          <p:cNvPr id="9" name="Text 6"/>
          <p:cNvSpPr/>
          <p:nvPr/>
        </p:nvSpPr>
        <p:spPr>
          <a:xfrm>
            <a:off x="1051560" y="2651760"/>
            <a:ext cx="60807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Không chẩn đoán, không kê đơn</a:t>
            </a:r>
            <a:endParaRPr lang="en-US" sz="1200" dirty="0"/>
          </a:p>
        </p:txBody>
      </p:sp>
      <p:sp>
        <p:nvSpPr>
          <p:cNvPr id="10" name="Shape 7"/>
          <p:cNvSpPr/>
          <p:nvPr/>
        </p:nvSpPr>
        <p:spPr>
          <a:xfrm>
            <a:off x="548640" y="3154680"/>
            <a:ext cx="384048" cy="384048"/>
          </a:xfrm>
          <a:prstGeom prst="ellipse">
            <a:avLst/>
          </a:prstGeom>
          <a:solidFill>
            <a:srgbClr val="E8544E"/>
          </a:solidFill>
          <a:ln/>
        </p:spPr>
      </p:sp>
      <p:pic>
        <p:nvPicPr>
          <p:cNvPr id="11" name="Image 1" descr="/home/claude/hera_pptx/icons/ban.png">    </p:cNvPr>
          <p:cNvPicPr>
            <a:picLocks noChangeAspect="1"/>
          </p:cNvPicPr>
          <p:nvPr/>
        </p:nvPicPr>
        <p:blipFill>
          <a:blip r:embed="rId2"/>
          <a:stretch>
            <a:fillRect/>
          </a:stretch>
        </p:blipFill>
        <p:spPr>
          <a:xfrm>
            <a:off x="635051" y="3241091"/>
            <a:ext cx="211226" cy="211226"/>
          </a:xfrm>
          <a:prstGeom prst="rect">
            <a:avLst/>
          </a:prstGeom>
        </p:spPr>
      </p:pic>
      <p:sp>
        <p:nvSpPr>
          <p:cNvPr id="12" name="Text 8"/>
          <p:cNvSpPr/>
          <p:nvPr/>
        </p:nvSpPr>
        <p:spPr>
          <a:xfrm>
            <a:off x="1051560" y="3154680"/>
            <a:ext cx="60807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Không tính quyền lợi BHYT cá nhân khi thiếu dữ liệu</a:t>
            </a:r>
            <a:endParaRPr lang="en-US" sz="1200" dirty="0"/>
          </a:p>
        </p:txBody>
      </p:sp>
      <p:sp>
        <p:nvSpPr>
          <p:cNvPr id="13" name="Shape 9"/>
          <p:cNvSpPr/>
          <p:nvPr/>
        </p:nvSpPr>
        <p:spPr>
          <a:xfrm>
            <a:off x="548640" y="3657600"/>
            <a:ext cx="384048" cy="384048"/>
          </a:xfrm>
          <a:prstGeom prst="ellipse">
            <a:avLst/>
          </a:prstGeom>
          <a:solidFill>
            <a:srgbClr val="E8544E"/>
          </a:solidFill>
          <a:ln/>
        </p:spPr>
      </p:sp>
      <p:pic>
        <p:nvPicPr>
          <p:cNvPr id="14" name="Image 2" descr="/home/claude/hera_pptx/icons/ban.png">    </p:cNvPr>
          <p:cNvPicPr>
            <a:picLocks noChangeAspect="1"/>
          </p:cNvPicPr>
          <p:nvPr/>
        </p:nvPicPr>
        <p:blipFill>
          <a:blip r:embed="rId3"/>
          <a:stretch>
            <a:fillRect/>
          </a:stretch>
        </p:blipFill>
        <p:spPr>
          <a:xfrm>
            <a:off x="635051" y="3744011"/>
            <a:ext cx="211226" cy="211226"/>
          </a:xfrm>
          <a:prstGeom prst="rect">
            <a:avLst/>
          </a:prstGeom>
        </p:spPr>
      </p:pic>
      <p:sp>
        <p:nvSpPr>
          <p:cNvPr id="15" name="Text 10"/>
          <p:cNvSpPr/>
          <p:nvPr/>
        </p:nvSpPr>
        <p:spPr>
          <a:xfrm>
            <a:off x="1051560" y="3657600"/>
            <a:ext cx="60807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Không xác nhận lịch hẹn thay bệnh viện</a:t>
            </a:r>
            <a:endParaRPr lang="en-US" sz="1200" dirty="0"/>
          </a:p>
        </p:txBody>
      </p:sp>
      <p:sp>
        <p:nvSpPr>
          <p:cNvPr id="16" name="Shape 11"/>
          <p:cNvSpPr/>
          <p:nvPr/>
        </p:nvSpPr>
        <p:spPr>
          <a:xfrm>
            <a:off x="548640" y="4160520"/>
            <a:ext cx="384048" cy="384048"/>
          </a:xfrm>
          <a:prstGeom prst="ellipse">
            <a:avLst/>
          </a:prstGeom>
          <a:solidFill>
            <a:srgbClr val="E8544E"/>
          </a:solidFill>
          <a:ln/>
        </p:spPr>
      </p:sp>
      <p:pic>
        <p:nvPicPr>
          <p:cNvPr id="17" name="Image 3" descr="/home/claude/hera_pptx/icons/ban.png">    </p:cNvPr>
          <p:cNvPicPr>
            <a:picLocks noChangeAspect="1"/>
          </p:cNvPicPr>
          <p:nvPr/>
        </p:nvPicPr>
        <p:blipFill>
          <a:blip r:embed="rId4"/>
          <a:stretch>
            <a:fillRect/>
          </a:stretch>
        </p:blipFill>
        <p:spPr>
          <a:xfrm>
            <a:off x="635051" y="4246931"/>
            <a:ext cx="211226" cy="211226"/>
          </a:xfrm>
          <a:prstGeom prst="rect">
            <a:avLst/>
          </a:prstGeom>
        </p:spPr>
      </p:pic>
      <p:sp>
        <p:nvSpPr>
          <p:cNvPr id="18" name="Text 12"/>
          <p:cNvSpPr/>
          <p:nvPr/>
        </p:nvSpPr>
        <p:spPr>
          <a:xfrm>
            <a:off x="1051560" y="4160520"/>
            <a:ext cx="60807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Không đọc OCR runtime trong bản MVP</a:t>
            </a:r>
            <a:endParaRPr lang="en-US" sz="1200" dirty="0"/>
          </a:p>
        </p:txBody>
      </p:sp>
      <p:sp>
        <p:nvSpPr>
          <p:cNvPr id="19" name="Text 13"/>
          <p:cNvSpPr/>
          <p:nvPr/>
        </p:nvSpPr>
        <p:spPr>
          <a:xfrm>
            <a:off x="7452360" y="1691640"/>
            <a:ext cx="4206240" cy="320040"/>
          </a:xfrm>
          <a:prstGeom prst="rect">
            <a:avLst/>
          </a:prstGeom>
          <a:noFill/>
          <a:ln/>
        </p:spPr>
        <p:txBody>
          <a:bodyPr wrap="square" rtlCol="0" anchor="ctr"/>
          <a:lstStyle/>
          <a:p>
            <a:pPr indent="0" marL="0">
              <a:buNone/>
            </a:pPr>
            <a:r>
              <a:rPr lang="en-US" sz="1100" b="1" spc="100" kern="0" dirty="0">
                <a:solidFill>
                  <a:srgbClr val="4CB5AE"/>
                </a:solidFill>
                <a:latin typeface="Calibri" pitchFamily="34" charset="0"/>
                <a:ea typeface="Calibri" pitchFamily="34" charset="-122"/>
                <a:cs typeface="Calibri" pitchFamily="34" charset="-120"/>
              </a:rPr>
              <a:t>Sẵn sàng cho demo hôm nay</a:t>
            </a:r>
            <a:endParaRPr lang="en-US" sz="1100" dirty="0"/>
          </a:p>
        </p:txBody>
      </p:sp>
      <p:sp>
        <p:nvSpPr>
          <p:cNvPr id="20" name="Shape 14"/>
          <p:cNvSpPr/>
          <p:nvPr/>
        </p:nvSpPr>
        <p:spPr>
          <a:xfrm>
            <a:off x="7452360" y="2057400"/>
            <a:ext cx="365760" cy="365760"/>
          </a:xfrm>
          <a:prstGeom prst="ellipse">
            <a:avLst/>
          </a:prstGeom>
          <a:solidFill>
            <a:srgbClr val="4CB5AE"/>
          </a:solidFill>
          <a:ln/>
        </p:spPr>
      </p:sp>
      <p:pic>
        <p:nvPicPr>
          <p:cNvPr id="21" name="Image 4" descr="/home/claude/hera_pptx/icons/checkCircle.png">    </p:cNvPr>
          <p:cNvPicPr>
            <a:picLocks noChangeAspect="1"/>
          </p:cNvPicPr>
          <p:nvPr/>
        </p:nvPicPr>
        <p:blipFill>
          <a:blip r:embed="rId5"/>
          <a:stretch>
            <a:fillRect/>
          </a:stretch>
        </p:blipFill>
        <p:spPr>
          <a:xfrm>
            <a:off x="7534656" y="2139696"/>
            <a:ext cx="201168" cy="201168"/>
          </a:xfrm>
          <a:prstGeom prst="rect">
            <a:avLst/>
          </a:prstGeom>
        </p:spPr>
      </p:pic>
      <p:sp>
        <p:nvSpPr>
          <p:cNvPr id="22" name="Text 15"/>
          <p:cNvSpPr/>
          <p:nvPr/>
        </p:nvSpPr>
        <p:spPr>
          <a:xfrm>
            <a:off x="7936992" y="2057400"/>
            <a:ext cx="3749040" cy="457200"/>
          </a:xfrm>
          <a:prstGeom prst="rect">
            <a:avLst/>
          </a:prstGeom>
          <a:noFill/>
          <a:ln/>
        </p:spPr>
        <p:txBody>
          <a:bodyPr wrap="square" rtlCol="0" anchor="ctr"/>
          <a:lstStyle/>
          <a:p>
            <a:pPr indent="0" marL="0">
              <a:lnSpc>
                <a:spcPts val="1300"/>
              </a:lnSpc>
              <a:buNone/>
            </a:pPr>
            <a:r>
              <a:rPr lang="en-US" sz="1100" dirty="0">
                <a:solidFill>
                  <a:srgbClr val="E7F5F3"/>
                </a:solidFill>
                <a:latin typeface="Calibri" pitchFamily="34" charset="0"/>
                <a:ea typeface="Calibri" pitchFamily="34" charset="-122"/>
                <a:cs typeface="Calibri" pitchFamily="34" charset="-120"/>
              </a:rPr>
              <a:t>Chat + card cấu trúc + citation</a:t>
            </a:r>
            <a:endParaRPr lang="en-US" sz="1100" dirty="0"/>
          </a:p>
        </p:txBody>
      </p:sp>
      <p:sp>
        <p:nvSpPr>
          <p:cNvPr id="23" name="Shape 16"/>
          <p:cNvSpPr/>
          <p:nvPr/>
        </p:nvSpPr>
        <p:spPr>
          <a:xfrm>
            <a:off x="7452360" y="2606040"/>
            <a:ext cx="365760" cy="365760"/>
          </a:xfrm>
          <a:prstGeom prst="ellipse">
            <a:avLst/>
          </a:prstGeom>
          <a:solidFill>
            <a:srgbClr val="4CB5AE"/>
          </a:solidFill>
          <a:ln/>
        </p:spPr>
      </p:sp>
      <p:pic>
        <p:nvPicPr>
          <p:cNvPr id="24" name="Image 5" descr="/home/claude/hera_pptx/icons/checkCircle.png">    </p:cNvPr>
          <p:cNvPicPr>
            <a:picLocks noChangeAspect="1"/>
          </p:cNvPicPr>
          <p:nvPr/>
        </p:nvPicPr>
        <p:blipFill>
          <a:blip r:embed="rId6"/>
          <a:stretch>
            <a:fillRect/>
          </a:stretch>
        </p:blipFill>
        <p:spPr>
          <a:xfrm>
            <a:off x="7534656" y="2688336"/>
            <a:ext cx="201168" cy="201168"/>
          </a:xfrm>
          <a:prstGeom prst="rect">
            <a:avLst/>
          </a:prstGeom>
        </p:spPr>
      </p:pic>
      <p:sp>
        <p:nvSpPr>
          <p:cNvPr id="25" name="Text 17"/>
          <p:cNvSpPr/>
          <p:nvPr/>
        </p:nvSpPr>
        <p:spPr>
          <a:xfrm>
            <a:off x="7936992" y="2606040"/>
            <a:ext cx="3749040" cy="457200"/>
          </a:xfrm>
          <a:prstGeom prst="rect">
            <a:avLst/>
          </a:prstGeom>
          <a:noFill/>
          <a:ln/>
        </p:spPr>
        <p:txBody>
          <a:bodyPr wrap="square" rtlCol="0" anchor="ctr"/>
          <a:lstStyle/>
          <a:p>
            <a:pPr indent="0" marL="0">
              <a:lnSpc>
                <a:spcPts val="1300"/>
              </a:lnSpc>
              <a:buNone/>
            </a:pPr>
            <a:r>
              <a:rPr lang="en-US" sz="1100" dirty="0">
                <a:solidFill>
                  <a:srgbClr val="E7F5F3"/>
                </a:solidFill>
                <a:latin typeface="Calibri" pitchFamily="34" charset="0"/>
                <a:ea typeface="Calibri" pitchFamily="34" charset="-122"/>
                <a:cs typeface="Calibri" pitchFamily="34" charset="-120"/>
              </a:rPr>
              <a:t>Giữ chỗ theo ca + dashboard vận hành</a:t>
            </a:r>
            <a:endParaRPr lang="en-US" sz="1100" dirty="0"/>
          </a:p>
        </p:txBody>
      </p:sp>
      <p:sp>
        <p:nvSpPr>
          <p:cNvPr id="26" name="Shape 18"/>
          <p:cNvSpPr/>
          <p:nvPr/>
        </p:nvSpPr>
        <p:spPr>
          <a:xfrm>
            <a:off x="7452360" y="3154680"/>
            <a:ext cx="365760" cy="365760"/>
          </a:xfrm>
          <a:prstGeom prst="ellipse">
            <a:avLst/>
          </a:prstGeom>
          <a:solidFill>
            <a:srgbClr val="4CB5AE"/>
          </a:solidFill>
          <a:ln/>
        </p:spPr>
      </p:sp>
      <p:pic>
        <p:nvPicPr>
          <p:cNvPr id="27" name="Image 6" descr="/home/claude/hera_pptx/icons/checkCircle.png">    </p:cNvPr>
          <p:cNvPicPr>
            <a:picLocks noChangeAspect="1"/>
          </p:cNvPicPr>
          <p:nvPr/>
        </p:nvPicPr>
        <p:blipFill>
          <a:blip r:embed="rId7"/>
          <a:stretch>
            <a:fillRect/>
          </a:stretch>
        </p:blipFill>
        <p:spPr>
          <a:xfrm>
            <a:off x="7534656" y="3236976"/>
            <a:ext cx="201168" cy="201168"/>
          </a:xfrm>
          <a:prstGeom prst="rect">
            <a:avLst/>
          </a:prstGeom>
        </p:spPr>
      </p:pic>
      <p:sp>
        <p:nvSpPr>
          <p:cNvPr id="28" name="Text 19"/>
          <p:cNvSpPr/>
          <p:nvPr/>
        </p:nvSpPr>
        <p:spPr>
          <a:xfrm>
            <a:off x="7936992" y="3154680"/>
            <a:ext cx="3749040" cy="457200"/>
          </a:xfrm>
          <a:prstGeom prst="rect">
            <a:avLst/>
          </a:prstGeom>
          <a:noFill/>
          <a:ln/>
        </p:spPr>
        <p:txBody>
          <a:bodyPr wrap="square" rtlCol="0" anchor="ctr"/>
          <a:lstStyle/>
          <a:p>
            <a:pPr indent="0" marL="0">
              <a:lnSpc>
                <a:spcPts val="1300"/>
              </a:lnSpc>
              <a:buNone/>
            </a:pPr>
            <a:r>
              <a:rPr lang="en-US" sz="1100" dirty="0">
                <a:solidFill>
                  <a:srgbClr val="E7F5F3"/>
                </a:solidFill>
                <a:latin typeface="Calibri" pitchFamily="34" charset="0"/>
                <a:ea typeface="Calibri" pitchFamily="34" charset="-122"/>
                <a:cs typeface="Calibri" pitchFamily="34" charset="-120"/>
              </a:rPr>
              <a:t>RAG pipeline + guardrail + readiness gate</a:t>
            </a:r>
            <a:endParaRPr lang="en-US" sz="1100" dirty="0"/>
          </a:p>
        </p:txBody>
      </p:sp>
      <p:sp>
        <p:nvSpPr>
          <p:cNvPr id="29" name="Shape 20"/>
          <p:cNvSpPr/>
          <p:nvPr/>
        </p:nvSpPr>
        <p:spPr>
          <a:xfrm>
            <a:off x="7452360" y="3794760"/>
            <a:ext cx="4160520" cy="0"/>
          </a:xfrm>
          <a:prstGeom prst="line">
            <a:avLst/>
          </a:prstGeom>
          <a:noFill/>
          <a:ln w="9525">
            <a:solidFill>
              <a:srgbClr val="4CB5AE"/>
            </a:solidFill>
            <a:prstDash val="dash"/>
          </a:ln>
        </p:spPr>
      </p:sp>
      <p:sp>
        <p:nvSpPr>
          <p:cNvPr id="30" name="Text 21"/>
          <p:cNvSpPr/>
          <p:nvPr/>
        </p:nvSpPr>
        <p:spPr>
          <a:xfrm>
            <a:off x="7452360" y="3931920"/>
            <a:ext cx="4206240" cy="320040"/>
          </a:xfrm>
          <a:prstGeom prst="rect">
            <a:avLst/>
          </a:prstGeom>
          <a:noFill/>
          <a:ln/>
        </p:spPr>
        <p:txBody>
          <a:bodyPr wrap="square" rtlCol="0" anchor="ctr"/>
          <a:lstStyle/>
          <a:p>
            <a:pPr indent="0" marL="0">
              <a:buNone/>
            </a:pPr>
            <a:r>
              <a:rPr lang="en-US" sz="1100" b="1" spc="100" kern="0" dirty="0">
                <a:solidFill>
                  <a:srgbClr val="4CB5AE"/>
                </a:solidFill>
                <a:latin typeface="Calibri" pitchFamily="34" charset="0"/>
                <a:ea typeface="Calibri" pitchFamily="34" charset="-122"/>
                <a:cs typeface="Calibri" pitchFamily="34" charset="-120"/>
              </a:rPr>
              <a:t>Lộ trình production</a:t>
            </a:r>
            <a:endParaRPr lang="en-US" sz="1100" dirty="0"/>
          </a:p>
        </p:txBody>
      </p:sp>
      <p:sp>
        <p:nvSpPr>
          <p:cNvPr id="31" name="Text 22"/>
          <p:cNvSpPr/>
          <p:nvPr/>
        </p:nvSpPr>
        <p:spPr>
          <a:xfrm>
            <a:off x="7452360" y="4251960"/>
            <a:ext cx="4206240" cy="1051560"/>
          </a:xfrm>
          <a:prstGeom prst="rect">
            <a:avLst/>
          </a:prstGeom>
          <a:noFill/>
          <a:ln/>
        </p:spPr>
        <p:txBody>
          <a:bodyPr wrap="square" rtlCol="0" anchor="ctr"/>
          <a:lstStyle/>
          <a:p>
            <a:pPr indent="0" marL="0">
              <a:lnSpc>
                <a:spcPts val="1400"/>
              </a:lnSpc>
              <a:buNone/>
            </a:pPr>
            <a:r>
              <a:rPr lang="en-US" sz="1050" dirty="0">
                <a:solidFill>
                  <a:srgbClr val="CFEDE9"/>
                </a:solidFill>
                <a:latin typeface="Calibri" pitchFamily="34" charset="0"/>
                <a:ea typeface="Calibri" pitchFamily="34" charset="-122"/>
                <a:cs typeface="Calibri" pitchFamily="34" charset="-120"/>
              </a:rPr>
              <a:t>HIS integration · quy trình duyệt dữ liệu · audit trail · effective date · phân quyền vận hành · pháp lý · kiểm thử RAG liên tục</a:t>
            </a:r>
            <a:endParaRPr lang="en-US" sz="1050" dirty="0"/>
          </a:p>
        </p:txBody>
      </p:sp>
      <p:sp>
        <p:nvSpPr>
          <p:cNvPr id="32" name="Shape 23"/>
          <p:cNvSpPr/>
          <p:nvPr/>
        </p:nvSpPr>
        <p:spPr>
          <a:xfrm>
            <a:off x="548640" y="5074920"/>
            <a:ext cx="11064240" cy="0"/>
          </a:xfrm>
          <a:prstGeom prst="line">
            <a:avLst/>
          </a:prstGeom>
          <a:noFill/>
          <a:ln w="12700">
            <a:solidFill>
              <a:srgbClr val="1E7D8A"/>
            </a:solidFill>
            <a:prstDash val="solid"/>
          </a:ln>
        </p:spPr>
      </p:sp>
      <p:sp>
        <p:nvSpPr>
          <p:cNvPr id="33" name="Text 24"/>
          <p:cNvSpPr/>
          <p:nvPr/>
        </p:nvSpPr>
        <p:spPr>
          <a:xfrm>
            <a:off x="548640" y="5212080"/>
            <a:ext cx="5486400" cy="274320"/>
          </a:xfrm>
          <a:prstGeom prst="rect">
            <a:avLst/>
          </a:prstGeom>
          <a:noFill/>
          <a:ln/>
        </p:spPr>
        <p:txBody>
          <a:bodyPr wrap="square" rtlCol="0" anchor="ctr"/>
          <a:lstStyle/>
          <a:p>
            <a:pPr indent="0" marL="0">
              <a:buNone/>
            </a:pPr>
            <a:r>
              <a:rPr lang="en-US" sz="1000" b="1" spc="150" kern="0" dirty="0">
                <a:solidFill>
                  <a:srgbClr val="4CB5AE"/>
                </a:solidFill>
                <a:latin typeface="Calibri" pitchFamily="34" charset="0"/>
                <a:ea typeface="Calibri" pitchFamily="34" charset="-122"/>
                <a:cs typeface="Calibri" pitchFamily="34" charset="-120"/>
              </a:rPr>
              <a:t>NGUỒN DỮ KIỆN ĐÃ ĐỐI CHIẾU</a:t>
            </a:r>
            <a:endParaRPr lang="en-US" sz="1000" dirty="0"/>
          </a:p>
        </p:txBody>
      </p:sp>
      <p:sp>
        <p:nvSpPr>
          <p:cNvPr id="34" name="Text 25"/>
          <p:cNvSpPr/>
          <p:nvPr/>
        </p:nvSpPr>
        <p:spPr>
          <a:xfrm>
            <a:off x="548640" y="5486400"/>
            <a:ext cx="7498080" cy="1005840"/>
          </a:xfrm>
          <a:prstGeom prst="rect">
            <a:avLst/>
          </a:prstGeom>
          <a:noFill/>
          <a:ln/>
        </p:spPr>
        <p:txBody>
          <a:bodyPr wrap="square" rtlCol="0" anchor="ctr"/>
          <a:lstStyle/>
          <a:p>
            <a:pPr indent="0" marL="0">
              <a:lnSpc>
                <a:spcPts val="1400"/>
              </a:lnSpc>
              <a:buNone/>
            </a:pPr>
            <a:r>
              <a:rPr lang="en-US" sz="950" dirty="0">
                <a:solidFill>
                  <a:srgbClr val="BFE3DF"/>
                </a:solidFill>
                <a:latin typeface="Calibri" pitchFamily="34" charset="0"/>
                <a:ea typeface="Calibri" pitchFamily="34" charset="-122"/>
                <a:cs typeface="Calibri" pitchFamily="34" charset="-120"/>
              </a:rPr>
              <a:t>• benhvientimhanoi.vn — trang giới thiệu chung</a:t>
            </a:r>
            <a:endParaRPr lang="en-US" sz="950" dirty="0"/>
          </a:p>
          <a:p>
            <a:pPr indent="0" marL="0">
              <a:lnSpc>
                <a:spcPts val="1400"/>
              </a:lnSpc>
              <a:buNone/>
            </a:pPr>
            <a:r>
              <a:rPr lang="en-US" sz="950" dirty="0">
                <a:solidFill>
                  <a:srgbClr val="BFE3DF"/>
                </a:solidFill>
                <a:latin typeface="Calibri" pitchFamily="34" charset="0"/>
                <a:ea typeface="Calibri" pitchFamily="34" charset="-122"/>
                <a:cs typeface="Calibri" pitchFamily="34" charset="-120"/>
              </a:rPr>
              <a:t>• Hướng dẫn liên hệ đặt lịch khám</a:t>
            </a:r>
            <a:endParaRPr lang="en-US" sz="950" dirty="0"/>
          </a:p>
          <a:p>
            <a:pPr indent="0" marL="0">
              <a:lnSpc>
                <a:spcPts val="1400"/>
              </a:lnSpc>
              <a:buNone/>
            </a:pPr>
            <a:r>
              <a:rPr lang="en-US" sz="950" dirty="0">
                <a:solidFill>
                  <a:srgbClr val="BFE3DF"/>
                </a:solidFill>
                <a:latin typeface="Calibri" pitchFamily="34" charset="0"/>
                <a:ea typeface="Calibri" pitchFamily="34" charset="-122"/>
                <a:cs typeface="Calibri" pitchFamily="34" charset="-120"/>
              </a:rPr>
              <a:t>• Khoa Khám bệnh tự nguyện</a:t>
            </a:r>
            <a:endParaRPr lang="en-US" sz="950" dirty="0"/>
          </a:p>
          <a:p>
            <a:pPr indent="0" marL="0">
              <a:lnSpc>
                <a:spcPts val="1400"/>
              </a:lnSpc>
              <a:buNone/>
            </a:pPr>
            <a:r>
              <a:rPr lang="en-US" sz="950" dirty="0">
                <a:solidFill>
                  <a:srgbClr val="BFE3DF"/>
                </a:solidFill>
                <a:latin typeface="Calibri" pitchFamily="34" charset="0"/>
                <a:ea typeface="Calibri" pitchFamily="34" charset="-122"/>
                <a:cs typeface="Calibri" pitchFamily="34" charset="-120"/>
              </a:rPr>
              <a:t>• Bảng giá dịch vụ kỹ thuật 2025</a:t>
            </a:r>
            <a:endParaRPr lang="en-US" sz="950" dirty="0"/>
          </a:p>
          <a:p>
            <a:pPr indent="0" marL="0">
              <a:lnSpc>
                <a:spcPts val="1400"/>
              </a:lnSpc>
              <a:buNone/>
            </a:pPr>
            <a:r>
              <a:rPr lang="en-US" sz="950" dirty="0">
                <a:solidFill>
                  <a:srgbClr val="BFE3DF"/>
                </a:solidFill>
                <a:latin typeface="Calibri" pitchFamily="34" charset="0"/>
                <a:ea typeface="Calibri" pitchFamily="34" charset="-122"/>
                <a:cs typeface="Calibri" pitchFamily="34" charset="-120"/>
              </a:rPr>
              <a:t>• Hướng dẫn đặt lịch hẹn qua Zalo</a:t>
            </a:r>
            <a:endParaRPr lang="en-US" sz="950" dirty="0"/>
          </a:p>
        </p:txBody>
      </p:sp>
      <p:sp>
        <p:nvSpPr>
          <p:cNvPr id="35" name="Text 26"/>
          <p:cNvSpPr/>
          <p:nvPr/>
        </p:nvSpPr>
        <p:spPr>
          <a:xfrm>
            <a:off x="8229600" y="6263640"/>
            <a:ext cx="3383280" cy="365760"/>
          </a:xfrm>
          <a:prstGeom prst="rect">
            <a:avLst/>
          </a:prstGeom>
          <a:noFill/>
          <a:ln/>
        </p:spPr>
        <p:txBody>
          <a:bodyPr wrap="square" rtlCol="0" anchor="ctr"/>
          <a:lstStyle/>
          <a:p>
            <a:pPr algn="r" indent="0" marL="0">
              <a:buNone/>
            </a:pPr>
            <a:r>
              <a:rPr lang="en-US" sz="1500" b="1" i="1" dirty="0">
                <a:solidFill>
                  <a:srgbClr val="FFFFFF"/>
                </a:solidFill>
                <a:latin typeface="Cambria" pitchFamily="34" charset="0"/>
                <a:ea typeface="Cambria" pitchFamily="34" charset="-122"/>
                <a:cs typeface="Cambria" pitchFamily="34" charset="-120"/>
              </a:rPr>
              <a:t>Cảm ơn đã lắng nghe.</a:t>
            </a:r>
            <a:endParaRPr lang="en-US" sz="1500" dirty="0"/>
          </a:p>
        </p:txBody>
      </p:sp>
      <p:sp>
        <p:nvSpPr>
          <p:cNvPr id="36"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FE3D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Bệnh viện Tim Hà Nội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HERA Project</dc:creator>
  <cp:lastModifiedBy>HERA Project</cp:lastModifiedBy>
  <cp:revision>1</cp:revision>
  <dcterms:created xsi:type="dcterms:W3CDTF">2026-07-18T18:55:43Z</dcterms:created>
  <dcterms:modified xsi:type="dcterms:W3CDTF">2026-07-18T18:55:43Z</dcterms:modified>
</cp:coreProperties>
</file>